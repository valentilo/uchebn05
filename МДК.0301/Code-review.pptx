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66" d="100"/>
          <a:sy n="66" d="100"/>
        </p:scale>
        <p:origin x="5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63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72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14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02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197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98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487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12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209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495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4551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074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6085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048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744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894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25A0C-169D-45CF-8508-30329E76B0C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4F9032A-44F7-48F3-A14D-C3D6D5405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35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Code-review</a:t>
            </a:r>
            <a:r>
              <a:rPr lang="ru-RU" dirty="0" smtClean="0"/>
              <a:t> 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(рецензирование кода)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4348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Code-review</a:t>
            </a:r>
            <a:r>
              <a:rPr lang="ru-RU" dirty="0" smtClean="0"/>
              <a:t> (рецензирование кода) —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4000" dirty="0" smtClean="0">
                <a:solidFill>
                  <a:schemeClr val="accent2">
                    <a:lumMod val="50000"/>
                  </a:schemeClr>
                </a:solidFill>
              </a:rPr>
              <a:t>это </a:t>
            </a:r>
            <a:r>
              <a:rPr lang="ru-RU" sz="4000" dirty="0">
                <a:solidFill>
                  <a:schemeClr val="accent2">
                    <a:lumMod val="50000"/>
                  </a:schemeClr>
                </a:solidFill>
              </a:rPr>
              <a:t>важнейшая часть профессиональной разработки, особенно в контексте ПМ.05 (Проектирование и разработка ИС). На практическом занятии по планированию </a:t>
            </a:r>
            <a:r>
              <a:rPr lang="ru-RU" sz="4000" dirty="0" err="1">
                <a:solidFill>
                  <a:schemeClr val="accent2">
                    <a:lumMod val="50000"/>
                  </a:schemeClr>
                </a:solidFill>
              </a:rPr>
              <a:t>code-review</a:t>
            </a:r>
            <a:r>
              <a:rPr lang="ru-RU" sz="4000" dirty="0">
                <a:solidFill>
                  <a:schemeClr val="accent2">
                    <a:lumMod val="50000"/>
                  </a:schemeClr>
                </a:solidFill>
              </a:rPr>
              <a:t> вы должны научиться организовывать процесс проверки кода, составлять чек-листы и анализировать чужой код.</a:t>
            </a:r>
          </a:p>
        </p:txBody>
      </p:sp>
    </p:spTree>
    <p:extLst>
      <p:ext uri="{BB962C8B-B14F-4D97-AF65-F5344CB8AC3E}">
        <p14:creationId xmlns:p14="http://schemas.microsoft.com/office/powerpoint/2010/main" val="978228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Цель занятия: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5400" dirty="0" smtClean="0">
                <a:solidFill>
                  <a:schemeClr val="accent2">
                    <a:lumMod val="50000"/>
                  </a:schemeClr>
                </a:solidFill>
              </a:rPr>
              <a:t>Научиться </a:t>
            </a:r>
            <a:r>
              <a:rPr lang="ru-RU" sz="5400" dirty="0">
                <a:solidFill>
                  <a:schemeClr val="accent2">
                    <a:lumMod val="50000"/>
                  </a:schemeClr>
                </a:solidFill>
              </a:rPr>
              <a:t>планировать процесс </a:t>
            </a:r>
            <a:r>
              <a:rPr lang="ru-RU" sz="5400" dirty="0" err="1">
                <a:solidFill>
                  <a:schemeClr val="accent2">
                    <a:lumMod val="50000"/>
                  </a:schemeClr>
                </a:solidFill>
              </a:rPr>
              <a:t>code-review</a:t>
            </a:r>
            <a:r>
              <a:rPr lang="ru-RU" sz="5400" dirty="0">
                <a:solidFill>
                  <a:schemeClr val="accent2">
                    <a:lumMod val="50000"/>
                  </a:schemeClr>
                </a:solidFill>
              </a:rPr>
              <a:t>, составлять критерии проверки кода и находить ошибки/недочёты в чужом коде.</a:t>
            </a:r>
          </a:p>
          <a:p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775820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проведения </a:t>
            </a:r>
            <a:r>
              <a:rPr lang="en-US" b="1" dirty="0"/>
              <a:t>code-review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0332" y="1583074"/>
            <a:ext cx="8596668" cy="4942854"/>
          </a:xfrm>
        </p:spPr>
        <p:txBody>
          <a:bodyPr/>
          <a:lstStyle/>
          <a:p>
            <a:pPr marL="0" indent="0">
              <a:buNone/>
            </a:pPr>
            <a:r>
              <a:rPr lang="ru-RU" sz="3200" b="1" dirty="0">
                <a:solidFill>
                  <a:schemeClr val="accent2">
                    <a:lumMod val="50000"/>
                  </a:schemeClr>
                </a:solidFill>
              </a:rPr>
              <a:t>1. Общие положения</a:t>
            </a:r>
          </a:p>
          <a:p>
            <a:pPr marL="0" indent="0">
              <a:buNone/>
            </a:pPr>
            <a:r>
              <a:rPr lang="ru-RU" sz="3200" b="1" dirty="0" err="1">
                <a:solidFill>
                  <a:schemeClr val="accent2">
                    <a:lumMod val="50000"/>
                  </a:schemeClr>
                </a:solidFill>
              </a:rPr>
              <a:t>Code-review</a:t>
            </a:r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 (рецензирование кода) — процесс проверки исходного кода автора другими участниками команды с целью: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выявления ошибок и уязвимостей;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улучшения читаемости и </a:t>
            </a: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</a:rPr>
              <a:t>поддерживаемости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 кода;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соблюдения стандартов кодирования;</a:t>
            </a:r>
          </a:p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обмена знаниями между разработчиками.</a:t>
            </a:r>
          </a:p>
          <a:p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584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6000" b="1" dirty="0" smtClean="0"/>
              <a:t>2. Участники процесса</a:t>
            </a:r>
            <a:br>
              <a:rPr lang="ru-RU" sz="6000" b="1" dirty="0" smtClean="0"/>
            </a:b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598821"/>
            <a:ext cx="10515600" cy="3578142"/>
          </a:xfrm>
        </p:spPr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	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		</a:t>
            </a:r>
            <a:endParaRPr 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649598"/>
              </p:ext>
            </p:extLst>
          </p:nvPr>
        </p:nvGraphicFramePr>
        <p:xfrm>
          <a:off x="1184975" y="1480062"/>
          <a:ext cx="10365340" cy="4603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3652">
                  <a:extLst>
                    <a:ext uri="{9D8B030D-6E8A-4147-A177-3AD203B41FA5}">
                      <a16:colId xmlns:a16="http://schemas.microsoft.com/office/drawing/2014/main" val="4096339811"/>
                    </a:ext>
                  </a:extLst>
                </a:gridCol>
                <a:gridCol w="6891688">
                  <a:extLst>
                    <a:ext uri="{9D8B030D-6E8A-4147-A177-3AD203B41FA5}">
                      <a16:colId xmlns:a16="http://schemas.microsoft.com/office/drawing/2014/main" val="1793521298"/>
                    </a:ext>
                  </a:extLst>
                </a:gridCol>
              </a:tblGrid>
              <a:tr h="749343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Роль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Ответственность</a:t>
                      </a:r>
                    </a:p>
                    <a:p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12941"/>
                  </a:ext>
                </a:extLst>
              </a:tr>
              <a:tr h="1391636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Автор	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Пишет код, создаёт запрос на проверку (</a:t>
                      </a:r>
                      <a:r>
                        <a:rPr lang="ru-RU" dirty="0" err="1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Pull</a:t>
                      </a:r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ru-RU" dirty="0" err="1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Request</a:t>
                      </a:r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/</a:t>
                      </a:r>
                      <a:r>
                        <a:rPr lang="ru-RU" dirty="0" err="1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Merge</a:t>
                      </a:r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ru-RU" dirty="0" err="1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Request</a:t>
                      </a:r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), исправляет замечания</a:t>
                      </a:r>
                    </a:p>
                    <a:p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623234"/>
                  </a:ext>
                </a:extLst>
              </a:tr>
              <a:tr h="1070489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Рецензент (1–2 человека)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Проверяет код по чек-листу, оставляет комментарии, утверждает изменения</a:t>
                      </a:r>
                    </a:p>
                    <a:p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422965"/>
                  </a:ext>
                </a:extLst>
              </a:tr>
              <a:tr h="1391636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Технический </a:t>
                      </a:r>
                      <a:r>
                        <a:rPr lang="ru-RU" dirty="0" err="1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лид</a:t>
                      </a:r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(опционально)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Разрешает спорные ситуации, утверждает критически важные изменения</a:t>
                      </a:r>
                    </a:p>
                    <a:p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77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5953" y="484472"/>
            <a:ext cx="8596668" cy="1320800"/>
          </a:xfrm>
        </p:spPr>
        <p:txBody>
          <a:bodyPr/>
          <a:lstStyle/>
          <a:p>
            <a:r>
              <a:rPr lang="ru-RU" b="1" dirty="0"/>
              <a:t>3. Инструменты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2576322"/>
              </p:ext>
            </p:extLst>
          </p:nvPr>
        </p:nvGraphicFramePr>
        <p:xfrm>
          <a:off x="455953" y="1941128"/>
          <a:ext cx="10515600" cy="423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965768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10319394"/>
                    </a:ext>
                  </a:extLst>
                </a:gridCol>
              </a:tblGrid>
              <a:tr h="601345">
                <a:tc>
                  <a:txBody>
                    <a:bodyPr/>
                    <a:lstStyle/>
                    <a:p>
                      <a:r>
                        <a:rPr lang="ru-RU" dirty="0" smtClean="0"/>
                        <a:t>Инструмент	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Назначение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857137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GitHub / </a:t>
                      </a:r>
                      <a:r>
                        <a:rPr lang="en-US" b="1" dirty="0" err="1">
                          <a:effectLst/>
                        </a:rPr>
                        <a:t>GitLab</a:t>
                      </a:r>
                      <a:endParaRPr lang="en-US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Хостинг </a:t>
                      </a:r>
                      <a:r>
                        <a:rPr lang="ru-RU" dirty="0" err="1">
                          <a:effectLst/>
                        </a:rPr>
                        <a:t>репозитория</a:t>
                      </a:r>
                      <a:r>
                        <a:rPr lang="ru-RU" dirty="0">
                          <a:effectLst/>
                        </a:rPr>
                        <a:t>, </a:t>
                      </a:r>
                      <a:r>
                        <a:rPr lang="ru-RU" dirty="0" err="1">
                          <a:effectLst/>
                        </a:rPr>
                        <a:t>Pull</a:t>
                      </a:r>
                      <a:r>
                        <a:rPr lang="ru-RU" dirty="0">
                          <a:effectLst/>
                        </a:rPr>
                        <a:t> </a:t>
                      </a:r>
                      <a:r>
                        <a:rPr lang="ru-RU" dirty="0" err="1">
                          <a:effectLst/>
                        </a:rPr>
                        <a:t>Requests</a:t>
                      </a:r>
                      <a:r>
                        <a:rPr lang="ru-RU" dirty="0">
                          <a:effectLst/>
                        </a:rPr>
                        <a:t>, обсуждения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050234209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Flake8 / </a:t>
                      </a:r>
                      <a:r>
                        <a:rPr lang="en-US" b="1" dirty="0" err="1">
                          <a:effectLst/>
                        </a:rPr>
                        <a:t>pylint</a:t>
                      </a:r>
                      <a:endParaRPr lang="en-US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Автоматическая проверка стиля кода (PEP 8)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8327452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mypy</a:t>
                      </a:r>
                      <a:endParaRPr lang="en-US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Проверка аннотаций типов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304799860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pytest</a:t>
                      </a:r>
                      <a:endParaRPr lang="en-US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Запуск автоматических тестов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821202695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SonarLint / Qodana</a:t>
                      </a:r>
                      <a:endParaRPr lang="en-US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Дополнительный статический анализ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983247361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Telegram / Slack</a:t>
                      </a:r>
                      <a:endParaRPr lang="en-US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Уведомления о новых проверках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784525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75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4. </a:t>
            </a:r>
            <a:r>
              <a:rPr lang="ru-RU" b="1" dirty="0" smtClean="0"/>
              <a:t>Критерии </a:t>
            </a:r>
            <a:r>
              <a:rPr lang="ru-RU" b="1" dirty="0"/>
              <a:t>проверки (чек-лист)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>
                <a:solidFill>
                  <a:schemeClr val="accent2">
                    <a:lumMod val="50000"/>
                  </a:schemeClr>
                </a:solidFill>
              </a:rPr>
              <a:t>4.1. Функциональность и логика</a:t>
            </a:r>
          </a:p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 Код решает поставленную задачу?</a:t>
            </a:r>
          </a:p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 Нет логических ошибок, бесконечных циклов, неверных условий?</a:t>
            </a:r>
          </a:p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 Корректно обрабатываются граничные случаи (пустые списки, нули, </a:t>
            </a:r>
            <a:r>
              <a:rPr lang="ru-RU" sz="2800" dirty="0" err="1">
                <a:solidFill>
                  <a:schemeClr val="accent2">
                    <a:lumMod val="50000"/>
                  </a:schemeClr>
                </a:solidFill>
              </a:rPr>
              <a:t>None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)?</a:t>
            </a:r>
          </a:p>
          <a:p>
            <a:endParaRPr lang="ru-RU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354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4.2. Обработка ошибок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Проверяются ли входные данные?</a:t>
            </a:r>
          </a:p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 Обрабатываются ли исключения (</a:t>
            </a:r>
            <a:r>
              <a:rPr lang="ru-RU" sz="3200" dirty="0" err="1" smtClean="0">
                <a:solidFill>
                  <a:schemeClr val="accent2">
                    <a:lumMod val="50000"/>
                  </a:schemeClr>
                </a:solidFill>
              </a:rPr>
              <a:t>try-except</a:t>
            </a:r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)?</a:t>
            </a:r>
          </a:p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 Нет ли скрытых ошибок (деление на ноль, выход за границы списка)?</a:t>
            </a:r>
            <a:endParaRPr lang="ru-RU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545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4.3. Стиль и читаемость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Код соответствует PEP 8 (отступы, пробелы, длина строк)?</a:t>
            </a:r>
          </a:p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 Имена переменных, функций, классов понятны и отражают суть?</a:t>
            </a:r>
          </a:p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 Нет «магических чисел» — используются именованные константы?</a:t>
            </a:r>
            <a:endParaRPr lang="ru-RU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912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4.4. Документация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Есть ли </a:t>
            </a:r>
            <a:r>
              <a:rPr lang="ru-RU" sz="3200" dirty="0" err="1" smtClean="0">
                <a:solidFill>
                  <a:schemeClr val="accent2">
                    <a:lumMod val="50000"/>
                  </a:schemeClr>
                </a:solidFill>
              </a:rPr>
              <a:t>docstring</a:t>
            </a:r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 у каждой функции/класса?</a:t>
            </a:r>
          </a:p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 Сложные участки кода снабжены комментариями?</a:t>
            </a:r>
          </a:p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 Есть ли общая документация по проекту (README)?</a:t>
            </a:r>
            <a:endParaRPr lang="ru-RU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325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4.5. Архитектура и дизайн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600" dirty="0">
                <a:solidFill>
                  <a:schemeClr val="accent2">
                    <a:lumMod val="50000"/>
                  </a:schemeClr>
                </a:solidFill>
              </a:rPr>
              <a:t> Соблюдается ли принцип </a:t>
            </a:r>
            <a:r>
              <a:rPr lang="ru-RU" sz="3600" b="1" dirty="0">
                <a:solidFill>
                  <a:schemeClr val="accent2">
                    <a:lumMod val="50000"/>
                  </a:schemeClr>
                </a:solidFill>
              </a:rPr>
              <a:t>DRY</a:t>
            </a:r>
            <a:r>
              <a:rPr lang="ru-RU" sz="3600" dirty="0">
                <a:solidFill>
                  <a:schemeClr val="accent2">
                    <a:lumMod val="50000"/>
                  </a:schemeClr>
                </a:solidFill>
              </a:rPr>
              <a:t> (</a:t>
            </a:r>
            <a:r>
              <a:rPr lang="ru-RU" sz="3600" dirty="0" err="1">
                <a:solidFill>
                  <a:schemeClr val="accent2">
                    <a:lumMod val="50000"/>
                  </a:schemeClr>
                </a:solidFill>
              </a:rPr>
              <a:t>Don't</a:t>
            </a:r>
            <a:r>
              <a:rPr lang="ru-RU" sz="36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2">
                    <a:lumMod val="50000"/>
                  </a:schemeClr>
                </a:solidFill>
              </a:rPr>
              <a:t>Repeat</a:t>
            </a:r>
            <a:r>
              <a:rPr lang="ru-RU" sz="36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2">
                    <a:lumMod val="50000"/>
                  </a:schemeClr>
                </a:solidFill>
              </a:rPr>
              <a:t>Yourself</a:t>
            </a:r>
            <a:r>
              <a:rPr lang="ru-RU" sz="3600" dirty="0">
                <a:solidFill>
                  <a:schemeClr val="accent2">
                    <a:lumMod val="50000"/>
                  </a:schemeClr>
                </a:solidFill>
              </a:rPr>
              <a:t>)?</a:t>
            </a:r>
          </a:p>
          <a:p>
            <a:r>
              <a:rPr lang="ru-RU" sz="3600" dirty="0">
                <a:solidFill>
                  <a:schemeClr val="accent2">
                    <a:lumMod val="50000"/>
                  </a:schemeClr>
                </a:solidFill>
              </a:rPr>
              <a:t> Функции слишком длинные? (рекомендуется не более 30-50 строк)</a:t>
            </a:r>
          </a:p>
          <a:p>
            <a:r>
              <a:rPr lang="ru-RU" sz="3600" dirty="0">
                <a:solidFill>
                  <a:schemeClr val="accent2">
                    <a:lumMod val="50000"/>
                  </a:schemeClr>
                </a:solidFill>
              </a:rPr>
              <a:t> Код разбит на логические модули/классы?</a:t>
            </a:r>
          </a:p>
          <a:p>
            <a:endParaRPr lang="ru-RU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363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4.6. Производительность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Нет </a:t>
            </a:r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неэффективных алгоритмов (вложенные циклы там, где можно обойтись словарём)?</a:t>
            </a:r>
          </a:p>
          <a:p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Ресурсы (файлы, соединения с БД) закрываются?</a:t>
            </a:r>
          </a:p>
          <a:p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Нет лишних запросов к БД или API?</a:t>
            </a:r>
          </a:p>
        </p:txBody>
      </p:sp>
    </p:spTree>
    <p:extLst>
      <p:ext uri="{BB962C8B-B14F-4D97-AF65-F5344CB8AC3E}">
        <p14:creationId xmlns:p14="http://schemas.microsoft.com/office/powerpoint/2010/main" val="1985472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4.7. Безопасность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solidFill>
                  <a:schemeClr val="accent2">
                    <a:lumMod val="50000"/>
                  </a:schemeClr>
                </a:solidFill>
              </a:rPr>
              <a:t>Нет </a:t>
            </a:r>
            <a:r>
              <a:rPr lang="ru-RU" sz="3600" dirty="0">
                <a:solidFill>
                  <a:schemeClr val="accent2">
                    <a:lumMod val="50000"/>
                  </a:schemeClr>
                </a:solidFill>
              </a:rPr>
              <a:t>уязвимостей (SQL-инъекции, XSS, открытые пароли в коде)?</a:t>
            </a:r>
          </a:p>
          <a:p>
            <a:r>
              <a:rPr lang="ru-RU" sz="3600" dirty="0">
                <a:solidFill>
                  <a:schemeClr val="accent2">
                    <a:lumMod val="50000"/>
                  </a:schemeClr>
                </a:solidFill>
              </a:rPr>
              <a:t>Используется ли параметризованные запросы вместо конкатенации строк?</a:t>
            </a:r>
          </a:p>
          <a:p>
            <a:r>
              <a:rPr lang="ru-RU" sz="3600" dirty="0" err="1">
                <a:solidFill>
                  <a:schemeClr val="accent2">
                    <a:lumMod val="50000"/>
                  </a:schemeClr>
                </a:solidFill>
              </a:rPr>
              <a:t>Валидируются</a:t>
            </a:r>
            <a:r>
              <a:rPr lang="ru-RU" sz="3600" dirty="0">
                <a:solidFill>
                  <a:schemeClr val="accent2">
                    <a:lumMod val="50000"/>
                  </a:schemeClr>
                </a:solidFill>
              </a:rPr>
              <a:t> ли данные от пользователя?</a:t>
            </a:r>
          </a:p>
          <a:p>
            <a:endParaRPr lang="ru-RU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481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4.8. Тестирование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Написаны </a:t>
            </a:r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ли </a:t>
            </a:r>
            <a:r>
              <a:rPr lang="ru-RU" sz="3200" b="1" dirty="0" err="1">
                <a:solidFill>
                  <a:schemeClr val="accent2">
                    <a:lumMod val="50000"/>
                  </a:schemeClr>
                </a:solidFill>
              </a:rPr>
              <a:t>unit</a:t>
            </a:r>
            <a:r>
              <a:rPr lang="ru-RU" sz="3200" b="1" dirty="0">
                <a:solidFill>
                  <a:schemeClr val="accent2">
                    <a:lumMod val="50000"/>
                  </a:schemeClr>
                </a:solidFill>
              </a:rPr>
              <a:t>-тесты</a:t>
            </a:r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 для ключевых функций?</a:t>
            </a:r>
          </a:p>
          <a:p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Проходят ли все существующие тесты после изменений?</a:t>
            </a:r>
          </a:p>
          <a:p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Есть ли тесты на граничные случаи?</a:t>
            </a:r>
          </a:p>
        </p:txBody>
      </p:sp>
    </p:spTree>
    <p:extLst>
      <p:ext uri="{BB962C8B-B14F-4D97-AF65-F5344CB8AC3E}">
        <p14:creationId xmlns:p14="http://schemas.microsoft.com/office/powerpoint/2010/main" val="2994355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4.9. Типизация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accent2">
                    <a:lumMod val="50000"/>
                  </a:schemeClr>
                </a:solidFill>
              </a:rPr>
              <a:t>Используются </a:t>
            </a:r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ли аннотации типов (</a:t>
            </a:r>
            <a:r>
              <a:rPr lang="ru-RU" sz="3200" dirty="0" err="1">
                <a:solidFill>
                  <a:schemeClr val="accent2">
                    <a:lumMod val="50000"/>
                  </a:schemeClr>
                </a:solidFill>
              </a:rPr>
              <a:t>type</a:t>
            </a:r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2">
                    <a:lumMod val="50000"/>
                  </a:schemeClr>
                </a:solidFill>
              </a:rPr>
              <a:t>hints</a:t>
            </a:r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)?</a:t>
            </a:r>
          </a:p>
          <a:p>
            <a:r>
              <a:rPr lang="ru-RU" sz="3200" dirty="0">
                <a:solidFill>
                  <a:schemeClr val="accent2">
                    <a:lumMod val="50000"/>
                  </a:schemeClr>
                </a:solidFill>
              </a:rPr>
              <a:t>Аннотации соответствуют реальным типам данных?</a:t>
            </a:r>
          </a:p>
          <a:p>
            <a:endParaRPr lang="ru-RU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377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оформления в дневнике-отчёте по практике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Мною был разработан и внедрён план проведения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code-review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в команде из 4 человек. В качестве инструментов использовались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GitHub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Pull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Requests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, автоматические линтеры Flake8 и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mypy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. За время практики было проведено 8 проверок кода, в ходе которых выявлено 12 критических и 24 некритических замечания. Все замечания были устранены, качество кода повысилось, количество багов в </a:t>
            </a:r>
            <a:r>
              <a:rPr lang="ru-RU" sz="2000" dirty="0" err="1" smtClean="0">
                <a:solidFill>
                  <a:schemeClr val="accent2">
                    <a:lumMod val="50000"/>
                  </a:schemeClr>
                </a:solidFill>
              </a:rPr>
              <a:t>продакшене</a:t>
            </a: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 снизилось на 30%.</a:t>
            </a:r>
          </a:p>
          <a:p>
            <a:pPr marL="0" indent="0">
              <a:buNone/>
            </a:pPr>
            <a:endParaRPr lang="ru-RU" sz="2000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Подпись студента: ________________ / Дата: __________</a:t>
            </a:r>
          </a:p>
          <a:p>
            <a:pPr marL="0" indent="0">
              <a:buNone/>
            </a:pPr>
            <a:endParaRPr lang="ru-RU" sz="2000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2">
                    <a:lumMod val="50000"/>
                  </a:schemeClr>
                </a:solidFill>
              </a:rPr>
              <a:t>Подпись руководителя практики: ________________</a:t>
            </a:r>
            <a:endParaRPr lang="ru-RU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82365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450</Words>
  <Application>Microsoft Office PowerPoint</Application>
  <PresentationFormat>Широкоэкранный</PresentationFormat>
  <Paragraphs>84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Аспект</vt:lpstr>
      <vt:lpstr>Code-review </vt:lpstr>
      <vt:lpstr>Code-review (рецензирование кода) — </vt:lpstr>
      <vt:lpstr>Цель занятия: </vt:lpstr>
      <vt:lpstr>План проведения code-review </vt:lpstr>
      <vt:lpstr>2. Участники процесса </vt:lpstr>
      <vt:lpstr>3. Инструменты </vt:lpstr>
      <vt:lpstr>4. Критерии проверки (чек-лист) </vt:lpstr>
      <vt:lpstr>4.2. Обработка ошибок </vt:lpstr>
      <vt:lpstr>4.3. Стиль и читаемость </vt:lpstr>
      <vt:lpstr>4.4. Документация </vt:lpstr>
      <vt:lpstr>4.5. Архитектура и дизайн </vt:lpstr>
      <vt:lpstr>4.6. Производительность </vt:lpstr>
      <vt:lpstr>4.7. Безопасность </vt:lpstr>
      <vt:lpstr>4.8. Тестирование </vt:lpstr>
      <vt:lpstr>4.9. Типизация </vt:lpstr>
      <vt:lpstr>Пример оформления в дневнике-отчёте по практике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4</cp:revision>
  <dcterms:created xsi:type="dcterms:W3CDTF">2026-04-06T09:48:35Z</dcterms:created>
  <dcterms:modified xsi:type="dcterms:W3CDTF">2026-04-06T10:13:49Z</dcterms:modified>
</cp:coreProperties>
</file>