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7" r:id="rId1"/>
  </p:sldMasterIdLst>
  <p:notesMasterIdLst>
    <p:notesMasterId r:id="rId95"/>
  </p:notesMasterIdLst>
  <p:sldIdLst>
    <p:sldId id="303" r:id="rId2"/>
    <p:sldId id="276" r:id="rId3"/>
    <p:sldId id="304" r:id="rId4"/>
    <p:sldId id="277" r:id="rId5"/>
    <p:sldId id="282" r:id="rId6"/>
    <p:sldId id="278" r:id="rId7"/>
    <p:sldId id="280" r:id="rId8"/>
    <p:sldId id="279" r:id="rId9"/>
    <p:sldId id="281" r:id="rId10"/>
    <p:sldId id="283" r:id="rId11"/>
    <p:sldId id="256" r:id="rId12"/>
    <p:sldId id="257" r:id="rId13"/>
    <p:sldId id="258" r:id="rId14"/>
    <p:sldId id="259" r:id="rId15"/>
    <p:sldId id="260" r:id="rId16"/>
    <p:sldId id="265" r:id="rId17"/>
    <p:sldId id="262" r:id="rId18"/>
    <p:sldId id="263" r:id="rId19"/>
    <p:sldId id="264" r:id="rId20"/>
    <p:sldId id="266" r:id="rId21"/>
    <p:sldId id="267" r:id="rId22"/>
    <p:sldId id="306" r:id="rId23"/>
    <p:sldId id="307" r:id="rId24"/>
    <p:sldId id="308" r:id="rId25"/>
    <p:sldId id="309" r:id="rId26"/>
    <p:sldId id="310" r:id="rId27"/>
    <p:sldId id="284" r:id="rId28"/>
    <p:sldId id="311" r:id="rId29"/>
    <p:sldId id="312" r:id="rId30"/>
    <p:sldId id="313" r:id="rId31"/>
    <p:sldId id="314" r:id="rId32"/>
    <p:sldId id="273" r:id="rId33"/>
    <p:sldId id="27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8" r:id="rId43"/>
    <p:sldId id="299" r:id="rId44"/>
    <p:sldId id="300" r:id="rId45"/>
    <p:sldId id="301" r:id="rId46"/>
    <p:sldId id="316" r:id="rId47"/>
    <p:sldId id="315" r:id="rId48"/>
    <p:sldId id="317" r:id="rId49"/>
    <p:sldId id="318" r:id="rId50"/>
    <p:sldId id="319" r:id="rId51"/>
    <p:sldId id="320" r:id="rId52"/>
    <p:sldId id="321" r:id="rId53"/>
    <p:sldId id="323" r:id="rId54"/>
    <p:sldId id="322" r:id="rId55"/>
    <p:sldId id="325" r:id="rId56"/>
    <p:sldId id="326" r:id="rId57"/>
    <p:sldId id="324" r:id="rId58"/>
    <p:sldId id="328" r:id="rId59"/>
    <p:sldId id="329" r:id="rId60"/>
    <p:sldId id="364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2" r:id="rId83"/>
    <p:sldId id="353" r:id="rId84"/>
    <p:sldId id="354" r:id="rId85"/>
    <p:sldId id="355" r:id="rId86"/>
    <p:sldId id="356" r:id="rId87"/>
    <p:sldId id="357" r:id="rId88"/>
    <p:sldId id="358" r:id="rId89"/>
    <p:sldId id="359" r:id="rId90"/>
    <p:sldId id="360" r:id="rId91"/>
    <p:sldId id="361" r:id="rId92"/>
    <p:sldId id="362" r:id="rId93"/>
    <p:sldId id="363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E78F1-DA6B-4C26-A57B-94277FB07C2F}" type="datetimeFigureOut">
              <a:rPr lang="ru-RU" smtClean="0"/>
              <a:t>12.11.2020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18DD6-B434-4381-8EE5-73BCC279E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53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6A9A-43A3-4839-9E17-F65C51AD6C13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4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83AD-B7D9-47A6-AFF9-B291C6E2D801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85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C7536-EBB8-4211-808D-B1F8A9786318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55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964F-ACF7-4709-9297-E23B215E3759}" type="datetime1">
              <a:rPr lang="ru-RU" smtClean="0"/>
              <a:t>12.11.2020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23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2B9D-0065-4D91-86BB-5CF4885B3B21}" type="datetime1">
              <a:rPr lang="ru-RU" smtClean="0"/>
              <a:t>12.11.2020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51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FB9BF-BEE4-4CCD-BD69-9F6266F8E767}" type="datetime1">
              <a:rPr lang="ru-RU" smtClean="0"/>
              <a:t>12.11.2020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94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6FDA-BD68-4988-8858-58903D6A2BCB}" type="datetime1">
              <a:rPr lang="ru-RU" smtClean="0"/>
              <a:t>12.11.2020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93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466BA-5E79-49B6-AC47-1E2BDB5AA391}" type="datetime1">
              <a:rPr lang="ru-RU" smtClean="0"/>
              <a:t>12.11.2020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44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99CA5-B119-4543-93BB-F4651FF44A8E}" type="datetime1">
              <a:rPr lang="ru-RU" smtClean="0"/>
              <a:t>12.11.2020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34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4D3B-5B7F-4239-8B0C-9CE3788AB7B1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49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972D-8818-4E50-8897-3B8CC8ABE86E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7692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1E1B9-AD0E-437F-9343-9B082F55F0E5}" type="datetime1">
              <a:rPr lang="ru-RU" smtClean="0"/>
              <a:t>12.11.2020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237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F839-4CF4-43D1-9762-177B2B0643BE}" type="datetime1">
              <a:rPr lang="ru-RU" smtClean="0"/>
              <a:t>12.11.2020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5783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3C4F-8B64-4333-8262-307C26F9811F}" type="datetime1">
              <a:rPr lang="ru-RU" smtClean="0"/>
              <a:t>12.11.2020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778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D55A1-E269-44C2-9B7F-AE145A5A2A2B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902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394F5-3AAB-4841-A0B6-998C18C2E2F9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47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62383-75C4-4966-BF74-82DA530ECC22}" type="datetime1">
              <a:rPr lang="ru-RU" smtClean="0"/>
              <a:t>12.11.2020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1307AB0-02D9-49A6-B001-2077025437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41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Microsof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90%D0%BD%D0%B0%D0%BB%D0%B8%D0%B7_%D1%82%D1%80%D0%B5%D0%B1%D0%BE%D0%B2%D0%B0%D0%BD%D0%B8%D0%B9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8%D1%81%D1%85%D0%BE%D0%B4%D0%BD%D1%8B%D0%B9_%D0%BA%D0%BE%D0%B4" TargetMode="External"/><Relationship Id="rId2" Type="http://schemas.openxmlformats.org/officeDocument/2006/relationships/hyperlink" Target="https://ru.wikipedia.org/wiki/%D0%90%D0%BD%D0%B3%D0%BB%D0%B8%D0%B9%D1%81%D0%BA%D0%B8%D0%B9_%D1%8F%D0%B7%D1%8B%D0%B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%D0%9E%D1%88%D0%B8%D0%B1%D0%BA%D0%B0_(%D0%BF%D1%80%D0%BE%D0%B3%D1%80%D0%B0%D0%BC%D0%BC%D0%B8%D1%80%D0%BE%D0%B2%D0%B0%D0%BD%D0%B8%D0%B5)" TargetMode="External"/><Relationship Id="rId4" Type="http://schemas.openxmlformats.org/officeDocument/2006/relationships/hyperlink" Target="https://ru.wikipedia.org/wiki/%D0%9A%D0%BE%D0%BC%D0%BF%D1%8C%D1%8E%D1%82%D0%B5%D1%80%D0%BD%D0%B0%D1%8F_%D0%BF%D1%80%D0%BE%D0%B3%D1%80%D0%B0%D0%BC%D0%BC%D0%B0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A0%D0%B0%D0%B7%D1%80%D0%B0%D0%B1%D0%BE%D1%82%D1%87%D0%B8%D0%BA_%D0%BF%D1%80%D0%BE%D0%B3%D1%80%D0%B0%D0%BC%D0%BC%D0%BD%D0%BE%D0%B3%D0%BE_%D0%BE%D0%B1%D0%B5%D1%81%D0%BF%D0%B5%D1%87%D0%B5%D0%BD%D0%B8%D1%8F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8%D1%81%D1%85%D0%BE%D0%B4%D0%BD%D1%8B%D0%B9_%D0%BA%D0%BE%D0%B4" TargetMode="External"/><Relationship Id="rId2" Type="http://schemas.openxmlformats.org/officeDocument/2006/relationships/hyperlink" Target="https://ru.wikipedia.org/wiki/%D0%90%D0%BD%D0%B3%D0%BB%D0%B8%D0%B9%D1%81%D0%BA%D0%B8%D0%B9_%D1%8F%D0%B7%D1%8B%D0%B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%D0%9E%D1%88%D0%B8%D0%B1%D0%BA%D0%B0_(%D0%BF%D1%80%D0%BE%D0%B3%D1%80%D0%B0%D0%BC%D0%BC%D0%B8%D1%80%D0%BE%D0%B2%D0%B0%D0%BD%D0%B8%D0%B5)" TargetMode="External"/><Relationship Id="rId4" Type="http://schemas.openxmlformats.org/officeDocument/2006/relationships/hyperlink" Target="https://ru.wikipedia.org/wiki/%D0%9A%D0%BE%D0%BC%D0%BF%D1%8C%D1%8E%D1%82%D0%B5%D1%80%D0%BD%D0%B0%D1%8F_%D0%BF%D1%80%D0%BE%D0%B3%D1%80%D0%B0%D0%BC%D0%BC%D0%B0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dn.softwaretestinghelp.com/wp-content/qa/uploads/2017/11/Collaborator-Small-Logo.p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martbear.com/product/collaborator/free-trial/" TargetMode="External"/><Relationship Id="rId4" Type="http://schemas.openxmlformats.org/officeDocument/2006/relationships/image" Target="../media/image1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mpear.com/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visual-expert.com/EN/lp-ve-download-source_adv914ve.html?single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codebrag.com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gerritcodereview.com/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codestriker.sourceforge.net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rhodecode.com/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phacility.com/phabricator/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atlassian.com/software/crucible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veracode.com/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reviewboard.org/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rchitect.com/" TargetMode="External"/><Relationship Id="rId7" Type="http://schemas.openxmlformats.org/officeDocument/2006/relationships/hyperlink" Target="https://trac-hacks.org/wiki/PeerReviewPlugin" TargetMode="External"/><Relationship Id="rId2" Type="http://schemas.openxmlformats.org/officeDocument/2006/relationships/hyperlink" Target="http://getbarkeep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review.appspot.com/" TargetMode="External"/><Relationship Id="rId5" Type="http://schemas.openxmlformats.org/officeDocument/2006/relationships/hyperlink" Target="https://reviewable.io/" TargetMode="External"/><Relationship Id="rId4" Type="http://schemas.openxmlformats.org/officeDocument/2006/relationships/hyperlink" Target="http://codereviewtool.com/" TargetMode="Externa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ktend/system-review-example/commit/0514531a35edf19e7032eb49f45a98d019f83efe" TargetMode="External"/><Relationship Id="rId2" Type="http://schemas.openxmlformats.org/officeDocument/2006/relationships/hyperlink" Target="https://github.com/oktend/system-review-exampl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ktend/system-review-example/tree/system-review/1march2020-goodman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ktend/system-review-example/pull/1/files" TargetMode="External"/><Relationship Id="rId2" Type="http://schemas.openxmlformats.org/officeDocument/2006/relationships/hyperlink" Target="https://github.com/oktend/system-review-example/tree/system-review/1march2020-goodman-issues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ktend/system-review-example/blob/c80b03710059b235347ec781bf08dca9c0e68f7d/foo.js" TargetMode="External"/><Relationship Id="rId2" Type="http://schemas.openxmlformats.org/officeDocument/2006/relationships/hyperlink" Target="https://github.com/oktend/system-review-example/blob/c80b03710059b235347ec781bf08dca9c0e68f7d/review-1march2020-goodman.md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81679" y="1724488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Лекция 1.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54088" y="2115012"/>
            <a:ext cx="7353300" cy="2762249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Методы организации работы в команде разработчиков.</a:t>
            </a:r>
          </a:p>
          <a:p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Системы контроля версий.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FAA828C4-EF65-4EDD-B339-857628679265}"/>
              </a:ext>
            </a:extLst>
          </p:cNvPr>
          <p:cNvSpPr txBox="1">
            <a:spLocks/>
          </p:cNvSpPr>
          <p:nvPr/>
        </p:nvSpPr>
        <p:spPr>
          <a:xfrm>
            <a:off x="1454088" y="5176273"/>
            <a:ext cx="6840250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1, п.1.1</a:t>
            </a:r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314260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9705" y="2514601"/>
            <a:ext cx="8398042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Методы организации работы в команде разработчиков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27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9451" y="319310"/>
            <a:ext cx="6589199" cy="53794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4243" y="1295400"/>
            <a:ext cx="7832558" cy="5029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Современные средства разработки программного обеспечения частично позволяют решить данные проблемы: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Microsoft </a:t>
            </a: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(набор инструментов от </a:t>
            </a: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  <a:hlinkClick r:id="rId2" tooltip="Microsoft"/>
              </a:rPr>
              <a:t>Microsoft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для разработки программных приложений, упрощения совместной работы над проектами, инструментов для тестирования и отладки разрабатываемых программ, а также построения отчетов.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ru-RU" sz="2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состоит из 5 основных продуктов, которые можно разделить на серверные и клиентские приложения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50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2760" y="705633"/>
            <a:ext cx="7760367" cy="894550"/>
          </a:xfrm>
        </p:spPr>
        <p:txBody>
          <a:bodyPr>
            <a:no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При использовании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 решаются следующие задачи: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6465" y="1780674"/>
            <a:ext cx="7472956" cy="4860758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Повышение предсказуемости успеха проекта</a:t>
            </a:r>
          </a:p>
          <a:p>
            <a:pPr lvl="0">
              <a:lnSpc>
                <a:spcPct val="12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Рост производительности труда команды разработчиков за счет понижения сложности процессов проектирования и реализации современных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сервисно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-ориентированных решений</a:t>
            </a:r>
          </a:p>
          <a:p>
            <a:pPr lvl="0">
              <a:lnSpc>
                <a:spcPct val="12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Обеспечение сотрудничества команды путем интеграции коммуникационных и прочих средств, используемых ее членами</a:t>
            </a:r>
          </a:p>
          <a:p>
            <a:pPr lvl="0">
              <a:lnSpc>
                <a:spcPct val="12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Расширение возможностей командной работы за счет обеспечения удаленным пользователям доступа к надежному, защищенному и масштабируемому окружению</a:t>
            </a:r>
          </a:p>
          <a:p>
            <a:pPr lvl="0">
              <a:lnSpc>
                <a:spcPct val="124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Предоставление команде разработчиков гибкого и расширяемого коммуникационного решения с настраиваемыми сервисами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074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4851" y="208474"/>
            <a:ext cx="7104611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Ролевые кластеры модели проектной группы MSF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i="1" dirty="0" err="1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i="1" dirty="0" err="1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i="1" dirty="0" err="1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896" y="2485505"/>
            <a:ext cx="8321628" cy="3632662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41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0505" y="587239"/>
            <a:ext cx="6589199" cy="565669"/>
          </a:xfrm>
        </p:spPr>
        <p:txBody>
          <a:bodyPr>
            <a:normAutofit fontScale="90000"/>
          </a:bodyPr>
          <a:lstStyle/>
          <a:p>
            <a:r>
              <a:rPr lang="ru-RU" sz="2700" dirty="0">
                <a:latin typeface="Arial" panose="020B0604020202020204" pitchFamily="34" charset="0"/>
                <a:cs typeface="Arial" panose="020B0604020202020204" pitchFamily="34" charset="0"/>
              </a:rPr>
              <a:t>Основные роли ИТ-проекта: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7850" y="4452066"/>
            <a:ext cx="6591985" cy="17766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проекта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архитектор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разработчик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тестировщик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680505" y="3848408"/>
            <a:ext cx="6589199" cy="4575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Ключевые члены проектной команды: 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5134092" y="1347627"/>
            <a:ext cx="3135612" cy="1776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эксперт в ПО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по интерфейсу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библиотекарь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484287" y="1262540"/>
            <a:ext cx="3135612" cy="1776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проекта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архитектор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проектировщик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разработчик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тестировщик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90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27220" y="1359567"/>
            <a:ext cx="7555832" cy="4860759"/>
          </a:xfrm>
        </p:spPr>
        <p:txBody>
          <a:bodyPr>
            <a:normAutofit/>
          </a:bodyPr>
          <a:lstStyle/>
          <a:p>
            <a:pPr lvl="0" algn="just">
              <a:lnSpc>
                <a:spcPct val="114000"/>
              </a:lnSpc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Роль в проекте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проектная роль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 - определенный набор функций и 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полномочий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в проекте, созданный с целью 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распределения обязанностей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между членами команды проекта. </a:t>
            </a:r>
          </a:p>
          <a:p>
            <a:pPr lvl="0" algn="just">
              <a:lnSpc>
                <a:spcPct val="114000"/>
              </a:lnSpc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Полномочия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- право задействовать ресурсы проекта, принимать решения и утверждать одобрение действий или результатов. </a:t>
            </a:r>
          </a:p>
          <a:p>
            <a:pPr lvl="0" algn="just">
              <a:lnSpc>
                <a:spcPct val="114000"/>
              </a:lnSpc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Ответственность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- работа, которую член команды проекта должен выполнить для завершения операций проекта.</a:t>
            </a:r>
          </a:p>
          <a:p>
            <a:pPr lvl="0" algn="just">
              <a:lnSpc>
                <a:spcPct val="114000"/>
              </a:lnSpc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Квалификация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- навыки и способности, необходимые для выполнения операций проекта.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23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65123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Принципы объединения ролей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1126" y="1985211"/>
            <a:ext cx="7343274" cy="4419306"/>
          </a:xfrm>
        </p:spPr>
        <p:txBody>
          <a:bodyPr>
            <a:normAutofit/>
          </a:bodyPr>
          <a:lstStyle/>
          <a:p>
            <a:pPr algn="just">
              <a:lnSpc>
                <a:spcPct val="114000"/>
              </a:lnSpc>
            </a:pP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</a:rPr>
              <a:t>Во-первых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роль команды разработчиков не может быть объединена ни с какой другой 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ролью. </a:t>
            </a:r>
          </a:p>
          <a:p>
            <a:pPr marL="400050" lvl="1" indent="0" algn="just">
              <a:lnSpc>
                <a:spcPct val="114000"/>
              </a:lnSpc>
              <a:buNone/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Разработчики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– это создатели проекта. Наделение разработчиков дополнительными обязанностями приводит к нарушению календарного 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графика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проекта.</a:t>
            </a:r>
          </a:p>
          <a:p>
            <a:pPr marL="0" indent="0" algn="just">
              <a:lnSpc>
                <a:spcPct val="114000"/>
              </a:lnSpc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</a:rPr>
              <a:t>Второй принцип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– это избежание 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сочетания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ролей, имеющих предопределенные 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конфликты интересов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50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394" y="1275348"/>
            <a:ext cx="8557200" cy="5101388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27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3" name="Объект 2"/>
          <p:cNvGraphicFramePr>
            <a:graphicFrameLocks noGrp="1"/>
          </p:cNvGraphicFramePr>
          <p:nvPr>
            <p:ph idx="1"/>
          </p:nvPr>
        </p:nvGraphicFramePr>
        <p:xfrm>
          <a:off x="1670859" y="124698"/>
          <a:ext cx="7015942" cy="6622862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3507971">
                  <a:extLst>
                    <a:ext uri="{9D8B030D-6E8A-4147-A177-3AD203B41FA5}">
                      <a16:colId xmlns:a16="http://schemas.microsoft.com/office/drawing/2014/main" val="1769806668"/>
                    </a:ext>
                  </a:extLst>
                </a:gridCol>
                <a:gridCol w="3507971">
                  <a:extLst>
                    <a:ext uri="{9D8B030D-6E8A-4147-A177-3AD203B41FA5}">
                      <a16:colId xmlns:a16="http://schemas.microsoft.com/office/drawing/2014/main" val="4287252982"/>
                    </a:ext>
                  </a:extLst>
                </a:gridCol>
              </a:tblGrid>
              <a:tr h="260319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 Роли действующих лиц проекта и совмещение ролей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685429"/>
                  </a:ext>
                </a:extLst>
              </a:tr>
              <a:tr h="2604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Роли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</a:rPr>
                        <a:t>Характеристика совмещения ролей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6414786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Менеджер и архитектор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Желательно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51298188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Менеджер и руководитель команды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Противоречиво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4881012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Руководитель команды и архитектор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Возможно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2778369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Руководитель команды и проектировщик подсистемы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Нежелательно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6765875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Менеджер и разработчик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допускается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7424250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Для различных разработчиков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Эффективно с ограничениями(обычное дело)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0073463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Создание документации (все сотрудники)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Успешно распределяется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8471092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Специалист по интерфейсу и менеджер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Разумно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6400346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Эксперт предметной области и менеджер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Зачастую разумно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7351878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Специалист по интерфейсу и эксперт предметной области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Редко бывает эффективно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4147953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Эксперт предметной области и разработчик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Бывает полезно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38743871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Специалист по интерфейсу и разработчик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Часто полезно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6420090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Библиотекарь и один из разработчиков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Допустимо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1372447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Тестировщики</a:t>
                      </a: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 другие члены команды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Перекрестно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9164886"/>
                  </a:ext>
                </a:extLst>
              </a:tr>
              <a:tr h="40680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Эксперт предметной области, </a:t>
                      </a:r>
                      <a:r>
                        <a:rPr lang="ru-RU" sz="12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тестировщик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Оправданно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7295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276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Системы контроля версий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95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9451" y="624110"/>
            <a:ext cx="6589199" cy="78007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Системы контроля версий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07699" y="1404183"/>
            <a:ext cx="7626701" cy="377762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управления (контроля) версиями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0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r>
              <a:rPr lang="ru-RU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ru-RU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 — программное обеспечение для облегчения работы с изменяющейся информацией.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управления версиями позволяет хранить несколько версий одного и того же документа, при необходимости возвращаться к более ранним версиям, определять, кто и когда сделал то или иное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изменение, и многое другое.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088" y="4371884"/>
            <a:ext cx="3938897" cy="2269547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4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690340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Системы контроля версий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4716" y="1592178"/>
            <a:ext cx="7820526" cy="491690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 контроля версий решают следующие проблемы:</a:t>
            </a:r>
          </a:p>
          <a:p>
            <a:pPr lvl="1" algn="just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хранение версий файлов;</a:t>
            </a:r>
          </a:p>
          <a:p>
            <a:pPr lvl="1" algn="just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возможность получить любые предыдущие версии хранимых файлов;</a:t>
            </a:r>
          </a:p>
          <a:p>
            <a:pPr lvl="1" algn="just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просмотр изменений внесенных между заданными в запросе версиями;</a:t>
            </a:r>
          </a:p>
          <a:p>
            <a:pPr lvl="1" algn="just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сохранение и просмотр комментариев и авторов к внесенным изменениям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524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09390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Типы систем контроля версий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6905" y="1744578"/>
            <a:ext cx="7427495" cy="52217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Локальные системы контроля версий</a:t>
            </a:r>
          </a:p>
          <a:p>
            <a:pPr lvl="1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Пример: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Централизованные системы контроля версий </a:t>
            </a:r>
          </a:p>
          <a:p>
            <a:pPr lvl="1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Пример: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CVS, Subversion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Perforce.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Децентрализованные (распределенные) системы контроля версий</a:t>
            </a:r>
          </a:p>
          <a:p>
            <a:pPr lvl="1"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Пример: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Mercurial, Bazaar,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Darcs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42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4951" y="414560"/>
            <a:ext cx="7353300" cy="880840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Локальные системы контроля версий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8277" y="1639303"/>
            <a:ext cx="3206045" cy="28332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u-RU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599" y="1526006"/>
            <a:ext cx="5787151" cy="4940783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484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8492" y="547910"/>
            <a:ext cx="6589199" cy="709390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Достоинства и недостатки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039542" y="1759616"/>
          <a:ext cx="7587100" cy="447274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793550">
                  <a:extLst>
                    <a:ext uri="{9D8B030D-6E8A-4147-A177-3AD203B41FA5}">
                      <a16:colId xmlns:a16="http://schemas.microsoft.com/office/drawing/2014/main" val="33470258"/>
                    </a:ext>
                  </a:extLst>
                </a:gridCol>
                <a:gridCol w="3793550">
                  <a:extLst>
                    <a:ext uri="{9D8B030D-6E8A-4147-A177-3AD203B41FA5}">
                      <a16:colId xmlns:a16="http://schemas.microsoft.com/office/drawing/2014/main" val="3522592499"/>
                    </a:ext>
                  </a:extLst>
                </a:gridCol>
              </a:tblGrid>
              <a:tr h="8426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/>
                        <a:t>Достоинства</a:t>
                      </a:r>
                      <a:endParaRPr lang="ru-RU" sz="2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/>
                        <a:t>Недостатки</a:t>
                      </a:r>
                      <a:endParaRPr lang="ru-RU" sz="2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373133778"/>
                  </a:ext>
                </a:extLst>
              </a:tr>
              <a:tr h="213913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000" dirty="0"/>
                        <a:t>Возможность восстановления данных  из определенной версии; </a:t>
                      </a:r>
                      <a:endParaRPr lang="ru-RU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000" dirty="0"/>
                        <a:t>Возможность потери данных вследствие возникновения физических поломок оборудования;</a:t>
                      </a:r>
                      <a:endParaRPr lang="ru-RU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11266576"/>
                  </a:ext>
                </a:extLst>
              </a:tr>
              <a:tr h="149091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000" dirty="0"/>
                        <a:t>Высокая скорость выполнения восстановления.</a:t>
                      </a:r>
                      <a:endParaRPr lang="ru-RU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000" dirty="0"/>
                        <a:t>Отсутствие возможности совместной разработки.</a:t>
                      </a:r>
                      <a:endParaRPr lang="ru-RU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38170795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918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7750" y="166910"/>
            <a:ext cx="7867649" cy="128089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Централизованные системы контроля версий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5855" y="1651334"/>
            <a:ext cx="2858691" cy="28332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u-RU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446" y="1550068"/>
            <a:ext cx="7083904" cy="4923313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620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735651" y="509810"/>
            <a:ext cx="6589199" cy="652240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Достоинства и недостатки</a:t>
            </a:r>
          </a:p>
        </p:txBody>
      </p:sp>
      <p:graphicFrame>
        <p:nvGraphicFramePr>
          <p:cNvPr id="6" name="Объект 3"/>
          <p:cNvGraphicFramePr>
            <a:graphicFrameLocks/>
          </p:cNvGraphicFramePr>
          <p:nvPr/>
        </p:nvGraphicFramePr>
        <p:xfrm>
          <a:off x="1125140" y="1581150"/>
          <a:ext cx="7409260" cy="459677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704630">
                  <a:extLst>
                    <a:ext uri="{9D8B030D-6E8A-4147-A177-3AD203B41FA5}">
                      <a16:colId xmlns:a16="http://schemas.microsoft.com/office/drawing/2014/main" val="33470258"/>
                    </a:ext>
                  </a:extLst>
                </a:gridCol>
                <a:gridCol w="3704630">
                  <a:extLst>
                    <a:ext uri="{9D8B030D-6E8A-4147-A177-3AD203B41FA5}">
                      <a16:colId xmlns:a16="http://schemas.microsoft.com/office/drawing/2014/main" val="3522592499"/>
                    </a:ext>
                  </a:extLst>
                </a:gridCol>
              </a:tblGrid>
              <a:tr h="68229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2000" kern="1200" dirty="0"/>
                        <a:t>Достоинства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2000" kern="1200" dirty="0"/>
                        <a:t>Недостатки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3133778"/>
                  </a:ext>
                </a:extLst>
              </a:tr>
              <a:tr h="2045579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2000" kern="1200" dirty="0"/>
                        <a:t>Возможность восстановления данных  из определенной версии;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2000" kern="1200" dirty="0"/>
                        <a:t>Отсутствие доступа к данным при сбое работы сервера;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11266576"/>
                  </a:ext>
                </a:extLst>
              </a:tr>
              <a:tr h="1868897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2000" kern="1200" dirty="0"/>
                        <a:t>Возможность ведения командной разработки проекта.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ru-RU" sz="2000" kern="1200" dirty="0"/>
                        <a:t>довольно низкая скорость работы.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38170795"/>
                  </a:ext>
                </a:extLst>
              </a:tr>
            </a:tbl>
          </a:graphicData>
        </a:graphic>
      </p:graphicFrame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3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910" y="185960"/>
            <a:ext cx="6589199" cy="97609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Децентрализованные системы контроля версий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41910" y="2457450"/>
            <a:ext cx="3713714" cy="283321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ru-RU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954" y="1248362"/>
            <a:ext cx="4978796" cy="5251391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667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7551" y="281210"/>
            <a:ext cx="6589199" cy="640445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Достоинства и недостатки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782240" y="1169305"/>
          <a:ext cx="7980760" cy="54754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980760">
                  <a:extLst>
                    <a:ext uri="{9D8B030D-6E8A-4147-A177-3AD203B41FA5}">
                      <a16:colId xmlns:a16="http://schemas.microsoft.com/office/drawing/2014/main" val="33470258"/>
                    </a:ext>
                  </a:extLst>
                </a:gridCol>
              </a:tblGrid>
              <a:tr h="719837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Достоинства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373133778"/>
                  </a:ext>
                </a:extLst>
              </a:tr>
              <a:tr h="719837">
                <a:tc>
                  <a:txBody>
                    <a:bodyPr/>
                    <a:lstStyle/>
                    <a:p>
                      <a:pPr marL="144000" indent="0" algn="l"/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Возможность восстановления данных  из определенной версии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11266576"/>
                  </a:ext>
                </a:extLst>
              </a:tr>
              <a:tr h="719837">
                <a:tc>
                  <a:txBody>
                    <a:bodyPr/>
                    <a:lstStyle/>
                    <a:p>
                      <a:pPr marL="144000" indent="0" algn="l"/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Возможность ведения командной разработки проекта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38170795"/>
                  </a:ext>
                </a:extLst>
              </a:tr>
              <a:tr h="1738484">
                <a:tc>
                  <a:txBody>
                    <a:bodyPr/>
                    <a:lstStyle/>
                    <a:p>
                      <a:pPr marL="144000" indent="0" algn="l"/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 сбое работы сервера система сохраняет данные в локальном репозитории, что позволяет эффективно вести процесс разработки, а после восстановления работы сервера, передать все изменения в удаленный </a:t>
                      </a:r>
                      <a:r>
                        <a:rPr lang="ru-RU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795236450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marL="144000" indent="0" algn="l"/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 физической поломке сервера данные можно легко перенести в новый удалённый </a:t>
                      </a:r>
                      <a:r>
                        <a:rPr lang="ru-RU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с любого локального репозитория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8905270"/>
                  </a:ext>
                </a:extLst>
              </a:tr>
              <a:tr h="396315">
                <a:tc>
                  <a:txBody>
                    <a:bodyPr/>
                    <a:lstStyle/>
                    <a:p>
                      <a:pPr marL="144000" indent="0" algn="l"/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Высокая скорость работы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83490769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310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Современные системы контроля версий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42365" y="1905000"/>
            <a:ext cx="6591985" cy="16383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Существует много систем контроля версий (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Darcs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Mercurial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Bazaar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Monotone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т.д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), сходных по принципу работы и конечным задачам.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Самая популярная на сегодняшний день система контроля версий –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064" y="4549088"/>
            <a:ext cx="4363336" cy="1814180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212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0600" y="2514601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Лекция 2.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9091" y="2905125"/>
            <a:ext cx="7353300" cy="1786341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программных продуктов</a:t>
            </a:r>
          </a:p>
          <a:p>
            <a:pPr algn="ctr"/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22</a:t>
            </a:fld>
            <a:endParaRPr lang="ru-RU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E34246A1-AD3A-4B6A-9519-63257AAE62B7}"/>
              </a:ext>
            </a:extLst>
          </p:cNvPr>
          <p:cNvSpPr txBox="1">
            <a:spLocks/>
          </p:cNvSpPr>
          <p:nvPr/>
        </p:nvSpPr>
        <p:spPr>
          <a:xfrm>
            <a:off x="1596086" y="5149639"/>
            <a:ext cx="6840250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1, п.1.3</a:t>
            </a:r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511852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9451" y="319310"/>
            <a:ext cx="6589199" cy="53794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23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6472" y="1689463"/>
            <a:ext cx="8115299" cy="377762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tooltip="Анализ требований"/>
              </a:rPr>
              <a:t>Анализ </a:t>
            </a:r>
            <a:r>
              <a:rPr lang="ru-RU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— это часть процесса разработки программного обеспечения, включающая в себя сбор требований к программному обеспечению, их систематизацию, выявление взаимосвязей, а также документирование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8267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24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260425" y="508908"/>
            <a:ext cx="7620685" cy="6166212"/>
          </a:xfrm>
        </p:spPr>
        <p:txBody>
          <a:bodyPr/>
          <a:lstStyle/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Шаг 1.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Комиссия экспертов формирует таблицу критериев оценки, являющихся самыми важными для потребителя.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Шаг 2.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Та же комиссия для каждого критерия определяет методику оценки выполнения критерия таким образом, чтобы "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обезразмерить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" исходные показатели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шкалирование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Шаг 3.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Для каждого критерия эксперты выставляют коэффициенты значимости критерия для оценки продукта. Коэффициенты распределяются на отрезке от 0 до 1.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Шаг 4.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Производится расчет аддитивной суммы интегральной оценки для каждого сравниваемого продукта по следующей формуле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Шаг 5.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Значения интегральных оценок для каждого сравниваемого продукта ранжируются по убыванию</a:t>
            </a:r>
          </a:p>
        </p:txBody>
      </p:sp>
      <p:pic>
        <p:nvPicPr>
          <p:cNvPr id="6" name="Рисунок 5" descr="http://www.itsec.ru/archive/p3/images/formula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313" y="4567784"/>
            <a:ext cx="1629728" cy="8429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1140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25</a:t>
            </a:fld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101"/>
          <a:stretch/>
        </p:blipFill>
        <p:spPr>
          <a:xfrm>
            <a:off x="233444" y="1267097"/>
            <a:ext cx="8769360" cy="5394960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1527190" y="558765"/>
            <a:ext cx="6589199" cy="65123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Пример критериев сравнения ПП</a:t>
            </a:r>
          </a:p>
        </p:txBody>
      </p:sp>
    </p:spTree>
    <p:extLst>
      <p:ext uri="{BB962C8B-B14F-4D97-AF65-F5344CB8AC3E}">
        <p14:creationId xmlns:p14="http://schemas.microsoft.com/office/powerpoint/2010/main" val="3154647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26</a:t>
            </a:fld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228" y="1335788"/>
            <a:ext cx="8420742" cy="518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12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0600" y="2514601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35825" y="3513910"/>
            <a:ext cx="7353300" cy="77070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Критерии оценки ПО</a:t>
            </a:r>
          </a:p>
          <a:p>
            <a:pPr algn="ctr"/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258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40698" y="319108"/>
            <a:ext cx="6589199" cy="65123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Сравнительный подход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28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11228" y="1152908"/>
            <a:ext cx="8410703" cy="5483023"/>
          </a:xfrm>
          <a:solidFill>
            <a:schemeClr val="bg2">
              <a:alpha val="90000"/>
            </a:schemeClr>
          </a:solidFill>
          <a:effectLst>
            <a:softEdge rad="63500"/>
          </a:effectLst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4000"/>
              </a:lnSpc>
              <a:buNone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 ходе сравнительного оценивания определяются: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элементы сравнения (по каким элементам будет осуществляться сравнение программного обеспечения с аналогами);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степень и характер различий объекта сравнения от аналогичного программного обеспечения;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рыночная стоимость программного обеспечения с обоснованным обобщением стоимости аналогов.</a:t>
            </a:r>
          </a:p>
          <a:p>
            <a:pPr marL="0" indent="0" algn="just">
              <a:lnSpc>
                <a:spcPct val="114000"/>
              </a:lnSpc>
              <a:spcBef>
                <a:spcPts val="180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Элементами для сравнительного анализа при оценке разработанного программного обеспечения могут выступать характеристики программного обеспечения, спрос на продукцию, производство и реализация которой может осуществляться с использованием ПО, срок возможного использования оцениваемого объекта 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т.д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03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29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511228" y="696343"/>
            <a:ext cx="8510806" cy="6161657"/>
          </a:xfrm>
          <a:solidFill>
            <a:schemeClr val="bg2">
              <a:alpha val="90000"/>
            </a:scheme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		Главные методы доходного подхода: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дисконтирование денежных потоков;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прямая капитализация;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освобождение от роялти;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избыточной прибыли;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дробления прибыли.</a:t>
            </a: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Выгоды от использования программного обеспечения могут иметь следующие формы: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снижение расходов на производство товаров (услуг, работ) или/и их реализацию;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повышение стоимости продукции;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увеличение объема выпуска продукции или реализуемых услуг и повышение эффективности;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диверсификация и снижение рисков;</a:t>
            </a:r>
          </a:p>
          <a:p>
            <a:pPr lvl="0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сокращение расходов на налоги и другие обязательные платежи.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764520" y="45106"/>
            <a:ext cx="6589199" cy="65123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Доходный подход</a:t>
            </a:r>
          </a:p>
        </p:txBody>
      </p:sp>
    </p:spTree>
    <p:extLst>
      <p:ext uri="{BB962C8B-B14F-4D97-AF65-F5344CB8AC3E}">
        <p14:creationId xmlns:p14="http://schemas.microsoft.com/office/powerpoint/2010/main" val="1979655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30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384663" y="1584960"/>
            <a:ext cx="7306491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При использовании данного подхода к оценке программного обеспечения применяются следующие методы:</a:t>
            </a:r>
          </a:p>
          <a:p>
            <a:pPr lvl="1">
              <a:lnSpc>
                <a:spcPct val="114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стоимости создания программного обеспечения</a:t>
            </a:r>
          </a:p>
          <a:p>
            <a:pPr lvl="1">
              <a:lnSpc>
                <a:spcPct val="114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выигрыша в себестоимости</a:t>
            </a:r>
          </a:p>
          <a:p>
            <a:pPr>
              <a:lnSpc>
                <a:spcPct val="114000"/>
              </a:lnSpc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840698" y="319108"/>
            <a:ext cx="6589199" cy="65123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Затратный подход</a:t>
            </a:r>
          </a:p>
        </p:txBody>
      </p:sp>
    </p:spTree>
    <p:extLst>
      <p:ext uri="{BB962C8B-B14F-4D97-AF65-F5344CB8AC3E}">
        <p14:creationId xmlns:p14="http://schemas.microsoft.com/office/powerpoint/2010/main" val="903602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31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254034" y="1361914"/>
            <a:ext cx="7589520" cy="5195640"/>
          </a:xfrm>
          <a:solidFill>
            <a:schemeClr val="bg2">
              <a:alpha val="90000"/>
            </a:scheme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marL="0" lvl="0" indent="0" algn="just">
              <a:lnSpc>
                <a:spcPct val="114000"/>
              </a:lnSpc>
              <a:buNone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При оценке ПО учитываются также факторы, которые прямо или опосредованно могут повлиять на его стоимость. Это: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уникальность программного обеспечения;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широта возможных отраслей использования;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объем и структура инвестиций для внедрения программного обеспечения;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возможность и степень правовой защиты;</a:t>
            </a:r>
          </a:p>
          <a:p>
            <a:pPr lvl="0"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наличие и характер рисков от использования программного обеспечения в разных отраслях;</a:t>
            </a:r>
          </a:p>
          <a:p>
            <a:pPr algn="just">
              <a:lnSpc>
                <a:spcPct val="114000"/>
              </a:lnSpc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текущее использование программного обеспечения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254034" y="319108"/>
            <a:ext cx="7889966" cy="65123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Влияющие на стоимость ПО факторы</a:t>
            </a:r>
          </a:p>
        </p:txBody>
      </p:sp>
    </p:spTree>
    <p:extLst>
      <p:ext uri="{BB962C8B-B14F-4D97-AF65-F5344CB8AC3E}">
        <p14:creationId xmlns:p14="http://schemas.microsoft.com/office/powerpoint/2010/main" val="3144384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00559" y="1134412"/>
            <a:ext cx="7552267" cy="238809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Лекция 3.</a:t>
            </a:r>
            <a:r>
              <a:rPr lang="ru-RU" b="1" dirty="0"/>
              <a:t/>
            </a:r>
            <a:br>
              <a:rPr lang="ru-RU" b="1" dirty="0"/>
            </a:b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Цели, задачи, этапы, объекты и планирование </a:t>
            </a:r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ревьюирования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32</a:t>
            </a:fld>
            <a:endParaRPr lang="ru-RU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C00501DD-2ACB-42DB-8683-80B148BC5D57}"/>
              </a:ext>
            </a:extLst>
          </p:cNvPr>
          <p:cNvSpPr txBox="1">
            <a:spLocks/>
          </p:cNvSpPr>
          <p:nvPr/>
        </p:nvSpPr>
        <p:spPr>
          <a:xfrm>
            <a:off x="1089012" y="4529540"/>
            <a:ext cx="7763814" cy="1010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70000"/>
              </a:lnSpc>
            </a:pPr>
            <a:r>
              <a:rPr lang="ru-RU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1, п.1.2</a:t>
            </a:r>
          </a:p>
          <a:p>
            <a:pPr algn="ctr">
              <a:lnSpc>
                <a:spcPct val="17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03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9451" y="319310"/>
            <a:ext cx="6589199" cy="53794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33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6206" y="1283536"/>
            <a:ext cx="7942217" cy="520870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Инспекция кода (</a:t>
            </a:r>
            <a:r>
              <a:rPr lang="ru-RU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– систематический и периодический анализ программного кода, направленный на поиск необнаруженных на ранних стадиях разработки программного продукта ошибок, а также, на выявление некачественных архитектурных решений и критических мест в программе</a:t>
            </a:r>
          </a:p>
          <a:p>
            <a:pPr algn="just">
              <a:lnSpc>
                <a:spcPct val="150000"/>
              </a:lnSpc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Рецензирование кода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обзор кода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 tooltip="Английский язык"/>
              </a:rPr>
              <a:t>англ.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ru-RU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или 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инспекция кода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 tooltip="Английский язык"/>
              </a:rPr>
              <a:t>англ.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ru-RU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inspection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 — систематическая проверка </a:t>
            </a: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 tooltip="Исходный код"/>
              </a:rPr>
              <a:t>исходного кода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 tooltip="Компьютерная программа"/>
              </a:rPr>
              <a:t>программы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с целью обнаружения и исправления </a:t>
            </a: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5" tooltip="Ошибка (программирование)"/>
              </a:rPr>
              <a:t>ошибок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которые остались незамеченными в начальной фазе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2123113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6207" y="319310"/>
            <a:ext cx="7856408" cy="537940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/>
              <a:t>Задачи и цели проведения инспекций программного кода</a:t>
            </a: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34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42864" y="1405890"/>
            <a:ext cx="7563093" cy="5034099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Целью обзора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является улучшение качества программного продукта и совершенствование навыков </a:t>
            </a: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 tooltip="Разработчик программного обеспечения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разработчика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Поиск ошибок не единственная задача обзора кода. Помимо этого, обзор кода имеет еще несколько положительных свойств:</a:t>
            </a:r>
          </a:p>
          <a:p>
            <a:pPr lvl="0">
              <a:lnSpc>
                <a:spcPct val="114000"/>
              </a:lnSpc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Улучшается архитектура приложения за счет того, что каждую часть системы продумали как минимум 2 человека.</a:t>
            </a:r>
          </a:p>
          <a:p>
            <a:pPr lvl="0">
              <a:lnSpc>
                <a:spcPct val="114000"/>
              </a:lnSpc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Программист изначально мотивируется писать более качественный код, зная, что его будут просматривать.</a:t>
            </a:r>
          </a:p>
          <a:p>
            <a:pPr lvl="0">
              <a:lnSpc>
                <a:spcPct val="114000"/>
              </a:lnSpc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Распространяются знания о проекте среди команды.</a:t>
            </a:r>
          </a:p>
          <a:p>
            <a:pPr lvl="0">
              <a:lnSpc>
                <a:spcPct val="114000"/>
              </a:lnSpc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Происходит обмен программистским опытом.</a:t>
            </a:r>
          </a:p>
          <a:p>
            <a:pPr lvl="0">
              <a:lnSpc>
                <a:spcPct val="114000"/>
              </a:lnSpc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Вырабатывается единый стиль кодирования в команде.</a:t>
            </a:r>
          </a:p>
          <a:p>
            <a:pPr>
              <a:lnSpc>
                <a:spcPct val="114000"/>
              </a:lnSpc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000"/>
              </a:lnSpc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7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9451" y="319310"/>
            <a:ext cx="6589199" cy="53794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35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0600" y="1518667"/>
            <a:ext cx="7266899" cy="4934383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Можно выделить следующие виды обзоров кода:</a:t>
            </a:r>
          </a:p>
          <a:p>
            <a:pPr marL="0" indent="0">
              <a:buNone/>
            </a:pP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Формальная инспекция кода.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Неформальная инспекция кода (другое название – анализ кода).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Чтение кода.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Парное программирование.</a:t>
            </a:r>
          </a:p>
          <a:p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23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36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2331" y="1245325"/>
            <a:ext cx="8229600" cy="523385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Формальная инспекция кода представляет собой формализированную процедуру просмотра кода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Достоинства: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Очень высокая эффективность.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Благодаря составляемому списку ошибок легко проверить их устранение.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Инспекционные отчеты можно использовать в дальнейшем, например, для анализа характерных проблем.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Недостатки: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Сложная формальная процедура, требующая времени.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Отвлечение как минимум 3-х человек (координатор, автор кода и инспектор) от их основной работы.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Большое психологическое давление на автора кода.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69972" y="444607"/>
            <a:ext cx="7162800" cy="708301"/>
          </a:xfrm>
        </p:spPr>
        <p:txBody>
          <a:bodyPr/>
          <a:lstStyle/>
          <a:p>
            <a:r>
              <a:rPr lang="ru-RU" b="1" dirty="0"/>
              <a:t>Формальная инспекция кода</a:t>
            </a:r>
          </a:p>
        </p:txBody>
      </p:sp>
    </p:spTree>
    <p:extLst>
      <p:ext uri="{BB962C8B-B14F-4D97-AF65-F5344CB8AC3E}">
        <p14:creationId xmlns:p14="http://schemas.microsoft.com/office/powerpoint/2010/main" val="1740944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7345" y="614968"/>
            <a:ext cx="6955427" cy="53794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Неформальная инспекция кода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37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071" y="1492379"/>
            <a:ext cx="7985357" cy="4819646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Неформальная инспекция не имеет четких правил.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Достоинства: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Малые затраты времени.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Простой процесс не требующий формальных процедур.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Недостатки: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Невысокая эффективность за счет поверхностного знакомства проверяющего с кодом.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проверки приходится отвлекать кого-нибудь от основной работы, что может сильно раздражать.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Критика кода может плохо восприниматься автором, причем как обоснованно (например, из-за незначащих придирок проверяющего), так и необоснованно (например, автору трудно признавать свои ошибки).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6583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21520" y="614968"/>
            <a:ext cx="6955427" cy="53794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Чтение кода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38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96206" y="1653191"/>
            <a:ext cx="7760411" cy="4589842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Чтение кода – это самостоятельное изучение разработчиком чужого кода без присутствия автора. Данная практика является самой простой и распространенной.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Достоинства: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Простота.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Высокая доступность – не требуется синхронизация во времени и пространстве.</a:t>
            </a:r>
          </a:p>
          <a:p>
            <a:pPr marL="0" indent="0"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Недостатки:</a:t>
            </a:r>
          </a:p>
          <a:p>
            <a:pPr lvl="0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Медленная обратная связь – могут потребоваться дополнительные комментарии к коду, которые нельзя быстро получить, а иногда даже быстрее самому исправить дефект, чем сообщить об этом автору.</a:t>
            </a:r>
          </a:p>
          <a:p>
            <a:pPr marL="0" indent="0">
              <a:buNone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203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65318" y="432405"/>
            <a:ext cx="6955427" cy="53794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Парное программирование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39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115803" y="1161023"/>
            <a:ext cx="7903029" cy="5316583"/>
          </a:xfrm>
          <a:solidFill>
            <a:schemeClr val="accent5">
              <a:lumMod val="20000"/>
              <a:lumOff val="80000"/>
            </a:scheme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Является экстремальным методом обзора кода – обзор, осуществляемый постоянно: два разработчика за одним компьютером, за одним комплектом мыши и клавиатуры, вместе решают одну задачу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Достоинства: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Высокая эффективность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Высокая концентрация на работе 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Естественное ограничение количества одновременно разрабатываемых командой задач 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Повышение «командного духа»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Отлично подходит для обучения новичков</a:t>
            </a:r>
          </a:p>
          <a:p>
            <a:pPr marL="0" indent="0">
              <a:spcBef>
                <a:spcPts val="0"/>
              </a:spcBef>
              <a:buNone/>
            </a:pPr>
            <a:endParaRPr lang="ru-RU" u="sng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Недостатки: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Падение общей производительности,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Требуется синхронизация рабочего графика 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Повышенная утомляемость за счет постоянной высокой концентрации на работе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Неэффективно для выполнения рутинных задач </a:t>
            </a:r>
          </a:p>
          <a:p>
            <a:pPr lvl="0">
              <a:spcBef>
                <a:spcPts val="0"/>
              </a:spcBef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Трудно синхронизировать темп разработчиков</a:t>
            </a:r>
          </a:p>
          <a:p>
            <a:pPr marL="0" indent="0">
              <a:buNone/>
            </a:pP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5746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78971" y="701375"/>
            <a:ext cx="6955427" cy="53794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Формальная инспекция кода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40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7085" y="1804992"/>
            <a:ext cx="6519197" cy="49086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 формальной инспекции состоит из пяти фаз: 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инициализация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планирование 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подготовка (экспертиза)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обсуждение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завершение</a:t>
            </a:r>
          </a:p>
        </p:txBody>
      </p:sp>
    </p:spTree>
    <p:extLst>
      <p:ext uri="{BB962C8B-B14F-4D97-AF65-F5344CB8AC3E}">
        <p14:creationId xmlns:p14="http://schemas.microsoft.com/office/powerpoint/2010/main" val="106429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7851" y="685301"/>
            <a:ext cx="6955427" cy="5379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ru-RU" b="1" dirty="0"/>
              <a:t>Формальная инспекция кода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41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90069" y="1628633"/>
            <a:ext cx="7985441" cy="4553804"/>
          </a:xfrm>
          <a:solidFill>
            <a:schemeClr val="accent5">
              <a:lumMod val="20000"/>
              <a:lumOff val="80000"/>
            </a:scheme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u="sng" dirty="0">
                <a:latin typeface="Arial" panose="020B0604020202020204" pitchFamily="34" charset="0"/>
                <a:cs typeface="Arial" panose="020B0604020202020204" pitchFamily="34" charset="0"/>
              </a:rPr>
              <a:t>1. Инициализация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проекта или его заместитель запрашивает из базы, хранящей все данные проекта (например, из системы конфигурационного управления), список объектов, готовых к инспекции, выбирает объект инспекции, затем назначает участников формальной инспекции: автора, ведущего и одного или нескольких инспекторов. Ведущий также может выполнять роль инспектора; остальные участники выполняют только одну роль. На роль ведущего или инспектора не допускается назначать сотрудников, участвовавших в разработке объекта инспекции.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38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4855" y="701375"/>
            <a:ext cx="6955427" cy="5379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ru-RU" b="1" dirty="0"/>
              <a:t>Формальная инспекция кода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42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59525" y="1328383"/>
            <a:ext cx="8279759" cy="4635689"/>
          </a:xfrm>
          <a:solidFill>
            <a:schemeClr val="accent5">
              <a:lumMod val="20000"/>
              <a:lumOff val="80000"/>
            </a:schemeClr>
          </a:solidFill>
          <a:effectLst>
            <a:softEdge rad="63500"/>
          </a:effectLst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Планирование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Ведущий меняет статус инспектируемых документов, чтобы отметить факт начала инспекции и ограничить доступ к инспектируемой документации. Во время инспекции изменение документов невозможно, а соответствующий статус сохраняется до конца инспекции. Далее будем называть этот статус </a:t>
            </a:r>
            <a:r>
              <a:rPr lang="ru-RU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ru-RU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Время, отводимое на этап подготовки, не может быть менее одного часа.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Ведущий должен определить дату, время и место обсуждения, если оно будет проходить в форме собрания.</a:t>
            </a:r>
            <a:endParaRPr lang="ru-RU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ru-RU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4217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1221" y="701375"/>
            <a:ext cx="6955427" cy="5379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ru-RU" b="1" dirty="0"/>
              <a:t>Формальная инспекция кода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43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91538" y="1445871"/>
            <a:ext cx="8047746" cy="4415379"/>
          </a:xfrm>
          <a:solidFill>
            <a:schemeClr val="accent5">
              <a:lumMod val="20000"/>
              <a:lumOff val="80000"/>
            </a:scheme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Подготовка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Инспекторы должны извлечь из базы данных проекта исходные и инспектируемые документы, используя указанные в бланке идентификаторы и номера версий. При этом инспекторы должны убедиться, что все документы находятся в соответствующем состоянии.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ходе подготовки инспекторы детально изучают инспектируемые документы, руководствуясь списком контрольных вопросов. Обнаруженные несоответствия должны быть точно локализованы, сформулированы и записаны.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ru-RU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92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70096" y="693197"/>
            <a:ext cx="6955427" cy="5379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ru-RU" b="1" dirty="0"/>
              <a:t>Формальная инспекция кода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44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17364" y="1833348"/>
            <a:ext cx="8094623" cy="4062485"/>
          </a:xfrm>
          <a:solidFill>
            <a:schemeClr val="accent5">
              <a:lumMod val="20000"/>
              <a:lumOff val="80000"/>
            </a:scheme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Обсуждение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Обсуждение проводится в форме одного или нескольких собраний, каждое из которых продолжается не более двух часов.</a:t>
            </a:r>
            <a:endParaRPr lang="ru-RU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проведения собрания необходимо присутствие ведущего, хотя бы одного из инспекторов и автора.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ходе обсуждения ведущий синхронизирует работу участников.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ходе обсуждения необходимо в бланке инспекции проставить ответы на контрольные вопросы и зафиксировать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2804948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2233" y="701375"/>
            <a:ext cx="6955427" cy="53794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ru-RU" b="1" dirty="0"/>
              <a:t>Формальная инспекция кода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45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3689" y="1501722"/>
            <a:ext cx="8352430" cy="5268362"/>
          </a:xfrm>
          <a:solidFill>
            <a:schemeClr val="accent5">
              <a:lumMod val="20000"/>
              <a:lumOff val="80000"/>
            </a:schemeClr>
          </a:solidFill>
          <a:effectLst>
            <a:softEdge rad="63500"/>
          </a:effectLst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b="1" u="sng" dirty="0"/>
              <a:t>5. Завершение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окончании обсуждения, инспекторы сдают ведущему свои рабочие материалы, которые включают в себя распечатки инспектируемых документов с пометками и бланки инспекции. Ведущий складывает эти материалы в прозрачную папку вместе с экземпляром бланка инспекции, заполненным в ходе обсуждения, причем титульный лист бланка инспекции должен лежать сверху, чтобы можно было по нему идентифицировать папки.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 собрания ведущий изменяет статус инспектируемых документов в базе данных проекта в соответствии с принятым решением - либо им присваивается статус </a:t>
            </a:r>
            <a:r>
              <a:rPr lang="ru-RU" i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Принят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либо </a:t>
            </a:r>
            <a:r>
              <a:rPr lang="ru-RU" i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Переработать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(в последнем случае необходима повторная инспекция)</a:t>
            </a:r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>
              <a:lnSpc>
                <a:spcPct val="15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9112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D072C4-BF9F-4F6F-8C91-23D8C823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46</a:t>
            </a:fld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DC4FDDA-CF03-408C-8F65-16F70B1349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13841" y="5007596"/>
            <a:ext cx="6840250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1, п.1.5</a:t>
            </a:r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3D94CF4-FB15-4225-9F69-0A6D60BAC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7737" y="2496800"/>
            <a:ext cx="7206354" cy="1126294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Исследования программного кода</a:t>
            </a:r>
            <a:endParaRPr lang="ru-R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56C76-2CA9-4A4F-A0E6-F4037F9FBA9D}"/>
              </a:ext>
            </a:extLst>
          </p:cNvPr>
          <p:cNvSpPr txBox="1"/>
          <p:nvPr/>
        </p:nvSpPr>
        <p:spPr>
          <a:xfrm>
            <a:off x="1008312" y="616932"/>
            <a:ext cx="2525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Лекция 4.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2437826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3A20846-1A72-4EE5-BDD7-35B54BFB3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2000" dirty="0"/>
              <a:t>Выделяют несколько методов анализа кода для его проверки:</a:t>
            </a: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2000" dirty="0"/>
              <a:t>статический</a:t>
            </a: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2000" dirty="0"/>
              <a:t>динамический</a:t>
            </a: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2000" dirty="0"/>
              <a:t>гибридный</a:t>
            </a:r>
          </a:p>
          <a:p>
            <a:pPr indent="0" algn="just">
              <a:lnSpc>
                <a:spcPct val="150000"/>
              </a:lnSpc>
              <a:buNone/>
            </a:pPr>
            <a:endParaRPr lang="ru-RU" sz="2000" dirty="0"/>
          </a:p>
          <a:p>
            <a:pPr indent="0" algn="just">
              <a:lnSpc>
                <a:spcPct val="150000"/>
              </a:lnSpc>
              <a:buNone/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EE7942-389B-4FCE-B014-A24C864C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47</a:t>
            </a:fld>
            <a:endParaRPr lang="ru-RU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549798A-FDEF-4509-8370-6A78B0C2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04" y="443460"/>
            <a:ext cx="6589199" cy="10537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ru-RU" b="1" dirty="0"/>
              <a:t>Методы анализа программного кода</a:t>
            </a:r>
          </a:p>
        </p:txBody>
      </p:sp>
    </p:spTree>
    <p:extLst>
      <p:ext uri="{BB962C8B-B14F-4D97-AF65-F5344CB8AC3E}">
        <p14:creationId xmlns:p14="http://schemas.microsoft.com/office/powerpoint/2010/main" val="114668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B5E81-B160-4823-A030-D142B156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98" y="306333"/>
            <a:ext cx="7034074" cy="128089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ru-RU" b="1" dirty="0"/>
              <a:t>Статический анализ </a:t>
            </a:r>
            <a:br>
              <a:rPr lang="ru-RU" b="1" dirty="0"/>
            </a:br>
            <a:r>
              <a:rPr lang="ru-RU" b="1" dirty="0"/>
              <a:t>(статистические анализаторы)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B977DE-C8ED-4692-B528-F796E8FA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327" y="1695635"/>
            <a:ext cx="7350710" cy="4563122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2000" dirty="0"/>
              <a:t>решает ряд важных задач:</a:t>
            </a:r>
          </a:p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2000" dirty="0"/>
              <a:t>выявление различных типов ошибок и возможных уязвимостей программного кода; </a:t>
            </a:r>
          </a:p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2000" dirty="0"/>
              <a:t>подсчет метрик. Метрика ПО - мера, позволяющая получить численное значение некоторого свойства ПО или его спецификаций; </a:t>
            </a:r>
          </a:p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2000" dirty="0"/>
              <a:t>формирование рекомендаций по оформлению кода. </a:t>
            </a:r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BFE5DB-2B35-4E40-933B-859DCB3E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1758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4D70F42-5CD4-4576-BA93-5878831EC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858" y="372862"/>
            <a:ext cx="7111014" cy="5948039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u="sng" dirty="0"/>
              <a:t> </a:t>
            </a:r>
            <a:r>
              <a:rPr lang="ru-RU" sz="2000" b="1" u="sng" dirty="0"/>
              <a:t>Достоинства методов статического анализа кода: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полное покрытие кода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не зависит от используемого компилятора и среды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можно легко и быстро обнаруживать опечатки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u="sng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u="sng" dirty="0"/>
              <a:t>Недостатки методов статического анализа кода: 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недостаточно хорошая диагностика утечек памяти и параллельных ошибок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корректный код при анализе тоже может попасть в список недостатков (ложнопозитивные события)</a:t>
            </a:r>
          </a:p>
          <a:p>
            <a:pPr>
              <a:lnSpc>
                <a:spcPct val="150000"/>
              </a:lnSpc>
            </a:pPr>
            <a:endParaRPr lang="ru-RU" sz="2000" dirty="0"/>
          </a:p>
          <a:p>
            <a:pPr>
              <a:lnSpc>
                <a:spcPct val="150000"/>
              </a:lnSpc>
            </a:pPr>
            <a:endParaRPr lang="ru-RU" sz="2000" dirty="0"/>
          </a:p>
          <a:p>
            <a:pPr>
              <a:lnSpc>
                <a:spcPct val="150000"/>
              </a:lnSpc>
            </a:pPr>
            <a:endParaRPr lang="ru-RU" sz="2000" dirty="0"/>
          </a:p>
          <a:p>
            <a:pPr>
              <a:lnSpc>
                <a:spcPct val="150000"/>
              </a:lnSpc>
            </a:pPr>
            <a:endParaRPr lang="ru-RU" sz="2000" dirty="0"/>
          </a:p>
          <a:p>
            <a:pPr marL="0" indent="0">
              <a:lnSpc>
                <a:spcPct val="150000"/>
              </a:lnSpc>
              <a:buNone/>
            </a:pPr>
            <a:endParaRPr lang="ru-RU" sz="2000" u="sng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46E9A1-F357-4E37-9F14-EB2A8EED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1484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6182D-509C-4FCD-8C66-AA03D134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453" y="147338"/>
            <a:ext cx="6589199" cy="6404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/>
              <a:t>Динамический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00A19F-EEB9-4D0A-9017-0C1FDF084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904" y="1152908"/>
            <a:ext cx="7639420" cy="5429773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u="sng" dirty="0"/>
              <a:t>Динамический анализ кода решает ряд важных задач, в частности позволяет:</a:t>
            </a:r>
          </a:p>
          <a:p>
            <a:pPr>
              <a:lnSpc>
                <a:spcPct val="150000"/>
              </a:lnSpc>
            </a:pPr>
            <a:r>
              <a:rPr lang="ru-RU" dirty="0"/>
              <a:t>имитировать поведение пользователя и рассматривать работу программы в различных ситуациях и с различными наборами данных, корректными и некорректными; </a:t>
            </a:r>
          </a:p>
          <a:p>
            <a:pPr>
              <a:lnSpc>
                <a:spcPct val="150000"/>
              </a:lnSpc>
            </a:pPr>
            <a:r>
              <a:rPr lang="ru-RU" dirty="0"/>
              <a:t>находить программные ошибки, к которым можно отнести не только ошибки кода, но и ошибочные результаты и вычисления, полученные при выполнении программы или ее модулей; </a:t>
            </a:r>
          </a:p>
          <a:p>
            <a:pPr>
              <a:lnSpc>
                <a:spcPct val="150000"/>
              </a:lnSpc>
            </a:pPr>
            <a:r>
              <a:rPr lang="ru-RU" dirty="0"/>
              <a:t>обнаружить наличие уязвимостей в программе; </a:t>
            </a:r>
          </a:p>
          <a:p>
            <a:pPr>
              <a:lnSpc>
                <a:spcPct val="150000"/>
              </a:lnSpc>
            </a:pPr>
            <a:r>
              <a:rPr lang="ru-RU" dirty="0"/>
              <a:t>оценить используемые ресурсы, время выполнения программы в целом, время выполнения отдельных модулей программы, количество внешних запросов, количество используемой оперативной памяти и других ресурсов; </a:t>
            </a:r>
          </a:p>
          <a:p>
            <a:pPr>
              <a:lnSpc>
                <a:spcPct val="150000"/>
              </a:lnSpc>
            </a:pPr>
            <a:r>
              <a:rPr lang="ru-RU" dirty="0"/>
              <a:t>получить определенные наборы метрик.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68E4E3-1030-4018-BC4F-15E63078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5755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7891800-3094-4A32-A0EB-194BB0088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529" y="204186"/>
            <a:ext cx="7537142" cy="6400799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b="1" u="sng" dirty="0"/>
              <a:t>Достоинства динамического анализа кода: </a:t>
            </a:r>
          </a:p>
          <a:p>
            <a:pPr lvl="1"/>
            <a:r>
              <a:rPr lang="ru-RU" sz="1900" dirty="0"/>
              <a:t>обычно не присутствует появление ложных срабатываний; </a:t>
            </a:r>
          </a:p>
          <a:p>
            <a:pPr lvl="1"/>
            <a:r>
              <a:rPr lang="ru-RU" sz="1900" dirty="0"/>
              <a:t>обнаруженная ошибка является фактической, а не возможной;</a:t>
            </a:r>
          </a:p>
          <a:p>
            <a:pPr lvl="1"/>
            <a:r>
              <a:rPr lang="ru-RU" sz="1900" dirty="0"/>
              <a:t>позволяет протестировать программы с закрытым кодом.</a:t>
            </a:r>
          </a:p>
          <a:p>
            <a:pPr marL="0" indent="0">
              <a:buNone/>
            </a:pPr>
            <a:r>
              <a:rPr lang="ru-RU" sz="2000" b="1" u="sng" dirty="0"/>
              <a:t>Недостатки динамического анализа кода:</a:t>
            </a:r>
          </a:p>
          <a:p>
            <a:pPr lvl="1"/>
            <a:r>
              <a:rPr lang="ru-RU" sz="1900" dirty="0"/>
              <a:t>обнаруживает дефекты только при тестировании с определенными наборами данных, в частях программы, которые тестирование не охватывает, ошибки могут быть не обнаружены;</a:t>
            </a:r>
          </a:p>
          <a:p>
            <a:pPr lvl="1"/>
            <a:r>
              <a:rPr lang="ru-RU" sz="1900" dirty="0"/>
              <a:t>требуются значительные вычислительные ресурсы для проведения тестирования;</a:t>
            </a:r>
          </a:p>
          <a:p>
            <a:pPr lvl="1"/>
            <a:r>
              <a:rPr lang="ru-RU" sz="1900" dirty="0"/>
              <a:t>только один путь выполнения может быть проверен в каждый конкретный момент времени. Требуется большое количество тестовых запусков для большей полноты тестирования;</a:t>
            </a:r>
          </a:p>
          <a:p>
            <a:pPr lvl="1"/>
            <a:r>
              <a:rPr lang="ru-RU" sz="1900" dirty="0"/>
              <a:t>при тестировании на реальном процессоре исполнение некорректного кода может привести к непредсказуемым последствиям.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8706FF-D1A0-478A-9062-D7422A39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208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1F55E-F2BC-4FE7-A38E-07076FF3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548" y="597446"/>
            <a:ext cx="6950224" cy="6986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/>
              <a:t>Методы исследования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9C2AB-8D25-424D-A3D4-1694DC748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939" y="1589103"/>
            <a:ext cx="7492752" cy="4733595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Отладка</a:t>
            </a:r>
          </a:p>
          <a:p>
            <a:r>
              <a:rPr lang="ru-RU" sz="2000" dirty="0"/>
              <a:t>Трассировка</a:t>
            </a:r>
          </a:p>
          <a:p>
            <a:r>
              <a:rPr lang="ru-RU" sz="2000" dirty="0"/>
              <a:t>Ревьюирование</a:t>
            </a:r>
          </a:p>
          <a:p>
            <a:r>
              <a:rPr lang="ru-RU" sz="2000" dirty="0"/>
              <a:t>Тестирование</a:t>
            </a:r>
          </a:p>
          <a:p>
            <a:r>
              <a:rPr lang="ru-RU" sz="2000" dirty="0"/>
              <a:t>Профилирование</a:t>
            </a:r>
          </a:p>
          <a:p>
            <a:r>
              <a:rPr lang="ru-RU" sz="2000" dirty="0"/>
              <a:t>Обратное проектирование</a:t>
            </a:r>
          </a:p>
          <a:p>
            <a:r>
              <a:rPr lang="ru-RU" sz="2000" dirty="0"/>
              <a:t>Дизассемблирование</a:t>
            </a:r>
          </a:p>
          <a:p>
            <a:r>
              <a:rPr lang="ru-RU" sz="2000" dirty="0"/>
              <a:t>Использование анализаторов трафика (</a:t>
            </a:r>
            <a:r>
              <a:rPr lang="ru-RU" sz="2000" dirty="0" err="1"/>
              <a:t>снифферов</a:t>
            </a:r>
            <a:r>
              <a:rPr lang="ru-RU" sz="2000" dirty="0"/>
              <a:t>)</a:t>
            </a:r>
          </a:p>
          <a:p>
            <a:r>
              <a:rPr lang="ru-RU" sz="2000" dirty="0"/>
              <a:t>Использование утилит для динамического анализа кода</a:t>
            </a:r>
          </a:p>
          <a:p>
            <a:r>
              <a:rPr lang="ru-RU" sz="2000" dirty="0"/>
              <a:t>Экспертиза ПО </a:t>
            </a:r>
          </a:p>
          <a:p>
            <a:endParaRPr lang="ru-RU" sz="2000" b="1" i="1" dirty="0">
              <a:latin typeface="Times New Roman" panose="02020603050405020304" pitchFamily="18" charset="0"/>
            </a:endParaRPr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8DEDF5-BF49-46A1-A7F7-EB68463E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7450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16AE-FE1F-4AC0-9316-E9DD2EFA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775" y="2032513"/>
            <a:ext cx="6600451" cy="1852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Механизмы и контроль внесения изменений в код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955C34-E094-4734-9990-EEEF0F5E3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53</a:t>
            </a:fld>
            <a:endParaRPr lang="ru-RU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6036E310-874B-45C5-A1A9-F4BC450D9A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14121" y="5140773"/>
            <a:ext cx="6599238" cy="1127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1, п.1.6</a:t>
            </a:r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9253388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D8D2DCA-BC09-4360-B781-9F598B578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405" y="233778"/>
            <a:ext cx="7554897" cy="63268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000" b="1" u="sng" dirty="0"/>
              <a:t>Система контроля версий позволяет: </a:t>
            </a:r>
          </a:p>
          <a:p>
            <a:pPr lvl="1"/>
            <a:r>
              <a:rPr lang="ru-RU" sz="1800" dirty="0"/>
              <a:t>команде программистов работать с одним и тем же хранилищем исходного кода, называемым репозиторием проекта;</a:t>
            </a:r>
          </a:p>
          <a:p>
            <a:pPr lvl="1"/>
            <a:r>
              <a:rPr lang="ru-RU" sz="1800" dirty="0"/>
              <a:t>хранить несколько версий одних и тех же файлов проекта; </a:t>
            </a:r>
          </a:p>
          <a:p>
            <a:pPr lvl="1"/>
            <a:r>
              <a:rPr lang="ru-RU" sz="1800" dirty="0"/>
              <a:t>вести учет и контроль версий; </a:t>
            </a:r>
          </a:p>
          <a:p>
            <a:pPr lvl="1"/>
            <a:r>
              <a:rPr lang="ru-RU" sz="1800" dirty="0"/>
              <a:t>получать программисту личную копию хранилища и работать с этой копией на своем локальном компьютере; </a:t>
            </a:r>
          </a:p>
          <a:p>
            <a:pPr lvl="1"/>
            <a:r>
              <a:rPr lang="ru-RU" sz="1800" dirty="0"/>
              <a:t>возвращаться к более ранним версиям файлов кода, получать актуальные версии файлов и решать ряд других важных задач. </a:t>
            </a:r>
          </a:p>
          <a:p>
            <a:pPr marL="0" indent="0">
              <a:buNone/>
            </a:pPr>
            <a:r>
              <a:rPr lang="ru-RU" sz="2000" b="1" u="sng" dirty="0"/>
              <a:t>Существуют разные типы СКВ со своими алгоритмами и возможностями работы:</a:t>
            </a:r>
          </a:p>
          <a:p>
            <a:pPr lvl="1"/>
            <a:r>
              <a:rPr lang="ru-RU" sz="1800" dirty="0"/>
              <a:t>локальная; </a:t>
            </a:r>
          </a:p>
          <a:p>
            <a:pPr lvl="1"/>
            <a:r>
              <a:rPr lang="ru-RU" sz="1800" dirty="0"/>
              <a:t>централизованная; </a:t>
            </a:r>
          </a:p>
          <a:p>
            <a:pPr lvl="1"/>
            <a:r>
              <a:rPr lang="ru-RU" sz="1800" dirty="0"/>
              <a:t>децентрализованная (распределенная).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A8D68A-AD74-4516-B2BD-D1FA01D3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804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503E0E1-9906-4F57-AF78-2B741E27F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675" y="278766"/>
            <a:ext cx="7166075" cy="5820193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u="sng" dirty="0"/>
              <a:t>При организации репозиториев соблюдаются определенные принципы:</a:t>
            </a:r>
          </a:p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1800" dirty="0"/>
              <a:t>репозиторий содержит дерево всех файлов и директорий проекта, хранит главную копию всех файлов исходного кода и вспомогательные файлы, и документы; </a:t>
            </a:r>
          </a:p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1800" dirty="0"/>
              <a:t>при записи файла в репозиторий сохраняется его предыдущее состояние, и только после этого происходит обновление файла; </a:t>
            </a:r>
          </a:p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1800" dirty="0"/>
              <a:t>внесенные изменения становятся доступными для других разработчиков команды; </a:t>
            </a:r>
          </a:p>
          <a:p>
            <a:pPr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ru-RU" sz="1800" dirty="0"/>
              <a:t>при чтении файла из репозитория по умолчанию предоставляется последняя версия файла со всеми сделанными изменениями.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E80EF2-4BA9-4605-AA8D-BB05B51B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1062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B2EF66A-05B5-4710-ACEE-C92712FB1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521" y="695418"/>
            <a:ext cx="6591985" cy="377762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При работе с репозиторием СКВ реализует ряд механизмов: 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контроль за исходным кодом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управление версиями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управление конфигурациями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контроль доступа</a:t>
            </a:r>
          </a:p>
          <a:p>
            <a:pPr lvl="1">
              <a:lnSpc>
                <a:spcPct val="150000"/>
              </a:lnSpc>
            </a:pPr>
            <a:r>
              <a:rPr lang="ru-RU" sz="2000" dirty="0"/>
              <a:t>ветвление</a:t>
            </a:r>
          </a:p>
          <a:p>
            <a:pPr>
              <a:lnSpc>
                <a:spcPct val="150000"/>
              </a:lnSpc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33DCBF-723F-4F89-B77C-68C3EC6C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39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B8C50-0C81-4EFF-A50D-B7D69DC1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935" y="258985"/>
            <a:ext cx="5911537" cy="528798"/>
          </a:xfrm>
        </p:spPr>
        <p:txBody>
          <a:bodyPr>
            <a:noAutofit/>
          </a:bodyPr>
          <a:lstStyle/>
          <a:p>
            <a:r>
              <a:rPr lang="ru-RU" sz="2400" b="1" dirty="0"/>
              <a:t>Механизм ветвления проекта в СКВ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52FC324-8C9D-465E-A848-A117EB512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682"/>
          <a:stretch/>
        </p:blipFill>
        <p:spPr>
          <a:xfrm>
            <a:off x="1946148" y="787783"/>
            <a:ext cx="5741913" cy="5920221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0E4A0B-9A63-4491-BEA4-4AB8D01F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60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08312" y="1795330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Лекция 5.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08312" y="2885497"/>
            <a:ext cx="7798525" cy="901337"/>
          </a:xfrm>
        </p:spPr>
        <p:txBody>
          <a:bodyPr>
            <a:no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ru-RU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Обзор</a:t>
            </a:r>
            <a:r>
              <a:rPr lang="ru-RU" sz="3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утилит для </a:t>
            </a:r>
            <a:r>
              <a:rPr lang="ru-RU" sz="4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58</a:t>
            </a:fld>
            <a:endParaRPr lang="ru-RU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3C971E8D-EC74-41A3-AF28-C62DF423F072}"/>
              </a:ext>
            </a:extLst>
          </p:cNvPr>
          <p:cNvSpPr txBox="1">
            <a:spLocks/>
          </p:cNvSpPr>
          <p:nvPr/>
        </p:nvSpPr>
        <p:spPr>
          <a:xfrm>
            <a:off x="1961341" y="5087506"/>
            <a:ext cx="6599238" cy="1127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2, п.2.1</a:t>
            </a:r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3444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5721" y="787783"/>
            <a:ext cx="7401464" cy="250583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Рецензирование кода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обзор кода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ru-RU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англ.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ru-RU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или 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инспекция кода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ru-RU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англ.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ru-RU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inspection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 — систематическая проверка </a:t>
            </a:r>
            <a:r>
              <a:rPr lang="ru-RU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исходного кода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программы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с целью обнаружения и исправления </a:t>
            </a:r>
            <a:r>
              <a:rPr lang="ru-RU"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ошибок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которые остались незамеченными в начальной фазе разработки</a:t>
            </a:r>
          </a:p>
          <a:p>
            <a:pPr>
              <a:lnSpc>
                <a:spcPct val="150000"/>
              </a:lnSpc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59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66CC8-2648-4F14-9AD4-9D4F218325D5}"/>
              </a:ext>
            </a:extLst>
          </p:cNvPr>
          <p:cNvSpPr txBox="1"/>
          <p:nvPr/>
        </p:nvSpPr>
        <p:spPr>
          <a:xfrm>
            <a:off x="1387010" y="4061535"/>
            <a:ext cx="7318885" cy="142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Утилита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компьютерная программа, расширяющая стандартные возможности оборудования и операционных систем и выполняющая узкий круг специфических задач</a:t>
            </a:r>
          </a:p>
        </p:txBody>
      </p:sp>
    </p:spTree>
    <p:extLst>
      <p:ext uri="{BB962C8B-B14F-4D97-AF65-F5344CB8AC3E}">
        <p14:creationId xmlns:p14="http://schemas.microsoft.com/office/powerpoint/2010/main" val="132497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8CD2B2B-6B0B-48F3-8C03-9DC045C0E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840" y="516724"/>
            <a:ext cx="7050665" cy="52182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DeepCode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программа применяется для обнаружения и исправления ошибок в коде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предназначена для поиска уязвимостей в модулях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PVS-</a:t>
            </a:r>
            <a:r>
              <a:rPr lang="ru-RU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инструмент для выявления ошибок и потенциальных уязвимостей в исходном коде программ, написанных на языках С, С++ и С#</a:t>
            </a:r>
          </a:p>
          <a:p>
            <a:pPr>
              <a:lnSpc>
                <a:spcPct val="150000"/>
              </a:lnSpc>
            </a:pPr>
            <a:r>
              <a:rPr lang="ru-RU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BlameNotifier</a:t>
            </a: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инструмент позволяет рассылать письма разработчикам об ошибках, которые PVS-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нашел во время ночного прогона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1194AE-A979-4DF1-966B-D1B1D4F2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2904B-84A0-4C2E-8332-DBCB5CD7903C}"/>
              </a:ext>
            </a:extLst>
          </p:cNvPr>
          <p:cNvSpPr txBox="1"/>
          <p:nvPr/>
        </p:nvSpPr>
        <p:spPr>
          <a:xfrm>
            <a:off x="2090690" y="5971944"/>
            <a:ext cx="619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!!!!Самостоятельно учебник, глава 2, п.2.1, стр.82-87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44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0954" y="238057"/>
            <a:ext cx="5266482" cy="687105"/>
          </a:xfrm>
        </p:spPr>
        <p:txBody>
          <a:bodyPr/>
          <a:lstStyle/>
          <a:p>
            <a:r>
              <a:rPr lang="ru-RU" u="sng" dirty="0"/>
              <a:t>1) коллаборационист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61</a:t>
            </a:fld>
            <a:endParaRPr lang="ru-RU"/>
          </a:p>
        </p:txBody>
      </p:sp>
      <p:pic>
        <p:nvPicPr>
          <p:cNvPr id="5" name="Объект 4" descr="Инструмент-коллаборатор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975" y="781868"/>
            <a:ext cx="3695285" cy="103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274" y="2815785"/>
            <a:ext cx="6590347" cy="377984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44336" y="1554148"/>
            <a:ext cx="8322221" cy="4829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b="1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ключевая характеристика: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Установите правила проверки и автоматические уведомления, чтобы гарантировать, что проверки будут завершены вовремя.</a:t>
            </a:r>
            <a:endParaRPr lang="ru-RU" sz="16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Пользовательские шаблоны проверки уникальны для </a:t>
            </a:r>
            <a:r>
              <a:rPr lang="ru-RU" dirty="0" err="1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Collaborator</a:t>
            </a: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Установите настраиваемые поля, контрольные списки и группы участников, чтобы адаптировать экспертные оценки к идеальному рабочему процессу вашей команды.</a:t>
            </a:r>
            <a:endParaRPr lang="ru-RU" sz="16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Легко интегрируется с 11 различными </a:t>
            </a:r>
            <a:r>
              <a:rPr lang="ru-RU" dirty="0" err="1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SCMs</a:t>
            </a: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а также IDE, такими как </a:t>
            </a:r>
            <a:r>
              <a:rPr lang="ru-RU" dirty="0" err="1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dirty="0" err="1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endParaRPr lang="ru-RU" sz="16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Создавайте пользовательские отчеты о проверке, чтобы повысить эффективность процесса и упростить аудит.</a:t>
            </a:r>
            <a:endParaRPr lang="ru-RU" sz="16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Проводите экспертные обзоры документов в одном и том же инструменте, чтобы команды могли легко согласовываться с требованиями, изменениями дизайна и нагрузками соответствия.</a:t>
            </a:r>
            <a:endParaRPr lang="ru-RU" sz="16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Официальный сайт: </a:t>
            </a:r>
            <a:r>
              <a:rPr lang="ru-RU" b="1" u="sng" dirty="0">
                <a:solidFill>
                  <a:srgbClr val="3A3A3A"/>
                </a:solidFill>
                <a:latin typeface="Arial" panose="020B0604020202020204" pitchFamily="34" charset="0"/>
                <a:ea typeface="Times New Roman" panose="02020603050405020304" pitchFamily="18" charset="0"/>
                <a:hlinkClick r:id="rId5"/>
              </a:rPr>
              <a:t>https://smartbear.com/product/collaborator/free-trial/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433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4192" y="441547"/>
            <a:ext cx="3334165" cy="528798"/>
          </a:xfrm>
        </p:spPr>
        <p:txBody>
          <a:bodyPr>
            <a:normAutofit fontScale="90000"/>
          </a:bodyPr>
          <a:lstStyle/>
          <a:p>
            <a:pPr algn="ctr"/>
            <a:r>
              <a:rPr lang="ru-RU" u="sng" dirty="0"/>
              <a:t>2) </a:t>
            </a:r>
            <a:r>
              <a:rPr lang="ru-RU" u="sng" dirty="0" err="1"/>
              <a:t>CodeScene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7706" y="1152908"/>
            <a:ext cx="8246852" cy="4934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r>
              <a:rPr lang="ru-RU" dirty="0"/>
              <a:t>Автоматический Просмотр кода комментарии на запросы вытягивания.</a:t>
            </a:r>
          </a:p>
          <a:p>
            <a:r>
              <a:rPr lang="ru-RU" dirty="0"/>
              <a:t>Качественные ворота для CI / CD.</a:t>
            </a:r>
          </a:p>
          <a:p>
            <a:r>
              <a:rPr lang="ru-RU" dirty="0"/>
              <a:t>A целенаправленный рабочий процесс для улучшения планирования.</a:t>
            </a:r>
          </a:p>
          <a:p>
            <a:r>
              <a:rPr lang="ru-RU" dirty="0"/>
              <a:t>Контролируйте технический долг и код здоровья.</a:t>
            </a:r>
          </a:p>
          <a:p>
            <a:r>
              <a:rPr lang="ru-RU" dirty="0"/>
              <a:t>Работает с любым </a:t>
            </a:r>
            <a:r>
              <a:rPr lang="ru-RU" dirty="0" err="1"/>
              <a:t>git</a:t>
            </a:r>
            <a:r>
              <a:rPr lang="ru-RU" dirty="0"/>
              <a:t> хостингом.</a:t>
            </a:r>
          </a:p>
          <a:p>
            <a:r>
              <a:rPr lang="ru-RU" dirty="0"/>
              <a:t>Интегрируется с </a:t>
            </a:r>
            <a:r>
              <a:rPr lang="ru-RU" dirty="0" err="1"/>
              <a:t>Jira</a:t>
            </a:r>
            <a:r>
              <a:rPr lang="ru-RU" dirty="0"/>
              <a:t> для отслеживания тенденций в производительности доставки.</a:t>
            </a:r>
          </a:p>
          <a:p>
            <a:r>
              <a:rPr lang="ru-RU" dirty="0" err="1"/>
              <a:t>CodeScene</a:t>
            </a:r>
            <a:r>
              <a:rPr lang="ru-RU" dirty="0"/>
              <a:t> доступен как в локальной, так и в размещенной версии.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https://empear.com/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62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158" y="5726772"/>
            <a:ext cx="3308193" cy="104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7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4732" y="258985"/>
            <a:ext cx="5421757" cy="528798"/>
          </a:xfrm>
        </p:spPr>
        <p:txBody>
          <a:bodyPr>
            <a:normAutofit fontScale="90000"/>
          </a:bodyPr>
          <a:lstStyle/>
          <a:p>
            <a:pPr algn="ctr"/>
            <a:r>
              <a:rPr lang="ru-RU" u="sng" dirty="0"/>
              <a:t>3) Визуальный Эксперт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887" y="1322200"/>
            <a:ext cx="7926215" cy="50263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ключевая </a:t>
            </a:r>
            <a:r>
              <a:rPr lang="ru-RU" b="1"/>
              <a:t>характеристика</a:t>
            </a:r>
            <a:r>
              <a:rPr lang="ru-RU" b="1" smtClean="0"/>
              <a:t>:</a:t>
            </a:r>
            <a:endParaRPr lang="ru-RU" dirty="0"/>
          </a:p>
          <a:p>
            <a:r>
              <a:rPr lang="ru-RU" dirty="0"/>
              <a:t>Находите неиспользуемые объекты, индексы или таблицы</a:t>
            </a:r>
            <a:endParaRPr lang="ru-RU" dirty="0" smtClean="0"/>
          </a:p>
          <a:p>
            <a:r>
              <a:rPr lang="ru-RU" dirty="0" smtClean="0"/>
              <a:t>Определите </a:t>
            </a:r>
            <a:r>
              <a:rPr lang="ru-RU" dirty="0"/>
              <a:t>отсутствующие индексы, ухудшающие время выполнения запроса.</a:t>
            </a:r>
          </a:p>
          <a:p>
            <a:r>
              <a:rPr lang="ru-RU" dirty="0"/>
              <a:t>Проверьте соглашения об именовании.</a:t>
            </a:r>
          </a:p>
          <a:p>
            <a:r>
              <a:rPr lang="ru-RU" dirty="0"/>
              <a:t>Генерируйте метрики кода: строки кода, количество объектов, переменные и т.д.</a:t>
            </a:r>
          </a:p>
          <a:p>
            <a:r>
              <a:rPr lang="ru-RU" dirty="0"/>
              <a:t>Находите негабаритные объекты.</a:t>
            </a:r>
          </a:p>
          <a:p>
            <a:r>
              <a:rPr lang="ru-RU" dirty="0"/>
              <a:t>Найдите пустые функции, не имеющие активного кода.</a:t>
            </a:r>
          </a:p>
          <a:p>
            <a:pPr marL="0" indent="0">
              <a:buNone/>
            </a:pP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Expert</a:t>
            </a:r>
            <a:r>
              <a:rPr lang="ru-RU" dirty="0"/>
              <a:t> </a:t>
            </a:r>
            <a:r>
              <a:rPr lang="ru-RU" dirty="0" err="1"/>
              <a:t>toolbox</a:t>
            </a:r>
            <a:r>
              <a:rPr lang="ru-RU" dirty="0"/>
              <a:t> также включает в себя CRUD </a:t>
            </a:r>
            <a:r>
              <a:rPr lang="ru-RU" dirty="0" err="1"/>
              <a:t>matrix</a:t>
            </a:r>
            <a:r>
              <a:rPr lang="ru-RU" dirty="0"/>
              <a:t> </a:t>
            </a:r>
            <a:r>
              <a:rPr lang="ru-RU" dirty="0" err="1"/>
              <a:t>generation</a:t>
            </a:r>
            <a:r>
              <a:rPr lang="ru-RU" dirty="0"/>
              <a:t>, автоматическую документацию по коду, электронные диаграммы, синхронизированные с кодом, анализ производительности кода и многое другое.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</a:p>
          <a:p>
            <a:pPr marL="0" indent="0">
              <a:buNone/>
            </a:pPr>
            <a:r>
              <a:rPr lang="ru-RU" b="1" u="sng" dirty="0">
                <a:hlinkClick r:id="rId2"/>
              </a:rPr>
              <a:t>https://www.visual-expert.com/EN/lp-ve-download-source_adv914ve.html?single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594" y="5964777"/>
            <a:ext cx="3639790" cy="7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610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2138" y="452857"/>
            <a:ext cx="3161637" cy="669852"/>
          </a:xfrm>
        </p:spPr>
        <p:txBody>
          <a:bodyPr/>
          <a:lstStyle/>
          <a:p>
            <a:r>
              <a:rPr lang="ru-RU" u="sng" dirty="0"/>
              <a:t>4) </a:t>
            </a:r>
            <a:r>
              <a:rPr lang="ru-RU" u="sng" dirty="0" err="1"/>
              <a:t>Codebrag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228" y="1250901"/>
            <a:ext cx="8385482" cy="5134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 err="1"/>
              <a:t>Codebrag</a:t>
            </a:r>
            <a:r>
              <a:rPr lang="ru-RU" dirty="0"/>
              <a:t>-это простой, легкий, бесплатный и </a:t>
            </a:r>
            <a:r>
              <a:rPr lang="ru-RU" b="1" dirty="0"/>
              <a:t>открытый инструмент для просмотра кода</a:t>
            </a:r>
            <a:r>
              <a:rPr lang="ru-RU" dirty="0"/>
              <a:t>, который делает обзор интересным и структурированным.</a:t>
            </a:r>
          </a:p>
          <a:p>
            <a:pPr lvl="0"/>
            <a:r>
              <a:rPr lang="ru-RU" dirty="0" err="1"/>
              <a:t>Codebrag</a:t>
            </a:r>
            <a:r>
              <a:rPr lang="ru-RU" dirty="0"/>
              <a:t> используется для решения таких проблем, как неблокирующий обзор кода, встроенные комментарии и лайки, интеллектуальные уведомления по электронной почте и т. д.</a:t>
            </a:r>
          </a:p>
          <a:p>
            <a:pPr lvl="0"/>
            <a:r>
              <a:rPr lang="ru-RU" dirty="0"/>
              <a:t>С </a:t>
            </a:r>
            <a:r>
              <a:rPr lang="ru-RU" dirty="0" err="1"/>
              <a:t>Codebrag</a:t>
            </a:r>
            <a:r>
              <a:rPr lang="ru-RU" dirty="0"/>
              <a:t> можно сосредоточиться на рабочем процессе, чтобы выяснить и устранить проблемы наряду с совместным обучением и совместной работой.</a:t>
            </a:r>
          </a:p>
          <a:p>
            <a:pPr lvl="0"/>
            <a:r>
              <a:rPr lang="ru-RU" dirty="0" err="1"/>
              <a:t>Codebrag</a:t>
            </a:r>
            <a:r>
              <a:rPr lang="ru-RU" dirty="0"/>
              <a:t> помогает в поставке расширенного программного обеспечения, используя его гибкую проверку кода.</a:t>
            </a:r>
          </a:p>
          <a:p>
            <a:pPr lvl="0"/>
            <a:r>
              <a:rPr lang="ru-RU" dirty="0"/>
              <a:t>Лицензия для </a:t>
            </a:r>
            <a:r>
              <a:rPr lang="ru-RU" dirty="0" err="1"/>
              <a:t>Codebrag</a:t>
            </a:r>
            <a:r>
              <a:rPr lang="ru-RU" dirty="0"/>
              <a:t> с открытым исходным кодом поддерживается </a:t>
            </a:r>
            <a:r>
              <a:rPr lang="ru-RU" b="1" dirty="0"/>
              <a:t>AGPL 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http://codebrag.com/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806" y="5497167"/>
            <a:ext cx="2759904" cy="119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124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16375" y="383845"/>
            <a:ext cx="2609546" cy="807875"/>
          </a:xfrm>
        </p:spPr>
        <p:txBody>
          <a:bodyPr/>
          <a:lstStyle/>
          <a:p>
            <a:r>
              <a:rPr lang="ru-RU" dirty="0"/>
              <a:t>5</a:t>
            </a:r>
            <a:r>
              <a:rPr lang="ru-RU" u="sng" dirty="0"/>
              <a:t>) </a:t>
            </a:r>
            <a:r>
              <a:rPr lang="ru-RU" u="sng" dirty="0" err="1"/>
              <a:t>Геррит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228" y="1534415"/>
            <a:ext cx="8446952" cy="52793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 err="1"/>
              <a:t>Gerrit</a:t>
            </a:r>
            <a:r>
              <a:rPr lang="ru-RU" dirty="0"/>
              <a:t>-это </a:t>
            </a:r>
            <a:r>
              <a:rPr lang="ru-RU" b="1" dirty="0"/>
              <a:t>бесплатный веб-инструмент для проверки кода</a:t>
            </a:r>
            <a:r>
              <a:rPr lang="ru-RU" dirty="0"/>
              <a:t>, используемый разработчиками программного обеспечения для проверки своего кода в веб-браузере и отклонения или утверждения изменений.</a:t>
            </a:r>
          </a:p>
          <a:p>
            <a:pPr lvl="0"/>
            <a:r>
              <a:rPr lang="ru-RU" dirty="0" err="1"/>
              <a:t>Gerrit</a:t>
            </a:r>
            <a:r>
              <a:rPr lang="ru-RU" dirty="0"/>
              <a:t> может быть интегрирован с </a:t>
            </a:r>
            <a:r>
              <a:rPr lang="ru-RU" dirty="0" err="1"/>
              <a:t>Git</a:t>
            </a:r>
            <a:r>
              <a:rPr lang="ru-RU" dirty="0"/>
              <a:t>, который является распределенной системой управления версиями.</a:t>
            </a:r>
          </a:p>
          <a:p>
            <a:pPr lvl="0"/>
            <a:r>
              <a:rPr lang="ru-RU" dirty="0" err="1"/>
              <a:t>Gerrit</a:t>
            </a:r>
            <a:r>
              <a:rPr lang="ru-RU" dirty="0"/>
              <a:t> обеспечивает управление </a:t>
            </a:r>
            <a:r>
              <a:rPr lang="ru-RU" dirty="0" err="1"/>
              <a:t>репозиторием</a:t>
            </a:r>
            <a:r>
              <a:rPr lang="ru-RU" dirty="0"/>
              <a:t> для </a:t>
            </a:r>
            <a:r>
              <a:rPr lang="ru-RU" dirty="0" err="1"/>
              <a:t>Git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Используя </a:t>
            </a:r>
            <a:r>
              <a:rPr lang="ru-RU" dirty="0" err="1"/>
              <a:t>Gerrit</a:t>
            </a:r>
            <a:r>
              <a:rPr lang="ru-RU" dirty="0"/>
              <a:t>, участники проекта могут использовать рационализированный процесс просмотра кода, а также чрезвычайно настраиваемую иерархию.</a:t>
            </a:r>
          </a:p>
          <a:p>
            <a:pPr lvl="0"/>
            <a:r>
              <a:rPr lang="ru-RU" dirty="0" err="1"/>
              <a:t>Gerrit</a:t>
            </a:r>
            <a:r>
              <a:rPr lang="ru-RU" dirty="0"/>
              <a:t> также используется при обсуждении нескольких подробных сегментов кода и повышении правильности вносимых изменений.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https://www.gerritcodereview.com/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314" y="217904"/>
            <a:ext cx="5184866" cy="92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153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5309" y="461483"/>
            <a:ext cx="3316912" cy="652599"/>
          </a:xfrm>
        </p:spPr>
        <p:txBody>
          <a:bodyPr/>
          <a:lstStyle/>
          <a:p>
            <a:pPr algn="ctr"/>
            <a:r>
              <a:rPr lang="ru-RU" u="sng" dirty="0"/>
              <a:t>6) </a:t>
            </a:r>
            <a:r>
              <a:rPr lang="ru-RU" u="sng" dirty="0" err="1"/>
              <a:t>Codestriker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227" y="1458765"/>
            <a:ext cx="8345077" cy="4355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 err="1"/>
              <a:t>Codestriker</a:t>
            </a:r>
            <a:r>
              <a:rPr lang="ru-RU" dirty="0"/>
              <a:t>-это открытое и бесплатное онлайн-приложение для просмотра кода, которое помогает в совместном просмотре кода.</a:t>
            </a:r>
          </a:p>
          <a:p>
            <a:pPr lvl="0"/>
            <a:r>
              <a:rPr lang="ru-RU" dirty="0"/>
              <a:t>С помощью </a:t>
            </a:r>
            <a:r>
              <a:rPr lang="ru-RU" dirty="0" err="1"/>
              <a:t>Codestriker</a:t>
            </a:r>
            <a:r>
              <a:rPr lang="ru-RU" dirty="0"/>
              <a:t> можно записывать вопросы, комментарии и решения в базу данных, которая в дальнейшем может быть использована для проверок кода.</a:t>
            </a:r>
          </a:p>
          <a:p>
            <a:pPr lvl="0"/>
            <a:r>
              <a:rPr lang="ru-RU" dirty="0" err="1"/>
              <a:t>Codestriker</a:t>
            </a:r>
            <a:r>
              <a:rPr lang="ru-RU" dirty="0"/>
              <a:t> поддерживает традиционный просмотр документов. Его можно интегрировать с </a:t>
            </a:r>
            <a:r>
              <a:rPr lang="ru-RU" dirty="0" err="1"/>
              <a:t>ClearCase</a:t>
            </a:r>
            <a:r>
              <a:rPr lang="ru-RU" dirty="0"/>
              <a:t>, </a:t>
            </a:r>
            <a:r>
              <a:rPr lang="ru-RU" dirty="0" err="1"/>
              <a:t>Bugzilla</a:t>
            </a:r>
            <a:r>
              <a:rPr lang="ru-RU" dirty="0"/>
              <a:t>, CVS, </a:t>
            </a:r>
            <a:r>
              <a:rPr lang="ru-RU" dirty="0" err="1"/>
              <a:t>etc</a:t>
            </a:r>
            <a:r>
              <a:rPr lang="ru-RU" dirty="0"/>
              <a:t>.</a:t>
            </a:r>
          </a:p>
          <a:p>
            <a:pPr lvl="0"/>
            <a:r>
              <a:rPr lang="ru-RU" dirty="0" err="1"/>
              <a:t>Codestriker</a:t>
            </a:r>
            <a:r>
              <a:rPr lang="ru-RU" dirty="0"/>
              <a:t> имеет лицензию под GPL.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http://codestriker.sourceforge.net/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28" y="5624136"/>
            <a:ext cx="3939249" cy="99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773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90583" y="448550"/>
            <a:ext cx="2782074" cy="704358"/>
          </a:xfrm>
        </p:spPr>
        <p:txBody>
          <a:bodyPr/>
          <a:lstStyle/>
          <a:p>
            <a:pPr algn="ctr"/>
            <a:r>
              <a:rPr lang="ru-RU" u="sng" dirty="0"/>
              <a:t>7) </a:t>
            </a:r>
            <a:r>
              <a:rPr lang="ru-RU" u="sng" dirty="0" err="1"/>
              <a:t>Родекод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4177" y="1307010"/>
            <a:ext cx="8027645" cy="5112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 err="1"/>
              <a:t>Rhodecode</a:t>
            </a:r>
            <a:r>
              <a:rPr lang="ru-RU" dirty="0"/>
              <a:t>-это инструмент управления открытым исходным кодом, защищенным и инкорпорированным корпоративным исходным кодом.</a:t>
            </a:r>
          </a:p>
          <a:p>
            <a:pPr lvl="0"/>
            <a:r>
              <a:rPr lang="ru-RU" dirty="0" err="1"/>
              <a:t>Rhodecode</a:t>
            </a:r>
            <a:r>
              <a:rPr lang="ru-RU" dirty="0"/>
              <a:t> служит интегрированным инструментом для </a:t>
            </a:r>
            <a:r>
              <a:rPr lang="ru-RU" dirty="0" err="1"/>
              <a:t>Git</a:t>
            </a:r>
            <a:r>
              <a:rPr lang="ru-RU" dirty="0"/>
              <a:t>, </a:t>
            </a:r>
            <a:r>
              <a:rPr lang="ru-RU" dirty="0" err="1"/>
              <a:t>Subversion</a:t>
            </a:r>
            <a:r>
              <a:rPr lang="ru-RU" dirty="0"/>
              <a:t> и </a:t>
            </a:r>
            <a:r>
              <a:rPr lang="ru-RU" dirty="0" err="1"/>
              <a:t>Mercurial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Основными функциями </a:t>
            </a:r>
            <a:r>
              <a:rPr lang="ru-RU" dirty="0" err="1"/>
              <a:t>Rhodecode</a:t>
            </a:r>
            <a:r>
              <a:rPr lang="ru-RU" dirty="0"/>
              <a:t> являются совместная работа с командой, управление </a:t>
            </a:r>
            <a:r>
              <a:rPr lang="ru-RU" dirty="0" err="1"/>
              <a:t>репозиторием</a:t>
            </a:r>
            <a:r>
              <a:rPr lang="ru-RU" dirty="0"/>
              <a:t> и безопасность и аутентификация кода.</a:t>
            </a:r>
          </a:p>
          <a:p>
            <a:pPr lvl="0"/>
            <a:r>
              <a:rPr lang="ru-RU" dirty="0" err="1"/>
              <a:t>Rhodecode</a:t>
            </a:r>
            <a:r>
              <a:rPr lang="ru-RU" dirty="0"/>
              <a:t> имеет 2 выпуска, </a:t>
            </a:r>
            <a:r>
              <a:rPr lang="ru-RU" dirty="0" err="1"/>
              <a:t>Community</a:t>
            </a:r>
            <a:r>
              <a:rPr lang="ru-RU" dirty="0"/>
              <a:t> </a:t>
            </a:r>
            <a:r>
              <a:rPr lang="ru-RU" dirty="0" err="1"/>
              <a:t>Edition</a:t>
            </a:r>
            <a:r>
              <a:rPr lang="ru-RU" dirty="0"/>
              <a:t> (CE) который является бесплатным и открытым исходным кодом и </a:t>
            </a:r>
            <a:r>
              <a:rPr lang="ru-RU" dirty="0" err="1"/>
              <a:t>Enterprise</a:t>
            </a:r>
            <a:r>
              <a:rPr lang="ru-RU" dirty="0"/>
              <a:t> </a:t>
            </a:r>
            <a:r>
              <a:rPr lang="ru-RU" dirty="0" err="1"/>
              <a:t>Edition</a:t>
            </a:r>
            <a:r>
              <a:rPr lang="ru-RU" dirty="0"/>
              <a:t> (EE) лицензируется на одного пользователя.</a:t>
            </a:r>
          </a:p>
          <a:p>
            <a:pPr lvl="0"/>
            <a:r>
              <a:rPr lang="ru-RU" dirty="0" err="1"/>
              <a:t>Rhodecode</a:t>
            </a:r>
            <a:r>
              <a:rPr lang="ru-RU" dirty="0"/>
              <a:t> автоматизирует рабочие процессы для быстрого выполнения.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https://rhodecode.com/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413" y="5826884"/>
            <a:ext cx="2583772" cy="87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712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99997" y="592287"/>
            <a:ext cx="3489441" cy="756116"/>
          </a:xfrm>
        </p:spPr>
        <p:txBody>
          <a:bodyPr/>
          <a:lstStyle/>
          <a:p>
            <a:r>
              <a:rPr lang="ru-RU" u="sng" dirty="0"/>
              <a:t>8) </a:t>
            </a:r>
            <a:r>
              <a:rPr lang="ru-RU" u="sng" dirty="0" err="1"/>
              <a:t>Phabricator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6551" y="1645663"/>
            <a:ext cx="8096335" cy="3975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/>
              <a:t>Инструмент проверки кода от </a:t>
            </a:r>
            <a:r>
              <a:rPr lang="ru-RU" dirty="0" err="1"/>
              <a:t>Phabricator</a:t>
            </a:r>
            <a:r>
              <a:rPr lang="ru-RU" dirty="0"/>
              <a:t> </a:t>
            </a:r>
            <a:r>
              <a:rPr lang="ru-RU" dirty="0" err="1"/>
              <a:t>suite</a:t>
            </a:r>
            <a:r>
              <a:rPr lang="ru-RU" dirty="0"/>
              <a:t> называется “дифференциальный". Он используется для минимизации усилий, необходимых для создания кода наилучшего качества.</a:t>
            </a:r>
          </a:p>
          <a:p>
            <a:pPr lvl="0"/>
            <a:r>
              <a:rPr lang="ru-RU" dirty="0" err="1"/>
              <a:t>Phabricator</a:t>
            </a:r>
            <a:r>
              <a:rPr lang="ru-RU" dirty="0"/>
              <a:t> имеет два типа рабочих процессов проверки кода, а именно “предварительный толчок”, также называемый “обзором”, и “пост-толчок”, называемый “аудит”.</a:t>
            </a:r>
          </a:p>
          <a:p>
            <a:pPr lvl="0"/>
            <a:r>
              <a:rPr lang="ru-RU" dirty="0" err="1"/>
              <a:t>Phabricator</a:t>
            </a:r>
            <a:r>
              <a:rPr lang="ru-RU" dirty="0"/>
              <a:t> может быть интегрирован с </a:t>
            </a:r>
            <a:r>
              <a:rPr lang="ru-RU" dirty="0" err="1"/>
              <a:t>Git</a:t>
            </a:r>
            <a:r>
              <a:rPr lang="ru-RU" dirty="0"/>
              <a:t>, </a:t>
            </a:r>
            <a:r>
              <a:rPr lang="ru-RU" dirty="0" err="1"/>
              <a:t>Subversion</a:t>
            </a:r>
            <a:r>
              <a:rPr lang="ru-RU" dirty="0"/>
              <a:t> и </a:t>
            </a:r>
            <a:r>
              <a:rPr lang="ru-RU" dirty="0" err="1"/>
              <a:t>Mercurial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https://www.phacility.com/phabricator/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746" y="5621024"/>
            <a:ext cx="3468971" cy="9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5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28092" y="588088"/>
            <a:ext cx="2195478" cy="738864"/>
          </a:xfrm>
        </p:spPr>
        <p:txBody>
          <a:bodyPr/>
          <a:lstStyle/>
          <a:p>
            <a:pPr algn="ctr"/>
            <a:r>
              <a:rPr lang="ru-RU" u="sng" dirty="0"/>
              <a:t>9) Тигель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229" y="1500996"/>
            <a:ext cx="8270462" cy="495156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/>
              <a:t>Тигель гибкое применение которое приспосабливает обширный ряд подходов к работы и размеров команды.</a:t>
            </a:r>
          </a:p>
          <a:p>
            <a:pPr lvl="0"/>
            <a:r>
              <a:rPr lang="ru-RU" dirty="0" err="1"/>
              <a:t>Crucible</a:t>
            </a:r>
            <a:r>
              <a:rPr lang="ru-RU" dirty="0"/>
              <a:t>-это легкий инструмент для проверки </a:t>
            </a:r>
            <a:r>
              <a:rPr lang="ru-RU" dirty="0" err="1"/>
              <a:t>однорангового</a:t>
            </a:r>
            <a:r>
              <a:rPr lang="ru-RU" dirty="0"/>
              <a:t> кода, который используется в обзорах до и после фиксации.</a:t>
            </a:r>
          </a:p>
          <a:p>
            <a:pPr lvl="0"/>
            <a:r>
              <a:rPr lang="ru-RU" dirty="0"/>
              <a:t>Обзор кода стал легким для SVN, </a:t>
            </a:r>
            <a:r>
              <a:rPr lang="ru-RU" dirty="0" err="1"/>
              <a:t>Perforce</a:t>
            </a:r>
            <a:r>
              <a:rPr lang="ru-RU" dirty="0"/>
              <a:t> и CVS и т. д. С помощью </a:t>
            </a:r>
            <a:r>
              <a:rPr lang="ru-RU" dirty="0" err="1"/>
              <a:t>Crucible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https://www.atlassian.com/software/crucible</a:t>
            </a:r>
            <a:r>
              <a:rPr lang="ru-RU" b="1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69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62" y="5207683"/>
            <a:ext cx="3274429" cy="102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324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25788" y="465803"/>
            <a:ext cx="3265154" cy="687105"/>
          </a:xfrm>
        </p:spPr>
        <p:txBody>
          <a:bodyPr/>
          <a:lstStyle/>
          <a:p>
            <a:pPr algn="ctr"/>
            <a:r>
              <a:rPr lang="ru-RU" u="sng" dirty="0"/>
              <a:t>10) </a:t>
            </a:r>
            <a:r>
              <a:rPr lang="ru-RU" u="sng" dirty="0" err="1"/>
              <a:t>Veracode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7844" y="1333619"/>
            <a:ext cx="8494785" cy="4507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 err="1"/>
              <a:t>Veracode</a:t>
            </a:r>
            <a:r>
              <a:rPr lang="ru-RU" dirty="0"/>
              <a:t> используется разработчиками при создании защищенного программного обеспечения путем сканирования двоичного кода или байтового кода вместо исходного кода.</a:t>
            </a:r>
          </a:p>
          <a:p>
            <a:pPr lvl="0"/>
            <a:r>
              <a:rPr lang="ru-RU" dirty="0"/>
              <a:t>С помощью </a:t>
            </a:r>
            <a:r>
              <a:rPr lang="ru-RU" dirty="0" err="1"/>
              <a:t>Veracode</a:t>
            </a:r>
            <a:r>
              <a:rPr lang="ru-RU" dirty="0"/>
              <a:t> можно идентифицировать неправильные зашифрованные функциональные возможности, вредоносный код и </a:t>
            </a:r>
            <a:r>
              <a:rPr lang="ru-RU" dirty="0" err="1"/>
              <a:t>бэкдоры</a:t>
            </a:r>
            <a:r>
              <a:rPr lang="ru-RU" dirty="0"/>
              <a:t> из исходного кода.</a:t>
            </a:r>
          </a:p>
          <a:p>
            <a:pPr lvl="0"/>
            <a:r>
              <a:rPr lang="ru-RU" dirty="0" err="1"/>
              <a:t>Veracode</a:t>
            </a:r>
            <a:r>
              <a:rPr lang="ru-RU" dirty="0"/>
              <a:t> может просмотреть большое количество кода и сразу же возвращает результаты.</a:t>
            </a:r>
          </a:p>
          <a:p>
            <a:pPr lvl="0"/>
            <a:r>
              <a:rPr lang="ru-RU" dirty="0"/>
              <a:t>Для использования </a:t>
            </a:r>
            <a:r>
              <a:rPr lang="ru-RU" dirty="0" err="1"/>
              <a:t>Veracode</a:t>
            </a:r>
            <a:r>
              <a:rPr lang="ru-RU" dirty="0"/>
              <a:t> нет необходимости покупать какое-либо программное или аппаратное обеспечение, вам просто нужно оплатить необходимые службы </a:t>
            </a:r>
            <a:r>
              <a:rPr lang="ru-RU" dirty="0" err="1"/>
              <a:t>analysis</a:t>
            </a:r>
            <a:r>
              <a:rPr lang="ru-RU" dirty="0"/>
              <a:t> </a:t>
            </a:r>
            <a:r>
              <a:rPr lang="ru-RU" dirty="0" err="1"/>
              <a:t>services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https://www.veracode.com/</a:t>
            </a:r>
            <a:r>
              <a:rPr lang="ru-RU" b="1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688" y="5718408"/>
            <a:ext cx="3878314" cy="88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155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4857" y="444868"/>
            <a:ext cx="6077365" cy="685830"/>
          </a:xfrm>
        </p:spPr>
        <p:txBody>
          <a:bodyPr>
            <a:normAutofit fontScale="90000"/>
          </a:bodyPr>
          <a:lstStyle/>
          <a:p>
            <a:r>
              <a:rPr lang="ru-RU" u="sng" dirty="0"/>
              <a:t>11) Наблюдательный Совет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228" y="1239196"/>
            <a:ext cx="8388946" cy="5220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ключевая характеристика:</a:t>
            </a:r>
            <a:endParaRPr lang="ru-RU" dirty="0"/>
          </a:p>
          <a:p>
            <a:pPr lvl="0"/>
            <a:r>
              <a:rPr lang="ru-RU" dirty="0"/>
              <a:t>Используя обзорную доску для обзора кода можно сэкономить деньги и время. Сэкономленное время можно использовать для концентрации на создании отличного программного обеспечения.</a:t>
            </a:r>
          </a:p>
          <a:p>
            <a:pPr lvl="0"/>
            <a:r>
              <a:rPr lang="ru-RU" dirty="0"/>
              <a:t>Обзорная доска может быть интегрирована с </a:t>
            </a:r>
            <a:r>
              <a:rPr lang="ru-RU" dirty="0" err="1"/>
              <a:t>ClearCase</a:t>
            </a:r>
            <a:r>
              <a:rPr lang="ru-RU" dirty="0"/>
              <a:t>, CVS, </a:t>
            </a:r>
            <a:r>
              <a:rPr lang="ru-RU" dirty="0" err="1"/>
              <a:t>Perforce</a:t>
            </a:r>
            <a:r>
              <a:rPr lang="ru-RU" dirty="0"/>
              <a:t>, пластиком и т. д.</a:t>
            </a:r>
          </a:p>
          <a:p>
            <a:pPr lvl="0"/>
            <a:r>
              <a:rPr lang="ru-RU" dirty="0"/>
              <a:t>В коде </a:t>
            </a:r>
            <a:r>
              <a:rPr lang="ru-RU" dirty="0" err="1"/>
              <a:t>review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Review</a:t>
            </a:r>
            <a:r>
              <a:rPr lang="ru-RU" dirty="0"/>
              <a:t> </a:t>
            </a:r>
            <a:r>
              <a:rPr lang="ru-RU" dirty="0" err="1"/>
              <a:t>Board</a:t>
            </a:r>
            <a:r>
              <a:rPr lang="ru-RU" dirty="0"/>
              <a:t> </a:t>
            </a:r>
            <a:r>
              <a:rPr lang="ru-RU" dirty="0" err="1"/>
              <a:t>tool</a:t>
            </a:r>
            <a:r>
              <a:rPr lang="ru-RU" dirty="0"/>
              <a:t>, код является синтаксис выделен, что делает его чтение быстрее.</a:t>
            </a:r>
          </a:p>
          <a:p>
            <a:pPr lvl="0"/>
            <a:r>
              <a:rPr lang="ru-RU" dirty="0"/>
              <a:t>Обзорная доска поддерживает обзоры до фиксации и обзоры после фиксации.</a:t>
            </a:r>
          </a:p>
          <a:p>
            <a:pPr marL="0" indent="0">
              <a:buNone/>
            </a:pPr>
            <a:r>
              <a:rPr lang="ru-RU" b="1" dirty="0"/>
              <a:t>Официальный сайт: </a:t>
            </a:r>
            <a:r>
              <a:rPr lang="ru-RU" b="1" u="sng" dirty="0">
                <a:hlinkClick r:id="rId2"/>
              </a:rPr>
              <a:t>https://www.reviewboard.org/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563" y="5356330"/>
            <a:ext cx="3948611" cy="121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785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5721" y="189782"/>
            <a:ext cx="7677509" cy="96312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ДОПОЛНИТЕЛЬНЫЕ ИНСТРУМЕНТЫ ДЛЯ РАССМОТРЕНИЯ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3968" y="1919266"/>
            <a:ext cx="8319262" cy="3048520"/>
          </a:xfrm>
        </p:spPr>
        <p:txBody>
          <a:bodyPr>
            <a:normAutofit/>
          </a:bodyPr>
          <a:lstStyle/>
          <a:p>
            <a:r>
              <a:rPr lang="ru-RU" sz="2000" b="1" dirty="0"/>
              <a:t>12) бармен  </a:t>
            </a:r>
            <a:r>
              <a:rPr lang="ru-RU" sz="2000" u="sng" dirty="0">
                <a:hlinkClick r:id="rId2"/>
              </a:rPr>
              <a:t>http://getbarkeep.org/</a:t>
            </a:r>
            <a:endParaRPr lang="ru-RU" sz="2000" dirty="0"/>
          </a:p>
          <a:p>
            <a:r>
              <a:rPr lang="en-US" sz="2000" b="1" dirty="0"/>
              <a:t>13) </a:t>
            </a:r>
            <a:r>
              <a:rPr lang="en-US" sz="2000" b="1" dirty="0" err="1"/>
              <a:t>JArchitect</a:t>
            </a:r>
            <a:r>
              <a:rPr lang="en-US" sz="2000" b="1" dirty="0"/>
              <a:t>  </a:t>
            </a:r>
            <a:r>
              <a:rPr lang="en-US" sz="2000" u="sng" dirty="0">
                <a:hlinkClick r:id="rId3"/>
              </a:rPr>
              <a:t>https://www.jarchitect.com/</a:t>
            </a:r>
            <a:endParaRPr lang="ru-RU" sz="2000" dirty="0"/>
          </a:p>
          <a:p>
            <a:r>
              <a:rPr lang="ru-RU" sz="2000" b="1" dirty="0"/>
              <a:t>14) Инструмент Проверки Кода  </a:t>
            </a:r>
            <a:r>
              <a:rPr lang="ru-RU" sz="2000" u="sng" dirty="0">
                <a:hlinkClick r:id="rId4"/>
              </a:rPr>
              <a:t>http://codereviewtool.com/</a:t>
            </a:r>
            <a:r>
              <a:rPr lang="ru-RU" sz="2000" dirty="0"/>
              <a:t> </a:t>
            </a:r>
          </a:p>
          <a:p>
            <a:r>
              <a:rPr lang="ru-RU" sz="2000" b="1" dirty="0"/>
              <a:t>15) рецензируемый  </a:t>
            </a:r>
            <a:r>
              <a:rPr lang="ru-RU" sz="2000" u="sng" dirty="0">
                <a:hlinkClick r:id="rId5"/>
              </a:rPr>
              <a:t>https://reviewable.io/</a:t>
            </a:r>
            <a:r>
              <a:rPr lang="ru-RU" sz="2000" b="1" dirty="0"/>
              <a:t> </a:t>
            </a:r>
            <a:endParaRPr lang="ru-RU" sz="2000" dirty="0"/>
          </a:p>
          <a:p>
            <a:r>
              <a:rPr lang="ru-RU" sz="2000" b="1" dirty="0"/>
              <a:t>16) </a:t>
            </a:r>
            <a:r>
              <a:rPr lang="ru-RU" sz="2000" b="1" dirty="0" err="1"/>
              <a:t>Ритвельд</a:t>
            </a:r>
            <a:r>
              <a:rPr lang="ru-RU" sz="2000" b="1" dirty="0"/>
              <a:t>  </a:t>
            </a:r>
            <a:r>
              <a:rPr lang="ru-RU" sz="2000" u="sng" dirty="0">
                <a:hlinkClick r:id="rId6"/>
              </a:rPr>
              <a:t>https://codereview.appspot.com</a:t>
            </a:r>
            <a:r>
              <a:rPr lang="ru-RU" sz="2000" b="1" u="sng" dirty="0">
                <a:hlinkClick r:id="rId6"/>
              </a:rPr>
              <a:t>/</a:t>
            </a:r>
            <a:r>
              <a:rPr lang="ru-RU" sz="2000" b="1" dirty="0"/>
              <a:t> </a:t>
            </a:r>
            <a:endParaRPr lang="ru-RU" sz="2000" dirty="0"/>
          </a:p>
          <a:p>
            <a:r>
              <a:rPr lang="en-US" sz="2000" b="1" dirty="0"/>
              <a:t>17) </a:t>
            </a:r>
            <a:r>
              <a:rPr lang="ru-RU" sz="2000" b="1" dirty="0"/>
              <a:t>Плагин</a:t>
            </a:r>
            <a:r>
              <a:rPr lang="en-US" sz="2000" b="1" dirty="0"/>
              <a:t> Peer Review </a:t>
            </a:r>
            <a:r>
              <a:rPr lang="ru-RU" sz="2000" b="1" dirty="0"/>
              <a:t/>
            </a:r>
            <a:br>
              <a:rPr lang="ru-RU" sz="2000" b="1" dirty="0"/>
            </a:br>
            <a:r>
              <a:rPr lang="ru-RU" sz="2000" b="1" dirty="0"/>
              <a:t>					</a:t>
            </a:r>
            <a:r>
              <a:rPr lang="en-US" sz="2000" b="1" dirty="0"/>
              <a:t> </a:t>
            </a:r>
            <a:r>
              <a:rPr lang="en-US" sz="2000" u="sng" dirty="0">
                <a:hlinkClick r:id="rId7"/>
              </a:rPr>
              <a:t>https://trac-hacks.org/wiki/PeerReviewPlugin</a:t>
            </a:r>
            <a:r>
              <a:rPr lang="en-US" sz="2000" b="1" dirty="0"/>
              <a:t> 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6327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0600" y="2514601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Лекция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23722" y="3429000"/>
            <a:ext cx="7798525" cy="1097280"/>
          </a:xfrm>
        </p:spPr>
        <p:txBody>
          <a:bodyPr>
            <a:noAutofit/>
          </a:bodyPr>
          <a:lstStyle/>
          <a:p>
            <a:pPr algn="ctr">
              <a:lnSpc>
                <a:spcPct val="114000"/>
              </a:lnSpc>
            </a:pPr>
            <a:r>
              <a:rPr lang="ru-RU" sz="4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Предпроцессинг</a:t>
            </a:r>
            <a:r>
              <a:rPr lang="ru-RU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кода </a:t>
            </a:r>
            <a:endParaRPr lang="ru-RU" sz="5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73</a:t>
            </a:fld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6B3A4A-9361-4041-BAAA-0B9E5DF1A7E6}"/>
              </a:ext>
            </a:extLst>
          </p:cNvPr>
          <p:cNvSpPr txBox="1">
            <a:spLocks/>
          </p:cNvSpPr>
          <p:nvPr/>
        </p:nvSpPr>
        <p:spPr>
          <a:xfrm>
            <a:off x="1723365" y="5114139"/>
            <a:ext cx="6599238" cy="1127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2, п.2.2</a:t>
            </a:r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0732657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476102" y="339403"/>
            <a:ext cx="7458891" cy="103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Bef>
                <a:spcPts val="200"/>
              </a:spcBef>
              <a:spcAft>
                <a:spcPts val="0"/>
              </a:spcAft>
            </a:pPr>
            <a:r>
              <a:rPr lang="ru-RU" sz="3200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Предпроцессинг</a:t>
            </a:r>
            <a:r>
              <a:rPr lang="en-US" sz="24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800" b="1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препроцессинг</a:t>
            </a:r>
            <a:r>
              <a:rPr lang="ru-RU" sz="28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8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</a:rPr>
              <a:t>с</a:t>
            </a:r>
            <a:r>
              <a:rPr lang="ru-RU" sz="2400" dirty="0">
                <a:latin typeface="Arial" panose="020B0604020202020204" pitchFamily="34" charset="0"/>
                <a:ea typeface="Calibri" panose="020F0502020204030204" pitchFamily="34" charset="0"/>
              </a:rPr>
              <a:t>амая первая стадия компиляции программы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03717" y="1630338"/>
            <a:ext cx="8131276" cy="4687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14000"/>
              </a:lnSpc>
              <a:spcAft>
                <a:spcPts val="0"/>
              </a:spcAft>
            </a:pPr>
            <a:r>
              <a:rPr lang="ru-RU" sz="2400" b="1" i="1" u="sng" dirty="0">
                <a:latin typeface="Arial" panose="020B0604020202020204" pitchFamily="34" charset="0"/>
                <a:ea typeface="Times New Roman" panose="02020603050405020304" pitchFamily="18" charset="0"/>
              </a:rPr>
              <a:t>Препроцессор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</a:rPr>
              <a:t> — это специальная программа, являющаяся частью компилятора языка Си. Она предназначена для предварительной обработки текста программы. Препроцессор позволяет включать в текст программы файлы и вводить макроопределения.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endParaRPr lang="ru-RU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lnSpc>
                <a:spcPct val="114000"/>
              </a:lnSpc>
            </a:pPr>
            <a:r>
              <a:rPr lang="ru-RU" sz="2400" dirty="0">
                <a:latin typeface="Arial" panose="020B0604020202020204" pitchFamily="34" charset="0"/>
                <a:ea typeface="Calibri" panose="020F0502020204030204" pitchFamily="34" charset="0"/>
              </a:rPr>
              <a:t>Работа препроцессора осуществляется с помощью специальных директив (указаний). Они отмечаются знаком решетка #. По окончании строк, обозначающих директивы в языке Си, точку с запятой можно не ставить.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530826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815737" y="264563"/>
            <a:ext cx="74719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Основные функции препроцессора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бъект 9"/>
          <p:cNvSpPr>
            <a:spLocks noGrp="1"/>
          </p:cNvSpPr>
          <p:nvPr>
            <p:ph idx="1"/>
          </p:nvPr>
        </p:nvSpPr>
        <p:spPr>
          <a:xfrm>
            <a:off x="511228" y="1401103"/>
            <a:ext cx="8632772" cy="5233851"/>
          </a:xfrm>
          <a:solidFill>
            <a:srgbClr val="FFFFFF">
              <a:alpha val="90000"/>
            </a:srgb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замена соответствующих диграфов и 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триграфов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 эквивалентные символы «#» и «\»;</a:t>
            </a:r>
          </a:p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удаление экранированных символов перевода строки;</a:t>
            </a:r>
          </a:p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замена строчных и блочных комментариев пустыми строками (с удалением окружающих пробелов и символов табуляции);</a:t>
            </a:r>
          </a:p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вставка (включение) содержимого произвольного файла (#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макроподстановки (#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Условная компиляция (#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ifdef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endif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 сообщений (#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warning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#</a:t>
            </a:r>
            <a:r>
              <a:rPr lang="ru-RU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ru-RU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1310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8001" y="467560"/>
            <a:ext cx="7315200" cy="1005570"/>
          </a:xfrm>
        </p:spPr>
        <p:txBody>
          <a:bodyPr>
            <a:noAutofit/>
          </a:bodyPr>
          <a:lstStyle/>
          <a:p>
            <a:r>
              <a:rPr lang="ru-RU" altLang="ru-RU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Условная компиляция позволяет выбрать код для компиляции в зависимости от: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76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496301" y="1833153"/>
            <a:ext cx="7266900" cy="4175762"/>
          </a:xfrm>
          <a:solidFill>
            <a:srgbClr val="FFFFFF">
              <a:alpha val="90000"/>
            </a:srgb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модели процессора (платформы);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разрядности адресов;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размерности типов;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наличия/отсутствия поддержки расширений языка;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наличия/отсутствия библиотек и/или функций;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особенностей поведения конкретных функций;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другого.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0600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9230" y="570474"/>
            <a:ext cx="6898353" cy="799741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Этапы работы препроцессора: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6206" y="1611085"/>
            <a:ext cx="7812663" cy="3940629"/>
          </a:xfrm>
          <a:solidFill>
            <a:srgbClr val="FFFFFF">
              <a:alpha val="90000"/>
            </a:srgb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лексический анализ кода (синтаксический анализ не выполняется);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обработка директив;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выполнение подстановок: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диграфов 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триграфов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комментариев;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директив;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лексем, заданных директивами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4661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63592" y="305999"/>
            <a:ext cx="7279961" cy="169381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400" u="sng" dirty="0">
                <a:latin typeface="Arial" panose="020B0604020202020204" pitchFamily="34" charset="0"/>
                <a:cs typeface="Arial" panose="020B0604020202020204" pitchFamily="34" charset="0"/>
              </a:rPr>
              <a:t>Директивой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(командной строкой) препроцессора называется строка в исходном коде, имеющая следующий формат</a:t>
            </a:r>
            <a:r>
              <a:rPr lang="ru-RU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#</a:t>
            </a:r>
            <a:r>
              <a:rPr lang="ru-RU"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ключевое_слово</a:t>
            </a:r>
            <a:r>
              <a:rPr lang="ru-RU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параметры:</a:t>
            </a:r>
          </a:p>
          <a:p>
            <a:pPr marL="0" indent="0"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78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402280" y="2299063"/>
            <a:ext cx="7602583" cy="4167051"/>
          </a:xfrm>
          <a:prstGeom prst="rect">
            <a:avLst/>
          </a:prstGeom>
          <a:solidFill>
            <a:srgbClr val="FFFFFF">
              <a:alpha val="90000"/>
            </a:srgbClr>
          </a:solidFill>
          <a:effectLst>
            <a:softEdge rad="63500"/>
          </a:effectLst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символ #;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ноль или более символов пробелов и/или табуляции;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 из предопределённых ключевых слов;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параметры, зависимые от ключевого слова</a:t>
            </a:r>
          </a:p>
          <a:p>
            <a:pPr>
              <a:spcBef>
                <a:spcPts val="1000"/>
              </a:spcBef>
              <a:buClr>
                <a:schemeClr val="accent1"/>
              </a:buClr>
            </a:pP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ключевое слово не указано, директива игнорируется;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указано несуществующее ключевое слово, выводится сообщение об ошибке и компиляция прерывается</a:t>
            </a:r>
          </a:p>
        </p:txBody>
      </p:sp>
    </p:spTree>
    <p:extLst>
      <p:ext uri="{BB962C8B-B14F-4D97-AF65-F5344CB8AC3E}">
        <p14:creationId xmlns:p14="http://schemas.microsoft.com/office/powerpoint/2010/main" val="9745786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1970" y="314295"/>
            <a:ext cx="6589199" cy="656050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Список ключевых слов: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5394" y="1306286"/>
            <a:ext cx="8255726" cy="5342709"/>
          </a:xfrm>
          <a:solidFill>
            <a:srgbClr val="FFFFFF">
              <a:alpha val="90000"/>
            </a:srgbClr>
          </a:solidFill>
          <a:effectLst>
            <a:softEdge rad="63500"/>
          </a:effectLst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создание константы или макроса;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undef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удаление константы или макроса;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вставка содержимого указанного файла;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проверка истинности выражения;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ifdef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проверка существования константы или макроса;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ifndef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проверка не существования константы или макроса;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ветка условной компиляции при ложности выражения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проверка истинности другого выражения; краткая форма записи для комбинации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endif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конец ветки условной компиляции;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указание имени файла и номера текущей строки для компилятора;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вывод сообщения и остановка компиляции;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warning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вывод сообщения без остановки компиляции;</a:t>
            </a:r>
          </a:p>
          <a:p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pragma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указание действия, зависящего от реализации, для препроцессора или компилятора;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2311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0600" y="2514601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90600" y="2919548"/>
            <a:ext cx="7798525" cy="1018903"/>
          </a:xfrm>
        </p:spPr>
        <p:txBody>
          <a:bodyPr>
            <a:noAutofit/>
          </a:bodyPr>
          <a:lstStyle/>
          <a:p>
            <a:pPr algn="ctr">
              <a:lnSpc>
                <a:spcPct val="114000"/>
              </a:lnSpc>
            </a:pPr>
            <a:r>
              <a:rPr lang="ru-RU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Интеграция в IDE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80</a:t>
            </a:fld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ECC537E-E9E3-4E3A-A0CC-C1038F08DB88}"/>
              </a:ext>
            </a:extLst>
          </p:cNvPr>
          <p:cNvSpPr txBox="1">
            <a:spLocks/>
          </p:cNvSpPr>
          <p:nvPr/>
        </p:nvSpPr>
        <p:spPr>
          <a:xfrm>
            <a:off x="1723365" y="5114139"/>
            <a:ext cx="6599238" cy="1127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Е.В. </a:t>
            </a:r>
            <a:r>
              <a:rPr lang="ru-RU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Поколодина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Н.А. Долгова, Д.В Ананьев </a:t>
            </a:r>
            <a:b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«Ревьюирование программных модулей», глава 2, п.2.2</a:t>
            </a:r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428145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19349" y="512462"/>
            <a:ext cx="7498080" cy="2635687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Интегри́рованная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среда́ </a:t>
            </a:r>
            <a:r>
              <a:rPr 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разрабо́тки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ИСP</a:t>
            </a:r>
            <a:b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(англ.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IDE), </a:t>
            </a:r>
            <a:b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Единая среда разработки, ЕСР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это комплекс программных средств, используемый программистами для разработки программного обеспечения (ПО).</a:t>
            </a:r>
            <a:b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19349" y="3296194"/>
            <a:ext cx="7498080" cy="3261359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sz="24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Среда разработки включает в себя:</a:t>
            </a:r>
          </a:p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текстовый редактор,</a:t>
            </a:r>
          </a:p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транслятор (компилятор и/или интерпретатор),</a:t>
            </a:r>
          </a:p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средства автоматизации сборки,</a:t>
            </a:r>
          </a:p>
          <a:p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отладчик</a:t>
            </a:r>
          </a:p>
          <a:p>
            <a:endParaRPr 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5030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0600" y="2514601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Лекция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ru-R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08312" y="3187337"/>
            <a:ext cx="7798525" cy="2007775"/>
          </a:xfrm>
        </p:spPr>
        <p:txBody>
          <a:bodyPr>
            <a:noAutofit/>
          </a:bodyPr>
          <a:lstStyle/>
          <a:p>
            <a:pPr algn="ctr">
              <a:lnSpc>
                <a:spcPct val="114000"/>
              </a:lnSpc>
            </a:pPr>
            <a:r>
              <a:rPr lang="ru-RU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кода системы средствами </a:t>
            </a:r>
            <a:r>
              <a:rPr lang="ru-RU" sz="4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ru-RU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1258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92777" y="1152907"/>
            <a:ext cx="7897223" cy="496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8000" algn="just">
              <a:lnSpc>
                <a:spcPct val="11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Процессы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и аналогах построены вокруг вносимых изменений, а в нашем случае комментарии нужно дать к состоянию всего кода системы на момент комментирования.</a:t>
            </a:r>
          </a:p>
          <a:p>
            <a:pPr indent="468000" algn="just">
              <a:lnSpc>
                <a:spcPct val="114000"/>
              </a:lnSpc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68000" algn="just">
              <a:lnSpc>
                <a:spcPct val="114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Как это сделать средствами самого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 зафиксировать состояние в ветке для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затем в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к этой ветке оставить свои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5540367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84</a:t>
            </a:fld>
            <a:endParaRPr lang="ru-RU"/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370517" y="2294047"/>
            <a:ext cx="8394659" cy="445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4000"/>
              </a:lnSpc>
              <a:buFont typeface="Wingdings 3" charset="2"/>
              <a:buNone/>
            </a:pPr>
            <a:endParaRPr lang="ru-RU" sz="2000" dirty="0"/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370516" y="2414436"/>
            <a:ext cx="8394659" cy="4195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4000"/>
              </a:lnSpc>
              <a:buFont typeface="Wingdings 3" charset="2"/>
              <a:buNone/>
            </a:pPr>
            <a:endParaRPr lang="ru-RU" sz="2000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770709" y="1371599"/>
            <a:ext cx="7994466" cy="5107577"/>
          </a:xfrm>
          <a:solidFill>
            <a:schemeClr val="bg1">
              <a:alpha val="90000"/>
            </a:scheme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Представьте ситуацию: вам передают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репозиторий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 кодом и просят вынести свое мнение о нем. Обычно в подобных случаях замечания составляются в отдельном документе/таске/страничке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конфлюенс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Confluence</a:t>
            </a:r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 - место для совместной работы команды и обмена знаниями, для создания и обсуждения Ваших файлов, идей, набросков, спецификаций, макетов, диаграмм и проектов)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т.п., что не очень удобно так как:</a:t>
            </a:r>
          </a:p>
          <a:p>
            <a:pPr marL="457200" lvl="0" indent="-457200" algn="just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Замечания могут устареть уже в процессе написания, так как разработка может продолжаться.</a:t>
            </a:r>
          </a:p>
          <a:p>
            <a:pPr marL="457200" lvl="0" indent="-457200" algn="just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Сложно ссылаться на отдельные участки кода, так как приходится постоянно переключаться между документом и кодом.</a:t>
            </a:r>
          </a:p>
          <a:p>
            <a:pPr marL="457200" lvl="0" indent="-457200" algn="just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отрыве от кода документ затеряется с довольно высокой вероятностью.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58656" y="596922"/>
            <a:ext cx="3067699" cy="555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sz="16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5157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85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74320" y="1270474"/>
            <a:ext cx="8745934" cy="5469960"/>
          </a:xfrm>
          <a:solidFill>
            <a:schemeClr val="bg1">
              <a:alpha val="90000"/>
            </a:scheme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marL="0" indent="45720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Итак, нам нужно проделать следующее: зафиксировать состояние в ветке для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затем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к этой ветке оставить свои замечания.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 примере подготовленного для заметки репозитория 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https://github.com/oktend/system-review-example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проделаем эти шаги:</a:t>
            </a:r>
          </a:p>
          <a:p>
            <a:pPr lvl="0" indent="457200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Найдем состояние в репозитории для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(на момент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это был последний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коммит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dev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https://github.com/oktend/system-review-example/commit/0514531a35edf19e7032eb49f45a98d019f83efe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Ветвим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от выбранного состояния ветку для нашего системного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например "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system-review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/1march2020-goodman":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https://github.com/oktend/system-review-example/tree/system-review/1march2020-goodman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lnSpc>
                <a:spcPct val="114000"/>
              </a:lnSpc>
              <a:spcBef>
                <a:spcPts val="0"/>
              </a:spcBef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31571" y="607181"/>
            <a:ext cx="5231432" cy="5457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2800" u="sng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ревью</a:t>
            </a:r>
            <a:r>
              <a:rPr lang="ru-RU" sz="28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кода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254750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86</a:t>
            </a:fld>
            <a:endParaRPr lang="ru-RU"/>
          </a:p>
        </p:txBody>
      </p:sp>
      <p:sp>
        <p:nvSpPr>
          <p:cNvPr id="5" name="Объект 1"/>
          <p:cNvSpPr>
            <a:spLocks noGrp="1"/>
          </p:cNvSpPr>
          <p:nvPr>
            <p:ph idx="1"/>
          </p:nvPr>
        </p:nvSpPr>
        <p:spPr>
          <a:xfrm>
            <a:off x="511228" y="1583983"/>
            <a:ext cx="8489081" cy="4176738"/>
          </a:xfrm>
          <a:solidFill>
            <a:schemeClr val="bg1"/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lvl="0" indent="457200">
              <a:lnSpc>
                <a:spcPct val="114000"/>
              </a:lnSpc>
              <a:spcBef>
                <a:spcPts val="0"/>
              </a:spcBef>
              <a:buAutoNum type="arabicPeriod" startAt="4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Создаем от вновь созданной ветки еще одну ветку, в которой будем собирать замечания, например "1march2020-goodman-issues":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https://github.com/oktend/system-review-example/tree/system-review/1march2020-goodman-issues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>
              <a:lnSpc>
                <a:spcPct val="114000"/>
              </a:lnSpc>
              <a:spcBef>
                <a:spcPts val="0"/>
              </a:spcBef>
              <a:buAutoNum type="arabicPeriod" startAt="4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Вносим в эту ветку удобным нам способом наши замечания, как прямо в код, так и в отдельные документы.</a:t>
            </a:r>
          </a:p>
          <a:p>
            <a:pPr lvl="0" indent="457200">
              <a:lnSpc>
                <a:spcPct val="114000"/>
              </a:lnSpc>
              <a:spcBef>
                <a:spcPts val="0"/>
              </a:spcBef>
              <a:buAutoNum type="arabicPeriod" startAt="4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Создаем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(может называться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pull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 к ветке для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"system-review/1march2020-goodman-issues" -&gt; "system-review/1march2020-goodman":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https://github.com/oktend/system-review-example/pull/1/files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lnSpc>
                <a:spcPct val="114000"/>
              </a:lnSpc>
              <a:spcBef>
                <a:spcPts val="0"/>
              </a:spcBef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980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3717" y="199930"/>
            <a:ext cx="7908960" cy="545727"/>
          </a:xfr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Теперь наши ветки выглядят примерно так: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87</a:t>
            </a:fld>
            <a:endParaRPr lang="ru-RU"/>
          </a:p>
        </p:txBody>
      </p:sp>
      <p:pic>
        <p:nvPicPr>
          <p:cNvPr id="5" name="Объект 4" descr="image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206" y="804857"/>
            <a:ext cx="4572001" cy="53738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1279086" y="6351352"/>
            <a:ext cx="75397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https://github.com/oktend/system-review-example/network</a:t>
            </a:r>
            <a:endParaRPr lang="ru-R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9844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78996" y="493856"/>
            <a:ext cx="2275688" cy="587853"/>
          </a:xfr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88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0004" y="1323701"/>
            <a:ext cx="8311927" cy="5273041"/>
          </a:xfrm>
          <a:solidFill>
            <a:schemeClr val="bg1">
              <a:alpha val="90000"/>
            </a:scheme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marL="0" indent="45720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созданном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можно увидеть все собранные в ходе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замечания, даже обсудить их.</a:t>
            </a:r>
          </a:p>
          <a:p>
            <a:pPr marL="0" indent="45720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Состояние, для которого были выдвинуты замечания будет зафиксировано пока ветку явно не удалят.</a:t>
            </a:r>
          </a:p>
          <a:p>
            <a:pPr marL="0" indent="45720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Замечания можно делать как в отрыве от кода: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https://github.com/oktend/system-review-example/blob/c80b03710059b235347ec781bf08dca9c0e68f7d/review-1march2020-goodman.md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так и в контексте кода: 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https://github.com/oktend/system-review-example/blob/c80b03710059b235347ec781bf08dca9c0e68f7d/foo.js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Замечания можно просматривать в веб-интерфейсе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(или аналогов), в IDE, или средствами самого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45720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можно будет вернуться в будущем сохранив замечания и контекст, в котором они были выдвинуты.</a:t>
            </a:r>
          </a:p>
          <a:p>
            <a:pPr marL="0" indent="457200" algn="just">
              <a:lnSpc>
                <a:spcPct val="114000"/>
              </a:lnSpc>
              <a:spcBef>
                <a:spcPts val="0"/>
              </a:spcBef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777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0600" y="2514601"/>
            <a:ext cx="7552267" cy="78104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Лекция </a:t>
            </a:r>
            <a:r>
              <a:rPr lang="en-US" sz="40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ru-RU" sz="40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3334" y="3187337"/>
            <a:ext cx="8720666" cy="2007775"/>
          </a:xfrm>
        </p:spPr>
        <p:txBody>
          <a:bodyPr>
            <a:noAutofit/>
          </a:bodyPr>
          <a:lstStyle/>
          <a:p>
            <a:pPr algn="ctr">
              <a:lnSpc>
                <a:spcPct val="114000"/>
              </a:lnSpc>
            </a:pPr>
            <a:r>
              <a:rPr lang="ru-RU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 правильно делать </a:t>
            </a:r>
            <a:br>
              <a:rPr lang="ru-RU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код-</a:t>
            </a:r>
            <a:r>
              <a:rPr lang="ru-RU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endParaRPr lang="ru-RU" sz="4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82904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90</a:t>
            </a:fld>
            <a:endParaRPr lang="ru-RU"/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370517" y="2294047"/>
            <a:ext cx="8394659" cy="445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4000"/>
              </a:lnSpc>
              <a:buFont typeface="Wingdings 3" charset="2"/>
              <a:buNone/>
            </a:pPr>
            <a:endParaRPr lang="ru-RU" sz="2000" dirty="0"/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370516" y="2414436"/>
            <a:ext cx="8394659" cy="4195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4000"/>
              </a:lnSpc>
              <a:buFont typeface="Wingdings 3" charset="2"/>
              <a:buNone/>
            </a:pPr>
            <a:endParaRPr lang="ru-RU" sz="2000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801600" y="1807028"/>
            <a:ext cx="6591985" cy="3777622"/>
          </a:xfrm>
          <a:solidFill>
            <a:schemeClr val="bg1">
              <a:alpha val="90000"/>
            </a:schemeClr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 «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changelist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» — список изменений кода, отправленный в систему контроля версий на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Аналоги: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 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Pull Request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GitHub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MR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 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Merge Request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GitLab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39607" y="568133"/>
            <a:ext cx="32338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Терминология:</a:t>
            </a:r>
          </a:p>
        </p:txBody>
      </p:sp>
    </p:spTree>
    <p:extLst>
      <p:ext uri="{BB962C8B-B14F-4D97-AF65-F5344CB8AC3E}">
        <p14:creationId xmlns:p14="http://schemas.microsoft.com/office/powerpoint/2010/main" val="35799494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91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464930" y="2081348"/>
            <a:ext cx="5163779" cy="27910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1.1.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Менторство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1.2. Принципы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1.3. Разрешение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конфиликтов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046064" y="742026"/>
            <a:ext cx="4715971" cy="555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u="sng" kern="1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Стандарты код-</a:t>
            </a:r>
            <a:r>
              <a:rPr lang="ru-RU" sz="2800" u="sng" kern="18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ревью</a:t>
            </a:r>
            <a:endParaRPr lang="ru-RU" sz="16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8860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6493" y="624110"/>
            <a:ext cx="7066615" cy="587853"/>
          </a:xfr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800" u="sng" kern="1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На что обращать внимание в </a:t>
            </a:r>
            <a:r>
              <a:rPr lang="ru-RU" sz="2800" u="sng" kern="18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ревью</a:t>
            </a:r>
            <a:endParaRPr lang="ru-RU" sz="2800" u="sng" kern="18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43752" y="1310641"/>
            <a:ext cx="5033151" cy="52469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2.1. Дизайн (структура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2.2. Функциональность)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2.3. Сложность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2.4. Тесты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2.5. Наименования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2.6. Комментарии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2.7. Стиль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2.8. Документация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2.9. Каждая строчка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2.10. Контекст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2.11. Позитивные моменты</a:t>
            </a:r>
          </a:p>
          <a:p>
            <a:pPr marL="0" indent="0"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9494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5392" y="129141"/>
            <a:ext cx="2897761" cy="65864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pPr indent="450215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3200" u="sng" kern="1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Итоги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7AB0-02D9-49A6-B001-207702543727}" type="slidenum">
              <a:rPr lang="ru-RU" smtClean="0"/>
              <a:t>93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096206" y="787782"/>
            <a:ext cx="7812663" cy="6070217"/>
          </a:xfrm>
          <a:solidFill>
            <a:schemeClr val="bg1">
              <a:alpha val="90000"/>
            </a:schemeClr>
          </a:solidFill>
          <a:effectLst>
            <a:softEdge rad="63500"/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	Самое важное при проведении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ревью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Код хорошо спроектирован,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Функционал работает правильно,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Изменения в пользовательском интерфейсе требуют особого внимания: помимо чистоты кода необходимо убедиться в том, что для пользователя изменения выглядят как задумано,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Параллельно выполняемый код исполняется безопасно,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Код не переусложнен,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Нет надуманного и ненужного на данный момент функционала,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На код написаны тесты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Тесты хорошо спроектированы,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Использованы корректные имена для файлов, классов, методов, переменных и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тд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Оставлены понятные и нужные комментарии, по большей части поясняющие причины решений, а не суть (суть должна быть понятна из самого кода),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Код задокументирован (g3doc),</a:t>
            </a:r>
          </a:p>
          <a:p>
            <a:pPr lvl="0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Код соответствует нашим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стайл-гайдам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065784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1386</TotalTime>
  <Words>5194</Words>
  <Application>Microsoft Office PowerPoint</Application>
  <PresentationFormat>Экран (4:3)</PresentationFormat>
  <Paragraphs>658</Paragraphs>
  <Slides>93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93</vt:i4>
      </vt:variant>
    </vt:vector>
  </HeadingPairs>
  <TitlesOfParts>
    <vt:vector size="102" baseType="lpstr">
      <vt:lpstr>Arial</vt:lpstr>
      <vt:lpstr>Calibri</vt:lpstr>
      <vt:lpstr>Calibri Light</vt:lpstr>
      <vt:lpstr>Century Gothic</vt:lpstr>
      <vt:lpstr>Symbol</vt:lpstr>
      <vt:lpstr>Times New Roman</vt:lpstr>
      <vt:lpstr>Wingdings</vt:lpstr>
      <vt:lpstr>Wingdings 3</vt:lpstr>
      <vt:lpstr>Легкий дым</vt:lpstr>
      <vt:lpstr>Лекция 1. </vt:lpstr>
      <vt:lpstr>Методы организации работы в команде разработчиков</vt:lpstr>
      <vt:lpstr>Презентация PowerPoint</vt:lpstr>
      <vt:lpstr>При использовании Visual Studio Team System решаются следующие задачи: </vt:lpstr>
      <vt:lpstr>Ролевые кластеры модели проектной группы MSF (Microsoft Solution Framework )</vt:lpstr>
      <vt:lpstr>Основные роли ИТ-проекта:  </vt:lpstr>
      <vt:lpstr>Презентация PowerPoint</vt:lpstr>
      <vt:lpstr>Принципы объединения ролей</vt:lpstr>
      <vt:lpstr>Презентация PowerPoint</vt:lpstr>
      <vt:lpstr>Презентация PowerPoint</vt:lpstr>
      <vt:lpstr>Системы контроля версий</vt:lpstr>
      <vt:lpstr>Системы контроля версий</vt:lpstr>
      <vt:lpstr>Системы контроля версий</vt:lpstr>
      <vt:lpstr>Типы систем контроля версий</vt:lpstr>
      <vt:lpstr>Локальные системы контроля версий</vt:lpstr>
      <vt:lpstr>Достоинства и недостатки</vt:lpstr>
      <vt:lpstr>Централизованные системы контроля версий</vt:lpstr>
      <vt:lpstr>Достоинства и недостатки</vt:lpstr>
      <vt:lpstr>Децентрализованные системы контроля версий</vt:lpstr>
      <vt:lpstr>Достоинства и недостатки</vt:lpstr>
      <vt:lpstr>Современные системы контроля версий </vt:lpstr>
      <vt:lpstr>Лекция 2. </vt:lpstr>
      <vt:lpstr>Презентация PowerPoint</vt:lpstr>
      <vt:lpstr>Презентация PowerPoint</vt:lpstr>
      <vt:lpstr>Пример критериев сравнения ПП</vt:lpstr>
      <vt:lpstr>Презентация PowerPoint</vt:lpstr>
      <vt:lpstr> </vt:lpstr>
      <vt:lpstr>Сравнительный подход</vt:lpstr>
      <vt:lpstr>Доходный подход</vt:lpstr>
      <vt:lpstr>Затратный подход</vt:lpstr>
      <vt:lpstr>Влияющие на стоимость ПО факторы</vt:lpstr>
      <vt:lpstr>Лекция 3. Цели, задачи, этапы, объекты и планирование ревьюирования</vt:lpstr>
      <vt:lpstr>Презентация PowerPoint</vt:lpstr>
      <vt:lpstr>Задачи и цели проведения инспекций программного кода </vt:lpstr>
      <vt:lpstr>Презентация PowerPoint</vt:lpstr>
      <vt:lpstr>Формальная инспекция кода</vt:lpstr>
      <vt:lpstr>Неформальная инспекция кода </vt:lpstr>
      <vt:lpstr>Чтение кода</vt:lpstr>
      <vt:lpstr>Парное программирование</vt:lpstr>
      <vt:lpstr>Формальная инспекция кода </vt:lpstr>
      <vt:lpstr>Формальная инспекция кода </vt:lpstr>
      <vt:lpstr>Формальная инспекция кода </vt:lpstr>
      <vt:lpstr>Формальная инспекция кода </vt:lpstr>
      <vt:lpstr>Формальная инспекция кода </vt:lpstr>
      <vt:lpstr>Формальная инспекция кода </vt:lpstr>
      <vt:lpstr>Исследования программного кода</vt:lpstr>
      <vt:lpstr>Методы анализа программного кода</vt:lpstr>
      <vt:lpstr>Статический анализ  (статистические анализаторы)</vt:lpstr>
      <vt:lpstr>Презентация PowerPoint</vt:lpstr>
      <vt:lpstr>Динамический анализ</vt:lpstr>
      <vt:lpstr>Презентация PowerPoint</vt:lpstr>
      <vt:lpstr>Методы исследования кода</vt:lpstr>
      <vt:lpstr>Механизмы и контроль внесения изменений в код</vt:lpstr>
      <vt:lpstr>Презентация PowerPoint</vt:lpstr>
      <vt:lpstr>Презентация PowerPoint</vt:lpstr>
      <vt:lpstr>Презентация PowerPoint</vt:lpstr>
      <vt:lpstr>Механизм ветвления проекта в СКВ</vt:lpstr>
      <vt:lpstr>Лекция 5. </vt:lpstr>
      <vt:lpstr>Презентация PowerPoint</vt:lpstr>
      <vt:lpstr>Презентация PowerPoint</vt:lpstr>
      <vt:lpstr>1) коллаборационист</vt:lpstr>
      <vt:lpstr>2) CodeScene</vt:lpstr>
      <vt:lpstr>3) Визуальный Эксперт</vt:lpstr>
      <vt:lpstr>4) Codebrag</vt:lpstr>
      <vt:lpstr>5) Геррит</vt:lpstr>
      <vt:lpstr>6) Codestriker</vt:lpstr>
      <vt:lpstr>7) Родекод</vt:lpstr>
      <vt:lpstr>8) Phabricator</vt:lpstr>
      <vt:lpstr>9) Тигель</vt:lpstr>
      <vt:lpstr>10) Veracode</vt:lpstr>
      <vt:lpstr>11) Наблюдательный Совет</vt:lpstr>
      <vt:lpstr>ДОПОЛНИТЕЛЬНЫЕ ИНСТРУМЕНТЫ ДЛЯ РАССМОТРЕНИЯ </vt:lpstr>
      <vt:lpstr>Лекция 6. </vt:lpstr>
      <vt:lpstr>Презентация PowerPoint</vt:lpstr>
      <vt:lpstr>Презентация PowerPoint</vt:lpstr>
      <vt:lpstr>Условная компиляция позволяет выбрать код для компиляции в зависимости от:</vt:lpstr>
      <vt:lpstr>Этапы работы препроцессора: </vt:lpstr>
      <vt:lpstr>Презентация PowerPoint</vt:lpstr>
      <vt:lpstr>Список ключевых слов:</vt:lpstr>
      <vt:lpstr> </vt:lpstr>
      <vt:lpstr>Интегри́рованная среда́ разрабо́тки, ИСP (англ. Integrated development environment — IDE),  Единая среда разработки, ЕСР — это комплекс программных средств, используемый программистами для разработки программного обеспечения (ПО). </vt:lpstr>
      <vt:lpstr>Лекция 7. </vt:lpstr>
      <vt:lpstr>Презентация PowerPoint</vt:lpstr>
      <vt:lpstr>Презентация PowerPoint</vt:lpstr>
      <vt:lpstr>Презентация PowerPoint</vt:lpstr>
      <vt:lpstr>Презентация PowerPoint</vt:lpstr>
      <vt:lpstr>Теперь наши ветки выглядят примерно так:</vt:lpstr>
      <vt:lpstr>Результат</vt:lpstr>
      <vt:lpstr>Лекция 8. </vt:lpstr>
      <vt:lpstr>Презентация PowerPoint</vt:lpstr>
      <vt:lpstr>Презентация PowerPoint</vt:lpstr>
      <vt:lpstr>2. На что обращать внимание в ревью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Системы контроля версий</dc:title>
  <dc:creator>Гость</dc:creator>
  <cp:lastModifiedBy>Татьяна Валерьевна Долдина</cp:lastModifiedBy>
  <cp:revision>124</cp:revision>
  <dcterms:created xsi:type="dcterms:W3CDTF">2019-12-16T10:09:48Z</dcterms:created>
  <dcterms:modified xsi:type="dcterms:W3CDTF">2020-11-12T05:26:49Z</dcterms:modified>
</cp:coreProperties>
</file>