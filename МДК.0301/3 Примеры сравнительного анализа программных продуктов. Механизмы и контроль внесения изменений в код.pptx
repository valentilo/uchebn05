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  <p:sldId id="266" r:id="rId10"/>
    <p:sldId id="267" r:id="rId11"/>
    <p:sldId id="264" r:id="rId12"/>
    <p:sldId id="268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ED85-4658-48F4-AA9B-E70646F28837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93F17-ED54-4320-804C-D9C73B813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900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ED85-4658-48F4-AA9B-E70646F28837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93F17-ED54-4320-804C-D9C73B813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8350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ED85-4658-48F4-AA9B-E70646F28837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93F17-ED54-4320-804C-D9C73B813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005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ED85-4658-48F4-AA9B-E70646F28837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93F17-ED54-4320-804C-D9C73B813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4674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ED85-4658-48F4-AA9B-E70646F28837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93F17-ED54-4320-804C-D9C73B813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7994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ED85-4658-48F4-AA9B-E70646F28837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93F17-ED54-4320-804C-D9C73B813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0234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ED85-4658-48F4-AA9B-E70646F28837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93F17-ED54-4320-804C-D9C73B813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0742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ED85-4658-48F4-AA9B-E70646F28837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93F17-ED54-4320-804C-D9C73B813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4712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ED85-4658-48F4-AA9B-E70646F28837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93F17-ED54-4320-804C-D9C73B813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5444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ED85-4658-48F4-AA9B-E70646F28837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93F17-ED54-4320-804C-D9C73B813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0175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ED85-4658-48F4-AA9B-E70646F28837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93F17-ED54-4320-804C-D9C73B813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506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88ED85-4658-48F4-AA9B-E70646F28837}" type="datetimeFigureOut">
              <a:rPr lang="ru-RU" smtClean="0"/>
              <a:t>27.01.2026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D93F17-ED54-4320-804C-D9C73B813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8411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93090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FF0000"/>
                </a:solidFill>
                <a:latin typeface="+mn-lt"/>
              </a:rPr>
              <a:t>Примеры сравнительного анализа программных </a:t>
            </a:r>
            <a:r>
              <a:rPr lang="ru-RU" b="1" dirty="0" smtClean="0">
                <a:solidFill>
                  <a:srgbClr val="FF0000"/>
                </a:solidFill>
                <a:latin typeface="+mn-lt"/>
              </a:rPr>
              <a:t>продуктов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.</a:t>
            </a:r>
            <a:r>
              <a:rPr lang="ru-RU" b="1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ru-RU" b="1" dirty="0">
                <a:solidFill>
                  <a:srgbClr val="FF0000"/>
                </a:solidFill>
                <a:latin typeface="+mn-lt"/>
              </a:rPr>
              <a:t>Механизмы и контроль внесения изменений в код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9006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6000" b="1" dirty="0" smtClean="0">
                <a:solidFill>
                  <a:srgbClr val="FF0000"/>
                </a:solidFill>
                <a:latin typeface="+mn-lt"/>
              </a:rPr>
              <a:t>Цель урока:</a:t>
            </a:r>
            <a:endParaRPr lang="ru-RU" sz="60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5400" dirty="0" smtClean="0"/>
              <a:t>Понять как происходит управление </a:t>
            </a:r>
            <a:r>
              <a:rPr lang="ru-RU" sz="5400" dirty="0"/>
              <a:t>изменениями в разработке ПО: от кода до </a:t>
            </a:r>
            <a:r>
              <a:rPr lang="ru-RU" sz="5400" dirty="0" smtClean="0"/>
              <a:t>релиза.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3062279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800" b="1" dirty="0" smtClean="0">
                <a:solidFill>
                  <a:srgbClr val="FF0000"/>
                </a:solidFill>
                <a:latin typeface="+mn-lt"/>
              </a:rPr>
              <a:t>Вопрос для размышления</a:t>
            </a:r>
            <a:endParaRPr lang="ru-RU" sz="48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6000" i="1" dirty="0" smtClean="0"/>
              <a:t>Почему могут быть необходимы изменения в программном продукте </a:t>
            </a:r>
            <a:endParaRPr lang="ru-RU" sz="6000" i="1" dirty="0"/>
          </a:p>
        </p:txBody>
      </p:sp>
    </p:spTree>
    <p:extLst>
      <p:ext uri="{BB962C8B-B14F-4D97-AF65-F5344CB8AC3E}">
        <p14:creationId xmlns:p14="http://schemas.microsoft.com/office/powerpoint/2010/main" val="2326080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5400" b="1" dirty="0" smtClean="0">
                <a:solidFill>
                  <a:srgbClr val="FF0000"/>
                </a:solidFill>
                <a:latin typeface="+mn-lt"/>
              </a:rPr>
              <a:t>Почему </a:t>
            </a:r>
            <a:r>
              <a:rPr lang="ru-RU" sz="5400" b="1" dirty="0" err="1" smtClean="0">
                <a:solidFill>
                  <a:srgbClr val="FF0000"/>
                </a:solidFill>
                <a:latin typeface="+mn-lt"/>
              </a:rPr>
              <a:t>небходим</a:t>
            </a:r>
            <a:r>
              <a:rPr lang="ru-RU" sz="5400" b="1" dirty="0" smtClean="0">
                <a:solidFill>
                  <a:srgbClr val="FF0000"/>
                </a:solidFill>
                <a:latin typeface="+mn-lt"/>
              </a:rPr>
              <a:t> релиз?</a:t>
            </a:r>
            <a:endParaRPr lang="ru-RU" sz="54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355600">
              <a:buNone/>
            </a:pPr>
            <a:r>
              <a:rPr lang="ru-RU" sz="3200" b="1" dirty="0">
                <a:solidFill>
                  <a:srgbClr val="FF0000"/>
                </a:solidFill>
              </a:rPr>
              <a:t>Релиз программного обеспечения</a:t>
            </a:r>
            <a:r>
              <a:rPr lang="ru-RU" dirty="0"/>
              <a:t> — это официально выпущенная версия программного продукта, предназначенная для распространения и использования. </a:t>
            </a:r>
            <a:endParaRPr lang="ru-RU" dirty="0" smtClean="0"/>
          </a:p>
          <a:p>
            <a:pPr marL="0" indent="355600">
              <a:buNone/>
            </a:pPr>
            <a:endParaRPr lang="ru-RU" b="1" dirty="0">
              <a:solidFill>
                <a:srgbClr val="FF0000"/>
              </a:solidFill>
            </a:endParaRPr>
          </a:p>
          <a:p>
            <a:pPr marL="0" indent="355600">
              <a:buNone/>
            </a:pPr>
            <a:r>
              <a:rPr lang="ru-RU" sz="3600" b="1" dirty="0" smtClean="0">
                <a:solidFill>
                  <a:srgbClr val="FF0000"/>
                </a:solidFill>
              </a:rPr>
              <a:t>Цель </a:t>
            </a:r>
            <a:r>
              <a:rPr lang="ru-RU" sz="3600" b="1" dirty="0">
                <a:solidFill>
                  <a:srgbClr val="FF0000"/>
                </a:solidFill>
              </a:rPr>
              <a:t>релиза </a:t>
            </a:r>
            <a:r>
              <a:rPr lang="ru-RU" dirty="0"/>
              <a:t>— доставить ценность конечному пользователю: </a:t>
            </a:r>
            <a:endParaRPr lang="ru-RU" dirty="0" smtClean="0"/>
          </a:p>
          <a:p>
            <a:pPr marL="895350" indent="-87313"/>
            <a:r>
              <a:rPr lang="ru-RU" dirty="0" smtClean="0"/>
              <a:t>новую </a:t>
            </a:r>
            <a:r>
              <a:rPr lang="ru-RU" dirty="0"/>
              <a:t>функцию, </a:t>
            </a:r>
            <a:endParaRPr lang="ru-RU" dirty="0" smtClean="0"/>
          </a:p>
          <a:p>
            <a:pPr marL="895350" indent="-87313"/>
            <a:r>
              <a:rPr lang="ru-RU" dirty="0" smtClean="0"/>
              <a:t>исправление </a:t>
            </a:r>
            <a:r>
              <a:rPr lang="ru-RU" dirty="0"/>
              <a:t>проблем, </a:t>
            </a:r>
            <a:endParaRPr lang="ru-RU" dirty="0" smtClean="0"/>
          </a:p>
          <a:p>
            <a:pPr marL="895350" indent="-87313"/>
            <a:r>
              <a:rPr lang="ru-RU" dirty="0" smtClean="0"/>
              <a:t>повышение </a:t>
            </a:r>
            <a:r>
              <a:rPr lang="ru-RU" dirty="0"/>
              <a:t>производительности и т. д..</a:t>
            </a:r>
          </a:p>
        </p:txBody>
      </p:sp>
    </p:spTree>
    <p:extLst>
      <p:ext uri="{BB962C8B-B14F-4D97-AF65-F5344CB8AC3E}">
        <p14:creationId xmlns:p14="http://schemas.microsoft.com/office/powerpoint/2010/main" val="133911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sz="5400" b="1" dirty="0" smtClean="0">
                <a:solidFill>
                  <a:srgbClr val="FF0000"/>
                </a:solidFill>
                <a:latin typeface="+mn-lt"/>
              </a:rPr>
              <a:t>Некоторые этапы подготовки релиза:</a:t>
            </a:r>
            <a:br>
              <a:rPr lang="ru-RU" sz="5400" b="1" dirty="0" smtClean="0">
                <a:solidFill>
                  <a:srgbClr val="FF0000"/>
                </a:solidFill>
                <a:latin typeface="+mn-lt"/>
              </a:rPr>
            </a:br>
            <a:endParaRPr lang="ru-RU" sz="54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 smtClean="0"/>
              <a:t>Планирование</a:t>
            </a:r>
            <a:r>
              <a:rPr lang="ru-RU" dirty="0"/>
              <a:t> — определение состава релиза, сроков, ответственных.</a:t>
            </a:r>
          </a:p>
          <a:p>
            <a:r>
              <a:rPr lang="ru-RU" b="1" dirty="0"/>
              <a:t>Разработка</a:t>
            </a:r>
            <a:r>
              <a:rPr lang="ru-RU" dirty="0"/>
              <a:t> — реализация функций, исправлений и обновлений.</a:t>
            </a:r>
          </a:p>
          <a:p>
            <a:r>
              <a:rPr lang="ru-RU" b="1" dirty="0"/>
              <a:t>Тестирование</a:t>
            </a:r>
            <a:r>
              <a:rPr lang="ru-RU" dirty="0"/>
              <a:t> — всесторонняя проверка качества продукта.</a:t>
            </a:r>
          </a:p>
          <a:p>
            <a:r>
              <a:rPr lang="ru-RU" b="1" dirty="0"/>
              <a:t>Подготовка инфраструктуры</a:t>
            </a:r>
            <a:r>
              <a:rPr lang="ru-RU" dirty="0"/>
              <a:t> — настройка серверов, баз данных, систем доставки.</a:t>
            </a:r>
          </a:p>
          <a:p>
            <a:r>
              <a:rPr lang="ru-RU" b="1" dirty="0"/>
              <a:t>Релиз (</a:t>
            </a:r>
            <a:r>
              <a:rPr lang="ru-RU" b="1" dirty="0" err="1"/>
              <a:t>деплой</a:t>
            </a:r>
            <a:r>
              <a:rPr lang="ru-RU" b="1" dirty="0"/>
              <a:t>)</a:t>
            </a:r>
            <a:r>
              <a:rPr lang="ru-RU" dirty="0"/>
              <a:t> — фактический выпуск продукта пользователям.</a:t>
            </a:r>
          </a:p>
          <a:p>
            <a:r>
              <a:rPr lang="ru-RU" b="1" dirty="0"/>
              <a:t>Мониторинг и поддержка</a:t>
            </a:r>
            <a:r>
              <a:rPr lang="ru-RU" dirty="0"/>
              <a:t> — отслеживание производительности, отзывов и ошибок.</a:t>
            </a:r>
          </a:p>
          <a:p>
            <a:r>
              <a:rPr lang="ru-RU" b="1" dirty="0"/>
              <a:t>Документация и анонс</a:t>
            </a:r>
            <a:r>
              <a:rPr lang="ru-RU" dirty="0"/>
              <a:t> — публикация релиз-</a:t>
            </a:r>
            <a:r>
              <a:rPr lang="ru-RU" dirty="0" err="1"/>
              <a:t>нотов</a:t>
            </a:r>
            <a:r>
              <a:rPr lang="ru-RU" dirty="0"/>
              <a:t>, обучение пользователей, продвижение.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4833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6000" b="1" dirty="0" smtClean="0">
                <a:solidFill>
                  <a:srgbClr val="FF0000"/>
                </a:solidFill>
                <a:latin typeface="+mn-lt"/>
              </a:rPr>
              <a:t>Контроль</a:t>
            </a:r>
            <a:endParaRPr lang="ru-RU" sz="60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539750">
              <a:buNone/>
            </a:pPr>
            <a:r>
              <a:rPr lang="ru-RU" b="0" i="0" dirty="0" smtClean="0">
                <a:solidFill>
                  <a:srgbClr val="333333"/>
                </a:solidFill>
                <a:effectLst/>
                <a:latin typeface="YS Text"/>
              </a:rPr>
              <a:t>После выпуска релиза его работоспособность мониторится, и в случае обнаружения проблем проводится анализ и корректировка. Также </a:t>
            </a:r>
            <a:r>
              <a:rPr lang="ru-RU" b="0" i="0" dirty="0" err="1" smtClean="0">
                <a:solidFill>
                  <a:srgbClr val="333333"/>
                </a:solidFill>
                <a:effectLst/>
                <a:latin typeface="YS Text"/>
              </a:rPr>
              <a:t>релизная</a:t>
            </a:r>
            <a:r>
              <a:rPr lang="ru-RU" b="0" i="0" dirty="0" smtClean="0">
                <a:solidFill>
                  <a:srgbClr val="333333"/>
                </a:solidFill>
                <a:effectLst/>
                <a:latin typeface="YS Text"/>
              </a:rPr>
              <a:t> команда подводит итоги, анализирует выполненные изменения и полученную обратную связь. Если возникает потребность в дополнительных доработках, специалисты фиксируют их и планируют дальнейшее развитие продукта в рамках нового релиза.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2194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fontAlgn="base"/>
            <a:r>
              <a:rPr lang="ru-RU" sz="6000" b="1" i="0" dirty="0" smtClean="0">
                <a:solidFill>
                  <a:srgbClr val="FF0000"/>
                </a:solidFill>
                <a:effectLst/>
                <a:latin typeface="JetBrains Sans"/>
              </a:rPr>
              <a:t>В чем разница между сборкой и релизом?</a:t>
            </a:r>
            <a:r>
              <a:rPr lang="ru-RU" b="1" i="0" dirty="0" smtClean="0">
                <a:solidFill>
                  <a:srgbClr val="19191C"/>
                </a:solidFill>
                <a:effectLst/>
                <a:latin typeface="JetBrains Sans"/>
              </a:rPr>
              <a:t/>
            </a:r>
            <a:br>
              <a:rPr lang="ru-RU" b="1" i="0" dirty="0" smtClean="0">
                <a:solidFill>
                  <a:srgbClr val="19191C"/>
                </a:solidFill>
                <a:effectLst/>
                <a:latin typeface="JetBrains Sans"/>
              </a:rPr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4000" dirty="0" smtClean="0"/>
              <a:t>В контексте разработки программного обеспечения </a:t>
            </a:r>
            <a:r>
              <a:rPr lang="ru-RU" sz="4000" b="1" i="1" dirty="0" smtClean="0">
                <a:solidFill>
                  <a:srgbClr val="FF0000"/>
                </a:solidFill>
              </a:rPr>
              <a:t>сборка (</a:t>
            </a:r>
            <a:r>
              <a:rPr lang="ru-RU" sz="4000" b="1" i="1" dirty="0" err="1" smtClean="0">
                <a:solidFill>
                  <a:srgbClr val="FF0000"/>
                </a:solidFill>
              </a:rPr>
              <a:t>build</a:t>
            </a:r>
            <a:r>
              <a:rPr lang="ru-RU" sz="4000" b="1" i="1" dirty="0" smtClean="0">
                <a:solidFill>
                  <a:srgbClr val="FF0000"/>
                </a:solidFill>
              </a:rPr>
              <a:t>) </a:t>
            </a:r>
            <a:r>
              <a:rPr lang="ru-RU" sz="4000" dirty="0" smtClean="0"/>
              <a:t>- это скомпилированная версия программы, готовая к тестированию или развертыванию. </a:t>
            </a:r>
          </a:p>
          <a:p>
            <a:pPr marL="0" indent="0">
              <a:buNone/>
            </a:pPr>
            <a:r>
              <a:rPr lang="ru-RU" sz="4000" dirty="0" smtClean="0"/>
              <a:t>А </a:t>
            </a:r>
            <a:r>
              <a:rPr lang="ru-RU" sz="4000" b="1" dirty="0" smtClean="0">
                <a:solidFill>
                  <a:srgbClr val="FF0000"/>
                </a:solidFill>
              </a:rPr>
              <a:t>релиз </a:t>
            </a:r>
            <a:r>
              <a:rPr lang="ru-RU" sz="4000" dirty="0" smtClean="0"/>
              <a:t>— это окончательная версия ПО, предназначенная для пользователей. </a:t>
            </a:r>
          </a:p>
          <a:p>
            <a:pPr marL="0" indent="0">
              <a:buNone/>
            </a:pPr>
            <a:r>
              <a:rPr lang="ru-RU" sz="4000" dirty="0" smtClean="0"/>
              <a:t>Оба эти понятия относятся к процессу непрерывной интеграции и развертывания.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3171917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sz="5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Системы контроля версий.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355600" algn="just">
              <a:lnSpc>
                <a:spcPct val="150000"/>
              </a:lnSpc>
              <a:buNone/>
            </a:pPr>
            <a:r>
              <a:rPr lang="ru-RU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Система управления (контроля) версиями</a:t>
            </a:r>
            <a:r>
              <a:rPr lang="ru-RU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Version</a:t>
            </a:r>
            <a:r>
              <a:rPr lang="ru-RU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r>
              <a:rPr lang="ru-RU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lang="ru-RU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— программное обеспечение для облегчения работы с изменяющейся информацией. </a:t>
            </a:r>
          </a:p>
          <a:p>
            <a:pPr marL="0" indent="355600" algn="just">
              <a:lnSpc>
                <a:spcPct val="150000"/>
              </a:lnSpc>
              <a:buNone/>
            </a:pPr>
            <a:r>
              <a:rPr lang="ru-RU" i="1" dirty="0">
                <a:latin typeface="Arial" panose="020B0604020202020204" pitchFamily="34" charset="0"/>
                <a:cs typeface="Arial" panose="020B0604020202020204" pitchFamily="34" charset="0"/>
              </a:rPr>
              <a:t>Система управления версиями позволяет хранить несколько версий одного и того же документа, при необходимости возвращаться к более ранним версиям, определять, кто и когда сделал то или иное </a:t>
            </a:r>
            <a:r>
              <a:rPr lang="ru-RU" i="1" dirty="0" smtClean="0">
                <a:latin typeface="Arial" panose="020B0604020202020204" pitchFamily="34" charset="0"/>
                <a:cs typeface="Arial" panose="020B0604020202020204" pitchFamily="34" charset="0"/>
              </a:rPr>
              <a:t>изменение</a:t>
            </a:r>
            <a:r>
              <a:rPr lang="ru-RU" i="1" dirty="0">
                <a:latin typeface="Arial" panose="020B0604020202020204" pitchFamily="34" charset="0"/>
                <a:cs typeface="Arial" panose="020B0604020202020204" pitchFamily="34" charset="0"/>
              </a:rPr>
              <a:t>, и многое другое. </a:t>
            </a:r>
            <a:endParaRPr lang="ru-RU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355600" algn="just">
              <a:lnSpc>
                <a:spcPct val="150000"/>
              </a:lnSpc>
              <a:buNone/>
            </a:pPr>
            <a:r>
              <a:rPr lang="ru-RU" i="1" dirty="0" smtClean="0">
                <a:latin typeface="Arial" panose="020B0604020202020204" pitchFamily="34" charset="0"/>
                <a:cs typeface="Arial" panose="020B0604020202020204" pitchFamily="34" charset="0"/>
              </a:rPr>
              <a:t>Пример системы контроля версий:</a:t>
            </a:r>
            <a:r>
              <a:rPr lang="en-US" i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git</a:t>
            </a:r>
            <a:r>
              <a:rPr lang="en-US" i="1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ru-RU" i="1" dirty="0" smtClean="0">
                <a:latin typeface="Arial" panose="020B0604020202020204" pitchFamily="34" charset="0"/>
                <a:cs typeface="Arial" panose="020B0604020202020204" pitchFamily="34" charset="0"/>
              </a:rPr>
              <a:t>Сайт </a:t>
            </a:r>
            <a:r>
              <a:rPr lang="en-US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US" i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7618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5400" b="1" dirty="0" smtClean="0">
                <a:solidFill>
                  <a:srgbClr val="FF0000"/>
                </a:solidFill>
                <a:latin typeface="+mn-lt"/>
              </a:rPr>
              <a:t>Подумайте:</a:t>
            </a:r>
            <a:endParaRPr lang="ru-RU" sz="54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4400" dirty="0" smtClean="0"/>
              <a:t>Для чего нужна система контроля версий?</a:t>
            </a:r>
          </a:p>
          <a:p>
            <a:r>
              <a:rPr lang="ru-RU" sz="4400" dirty="0" smtClean="0"/>
              <a:t>С какой системой контроля версий вы уже работали?</a:t>
            </a:r>
          </a:p>
          <a:p>
            <a:r>
              <a:rPr lang="ru-RU" sz="4400" dirty="0" smtClean="0"/>
              <a:t>Какие плюсы работы с системой контроля версий вы заметили?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2863751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sz="5300" b="1" dirty="0">
                <a:solidFill>
                  <a:srgbClr val="FF0000"/>
                </a:solidFill>
                <a:latin typeface="Century Gothic" panose="020B0502020202020204"/>
              </a:rPr>
              <a:t>Современные системы контроля версий</a:t>
            </a:r>
            <a:r>
              <a:rPr lang="ru-RU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Century Gothic" panose="020B0502020202020204"/>
              </a:rPr>
              <a:t/>
            </a:r>
            <a:br>
              <a:rPr lang="ru-RU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Century Gothic" panose="020B0502020202020204"/>
              </a:rPr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625475">
              <a:lnSpc>
                <a:spcPct val="150000"/>
              </a:lnSpc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Существует много систем контроля версий (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Git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Darcs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Mercurial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Bazaar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Monotone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т.д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), сходных по принципу работы и конечным задачам. </a:t>
            </a:r>
          </a:p>
          <a:p>
            <a:pPr marL="0" indent="625475">
              <a:lnSpc>
                <a:spcPct val="150000"/>
              </a:lnSpc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Самая популярная на сегодняшний день система контроля версий –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Git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1006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indent="452438"/>
            <a:r>
              <a:rPr lang="ru-RU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Системы контроля версий решают следующие проблемы:</a:t>
            </a:r>
            <a:br>
              <a:rPr lang="ru-RU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lvl="1" indent="0" algn="just">
              <a:lnSpc>
                <a:spcPct val="150000"/>
              </a:lnSpc>
              <a:buNone/>
            </a:pPr>
            <a:r>
              <a:rPr lang="ru-RU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хранение версий файлов;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ru-RU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возможность получить любые предыдущие версии хранимых файлов;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ru-RU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просмотр изменений внесенных между заданными в запросе версиями;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ru-RU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сохранение и просмотр комментариев и авторов к внесенным изменениям</a:t>
            </a:r>
            <a:r>
              <a:rPr lang="ru-RU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3511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6000" dirty="0" smtClean="0">
                <a:solidFill>
                  <a:srgbClr val="FF0000"/>
                </a:solidFill>
              </a:rPr>
              <a:t>Что вы узнали на уроке?</a:t>
            </a:r>
            <a:endParaRPr lang="ru-RU" sz="6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776060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289</Words>
  <Application>Microsoft Office PowerPoint</Application>
  <PresentationFormat>Широкоэкранный</PresentationFormat>
  <Paragraphs>43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Century Gothic</vt:lpstr>
      <vt:lpstr>JetBrains Sans</vt:lpstr>
      <vt:lpstr>Times New Roman</vt:lpstr>
      <vt:lpstr>YS Text</vt:lpstr>
      <vt:lpstr>Тема Office</vt:lpstr>
      <vt:lpstr>Примеры сравнительного анализа программных продуктов. Механизмы и контроль внесения изменений в код</vt:lpstr>
      <vt:lpstr>Цель урока:</vt:lpstr>
      <vt:lpstr>Вопрос для размышления</vt:lpstr>
      <vt:lpstr>Почему небходим релиз?</vt:lpstr>
      <vt:lpstr>Некоторые этапы подготовки релиза: </vt:lpstr>
      <vt:lpstr>Контроль</vt:lpstr>
      <vt:lpstr>В чем разница между сборкой и релизом? </vt:lpstr>
      <vt:lpstr>Системы контроля версий. </vt:lpstr>
      <vt:lpstr>Подумайте:</vt:lpstr>
      <vt:lpstr>Современные системы контроля версий </vt:lpstr>
      <vt:lpstr>Системы контроля версий решают следующие проблемы: 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Примеры сравнительного анализа программных продуктов. Механизмы и контроль внесения изменений в код</dc:title>
  <dc:creator>Admin</dc:creator>
  <cp:lastModifiedBy>Admin</cp:lastModifiedBy>
  <cp:revision>6</cp:revision>
  <dcterms:created xsi:type="dcterms:W3CDTF">2026-01-27T06:54:00Z</dcterms:created>
  <dcterms:modified xsi:type="dcterms:W3CDTF">2026-01-27T07:54:30Z</dcterms:modified>
</cp:coreProperties>
</file>