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403" r:id="rId2"/>
    <p:sldId id="404" r:id="rId3"/>
    <p:sldId id="419" r:id="rId4"/>
    <p:sldId id="421" r:id="rId5"/>
    <p:sldId id="420" r:id="rId6"/>
    <p:sldId id="422" r:id="rId7"/>
    <p:sldId id="406" r:id="rId8"/>
    <p:sldId id="423" r:id="rId9"/>
    <p:sldId id="408" r:id="rId10"/>
    <p:sldId id="409" r:id="rId11"/>
    <p:sldId id="410" r:id="rId12"/>
    <p:sldId id="411" r:id="rId13"/>
    <p:sldId id="412" r:id="rId14"/>
    <p:sldId id="424" r:id="rId15"/>
    <p:sldId id="425" r:id="rId16"/>
    <p:sldId id="426" r:id="rId17"/>
    <p:sldId id="428" r:id="rId18"/>
    <p:sldId id="414" r:id="rId19"/>
    <p:sldId id="415" r:id="rId20"/>
    <p:sldId id="429" r:id="rId21"/>
    <p:sldId id="416" r:id="rId22"/>
    <p:sldId id="430" r:id="rId23"/>
    <p:sldId id="431" r:id="rId24"/>
    <p:sldId id="432" r:id="rId25"/>
    <p:sldId id="433" r:id="rId26"/>
    <p:sldId id="417" r:id="rId27"/>
    <p:sldId id="434" r:id="rId28"/>
    <p:sldId id="435" r:id="rId29"/>
    <p:sldId id="436" r:id="rId3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00"/>
    <a:srgbClr val="99CCFF"/>
    <a:srgbClr val="CC99FF"/>
    <a:srgbClr val="66CCFF"/>
    <a:srgbClr val="66FFFF"/>
    <a:srgbClr val="99FF99"/>
    <a:srgbClr val="FFFF99"/>
    <a:srgbClr val="FFCC99"/>
    <a:srgbClr val="FF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4" d="100"/>
          <a:sy n="94" d="100"/>
        </p:scale>
        <p:origin x="-12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112407-0130-45EA-A734-06E7A404CE72}" type="datetimeFigureOut">
              <a:rPr lang="ru-RU" smtClean="0"/>
              <a:t>16.11.2021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AC034-8B56-4CCC-B647-94487F093A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3560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FAC034-8B56-4CCC-B647-94487F093AD8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17425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FAC034-8B56-4CCC-B647-94487F093AD8}" type="slidenum">
              <a:rPr lang="ru-RU" smtClean="0">
                <a:solidFill>
                  <a:prstClr val="black"/>
                </a:solidFill>
              </a:rPr>
              <a:pPr/>
              <a:t>3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17425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FAC034-8B56-4CCC-B647-94487F093AD8}" type="slidenum">
              <a:rPr lang="ru-RU" smtClean="0">
                <a:solidFill>
                  <a:prstClr val="black"/>
                </a:solidFill>
              </a:rPr>
              <a:pPr/>
              <a:t>4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17425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FAC034-8B56-4CCC-B647-94487F093AD8}" type="slidenum">
              <a:rPr lang="ru-RU" smtClean="0">
                <a:solidFill>
                  <a:prstClr val="black"/>
                </a:solidFill>
              </a:rPr>
              <a:pPr/>
              <a:t>5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17425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FAC034-8B56-4CCC-B647-94487F093AD8}" type="slidenum">
              <a:rPr lang="ru-RU" smtClean="0">
                <a:solidFill>
                  <a:prstClr val="black"/>
                </a:solidFill>
              </a:rPr>
              <a:pPr/>
              <a:t>6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17425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FAC034-8B56-4CCC-B647-94487F093AD8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99141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FAC034-8B56-4CCC-B647-94487F093AD8}" type="slidenum">
              <a:rPr lang="ru-RU" smtClean="0">
                <a:solidFill>
                  <a:prstClr val="black"/>
                </a:solidFill>
              </a:rPr>
              <a:pPr/>
              <a:t>28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99141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FAC034-8B56-4CCC-B647-94487F093AD8}" type="slidenum">
              <a:rPr lang="ru-RU" smtClean="0">
                <a:solidFill>
                  <a:prstClr val="black"/>
                </a:solidFill>
              </a:rPr>
              <a:pPr/>
              <a:t>29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99141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83C0F-9811-4A23-A22D-21477896BAC5}" type="datetimeFigureOut">
              <a:rPr lang="ru-RU" smtClean="0"/>
              <a:t>16.11.2021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ABCA0-9DF9-4E23-8EC4-48C35A7408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1446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83C0F-9811-4A23-A22D-21477896BAC5}" type="datetimeFigureOut">
              <a:rPr lang="ru-RU" smtClean="0"/>
              <a:t>16.11.2021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ABCA0-9DF9-4E23-8EC4-48C35A7408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5196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83C0F-9811-4A23-A22D-21477896BAC5}" type="datetimeFigureOut">
              <a:rPr lang="ru-RU" smtClean="0"/>
              <a:t>16.11.2021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ABCA0-9DF9-4E23-8EC4-48C35A7408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6343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83C0F-9811-4A23-A22D-21477896BAC5}" type="datetimeFigureOut">
              <a:rPr lang="ru-RU" smtClean="0"/>
              <a:t>16.11.2021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ABCA0-9DF9-4E23-8EC4-48C35A7408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9275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83C0F-9811-4A23-A22D-21477896BAC5}" type="datetimeFigureOut">
              <a:rPr lang="ru-RU" smtClean="0"/>
              <a:t>16.11.2021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ABCA0-9DF9-4E23-8EC4-48C35A7408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9107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83C0F-9811-4A23-A22D-21477896BAC5}" type="datetimeFigureOut">
              <a:rPr lang="ru-RU" smtClean="0"/>
              <a:t>16.11.2021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ABCA0-9DF9-4E23-8EC4-48C35A7408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5411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83C0F-9811-4A23-A22D-21477896BAC5}" type="datetimeFigureOut">
              <a:rPr lang="ru-RU" smtClean="0"/>
              <a:t>16.11.2021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ABCA0-9DF9-4E23-8EC4-48C35A7408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3219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83C0F-9811-4A23-A22D-21477896BAC5}" type="datetimeFigureOut">
              <a:rPr lang="ru-RU" smtClean="0"/>
              <a:t>16.11.2021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ABCA0-9DF9-4E23-8EC4-48C35A7408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3460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83C0F-9811-4A23-A22D-21477896BAC5}" type="datetimeFigureOut">
              <a:rPr lang="ru-RU" smtClean="0"/>
              <a:t>16.11.2021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ABCA0-9DF9-4E23-8EC4-48C35A7408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909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83C0F-9811-4A23-A22D-21477896BAC5}" type="datetimeFigureOut">
              <a:rPr lang="ru-RU" smtClean="0"/>
              <a:t>16.11.2021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ABCA0-9DF9-4E23-8EC4-48C35A7408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1222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83C0F-9811-4A23-A22D-21477896BAC5}" type="datetimeFigureOut">
              <a:rPr lang="ru-RU" smtClean="0"/>
              <a:t>16.11.2021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ABCA0-9DF9-4E23-8EC4-48C35A7408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4672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483C0F-9811-4A23-A22D-21477896BAC5}" type="datetimeFigureOut">
              <a:rPr lang="ru-RU" smtClean="0"/>
              <a:t>16.11.2021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5ABCA0-9DF9-4E23-8EC4-48C35A7408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6981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4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Компьютерные сети</a:t>
            </a:r>
            <a:endParaRPr lang="ru-RU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Подзаголовок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Тема 5</a:t>
            </a:r>
            <a:endParaRPr lang="ru-RU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2294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7504" y="1856"/>
            <a:ext cx="8928992" cy="690840"/>
          </a:xfrm>
        </p:spPr>
        <p:txBody>
          <a:bodyPr>
            <a:normAutofit/>
          </a:bodyPr>
          <a:lstStyle/>
          <a:p>
            <a:r>
              <a:rPr lang="ru-RU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Компоненты сети</a:t>
            </a:r>
            <a:endParaRPr lang="ru-RU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1052736"/>
            <a:ext cx="8928992" cy="15121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Компьютерная сеть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– это система связи двух или более компьютеров или компьютерного оборудования</a:t>
            </a:r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708920"/>
            <a:ext cx="8001000" cy="400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09976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7504" y="1856"/>
            <a:ext cx="8928992" cy="690840"/>
          </a:xfrm>
        </p:spPr>
        <p:txBody>
          <a:bodyPr>
            <a:normAutofit/>
          </a:bodyPr>
          <a:lstStyle/>
          <a:p>
            <a:r>
              <a:rPr lang="ru-RU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Компоненты сети</a:t>
            </a:r>
            <a:endParaRPr lang="ru-RU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Объект 2"/>
          <p:cNvSpPr>
            <a:spLocks noGrp="1"/>
          </p:cNvSpPr>
          <p:nvPr>
            <p:ph idx="1"/>
          </p:nvPr>
        </p:nvSpPr>
        <p:spPr>
          <a:xfrm>
            <a:off x="215900" y="981075"/>
            <a:ext cx="8748713" cy="5400675"/>
          </a:xfrm>
        </p:spPr>
        <p:txBody>
          <a:bodyPr>
            <a:normAutofit/>
          </a:bodyPr>
          <a:lstStyle/>
          <a:p>
            <a:pPr marL="0" indent="0">
              <a:buFont typeface="Arial" charset="0"/>
              <a:buNone/>
            </a:pPr>
            <a:r>
              <a:rPr lang="ru-RU" altLang="ru-RU" sz="2800" dirty="0" smtClean="0">
                <a:latin typeface="Arial" charset="0"/>
                <a:cs typeface="Arial" charset="0"/>
              </a:rPr>
              <a:t>Компьютерная сеть состоит из</a:t>
            </a:r>
            <a:r>
              <a:rPr lang="en-US" altLang="ru-RU" sz="2800" dirty="0" smtClean="0">
                <a:latin typeface="Arial" charset="0"/>
                <a:cs typeface="Arial" charset="0"/>
              </a:rPr>
              <a:t> </a:t>
            </a:r>
            <a:r>
              <a:rPr lang="ru-RU" altLang="ru-RU" sz="2800" dirty="0" smtClean="0">
                <a:latin typeface="Arial" charset="0"/>
                <a:cs typeface="Arial" charset="0"/>
              </a:rPr>
              <a:t>нескольких компонентов:</a:t>
            </a:r>
          </a:p>
          <a:p>
            <a:pPr marL="0" indent="0">
              <a:buFont typeface="Arial" charset="0"/>
              <a:buNone/>
            </a:pPr>
            <a:endParaRPr lang="en-US" altLang="ru-RU" sz="2800" dirty="0" smtClean="0">
              <a:latin typeface="Arial" charset="0"/>
              <a:cs typeface="Arial" charset="0"/>
            </a:endParaRPr>
          </a:p>
          <a:p>
            <a:pPr marL="0" indent="0"/>
            <a:r>
              <a:rPr lang="ru-RU" altLang="ru-RU" sz="2800" b="1" dirty="0" smtClean="0">
                <a:latin typeface="Arial" charset="0"/>
                <a:cs typeface="Arial" charset="0"/>
              </a:rPr>
              <a:t>Конечные устройства</a:t>
            </a:r>
            <a:r>
              <a:rPr lang="en-US" altLang="ru-RU" sz="2800" dirty="0" smtClean="0">
                <a:latin typeface="Arial" charset="0"/>
                <a:cs typeface="Arial" charset="0"/>
              </a:rPr>
              <a:t> (</a:t>
            </a:r>
            <a:r>
              <a:rPr lang="ru-RU" altLang="ru-RU" sz="2800" dirty="0" smtClean="0">
                <a:latin typeface="Arial" charset="0"/>
                <a:cs typeface="Arial" charset="0"/>
              </a:rPr>
              <a:t>конечные узлы, станции (</a:t>
            </a:r>
            <a:r>
              <a:rPr lang="ru-RU" altLang="ru-RU" sz="2800" dirty="0" err="1" smtClean="0">
                <a:latin typeface="Arial" charset="0"/>
                <a:cs typeface="Arial" charset="0"/>
              </a:rPr>
              <a:t>host</a:t>
            </a:r>
            <a:r>
              <a:rPr lang="ru-RU" altLang="ru-RU" sz="2800" dirty="0" smtClean="0">
                <a:latin typeface="Arial" charset="0"/>
                <a:cs typeface="Arial" charset="0"/>
              </a:rPr>
              <a:t>))– это устройства, которые связывают конечного пользователя с сетью и передают или получают информацию:</a:t>
            </a:r>
          </a:p>
          <a:p>
            <a:pPr marL="0" indent="0"/>
            <a:r>
              <a:rPr lang="ru-RU" altLang="ru-RU" sz="2800" dirty="0" smtClean="0">
                <a:latin typeface="Arial" charset="0"/>
                <a:cs typeface="Arial" charset="0"/>
              </a:rPr>
              <a:t>компьютеры;</a:t>
            </a:r>
          </a:p>
          <a:p>
            <a:pPr marL="0" indent="0"/>
            <a:r>
              <a:rPr lang="ru-RU" altLang="ru-RU" sz="2800" dirty="0" smtClean="0">
                <a:latin typeface="Arial" charset="0"/>
                <a:cs typeface="Arial" charset="0"/>
              </a:rPr>
              <a:t>сетевая периферия (принтеры и сканеры);</a:t>
            </a:r>
          </a:p>
          <a:p>
            <a:pPr marL="0" indent="0"/>
            <a:r>
              <a:rPr lang="ru-RU" altLang="ru-RU" sz="2800" dirty="0" smtClean="0">
                <a:latin typeface="Arial" charset="0"/>
                <a:cs typeface="Arial" charset="0"/>
              </a:rPr>
              <a:t>мобильные устройства;</a:t>
            </a:r>
          </a:p>
          <a:p>
            <a:pPr marL="0" indent="0"/>
            <a:r>
              <a:rPr lang="ru-RU" altLang="ru-RU" sz="2800" dirty="0" smtClean="0">
                <a:latin typeface="Arial" charset="0"/>
                <a:cs typeface="Arial" charset="0"/>
              </a:rPr>
              <a:t>бытовая техника и т.д.</a:t>
            </a:r>
          </a:p>
        </p:txBody>
      </p:sp>
    </p:spTree>
    <p:extLst>
      <p:ext uri="{BB962C8B-B14F-4D97-AF65-F5344CB8AC3E}">
        <p14:creationId xmlns:p14="http://schemas.microsoft.com/office/powerpoint/2010/main" val="1116020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7504" y="1856"/>
            <a:ext cx="8928992" cy="690840"/>
          </a:xfrm>
        </p:spPr>
        <p:txBody>
          <a:bodyPr>
            <a:normAutofit/>
          </a:bodyPr>
          <a:lstStyle/>
          <a:p>
            <a:r>
              <a:rPr lang="ru-RU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Компоненты сети</a:t>
            </a:r>
            <a:endParaRPr lang="ru-RU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908720"/>
            <a:ext cx="8928992" cy="547260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Компьютерная 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сеть состоит </a:t>
            </a:r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из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нескольких 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компонентов</a:t>
            </a:r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Промежуточные устройства</a:t>
            </a:r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это служебные устройства, которые передают информацию по </a:t>
            </a:r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сети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720725" indent="-365125"/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у</a:t>
            </a:r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стройства 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доступа к сети (коммутаторы и точки беспроводного </a:t>
            </a:r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доступа)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20725" indent="-365125"/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у</a:t>
            </a:r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стройства 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сетевого взаимодействия (маршрутизаторы</a:t>
            </a:r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  <a:endParaRPr 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20725" indent="-365125"/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устройства 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безопасности (аппаратные межсетевые экраны</a:t>
            </a:r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  <a:endParaRPr 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3738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7504" y="1856"/>
            <a:ext cx="8928992" cy="690840"/>
          </a:xfrm>
        </p:spPr>
        <p:txBody>
          <a:bodyPr>
            <a:normAutofit/>
          </a:bodyPr>
          <a:lstStyle/>
          <a:p>
            <a:r>
              <a:rPr lang="ru-RU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Компоненты сети</a:t>
            </a:r>
            <a:endParaRPr lang="ru-RU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1052736"/>
            <a:ext cx="8928992" cy="4680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Компьютерная 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сеть состоит </a:t>
            </a:r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из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нескольких 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компонентов</a:t>
            </a:r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Сетевая </a:t>
            </a:r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операционная </a:t>
            </a:r>
            <a:r>
              <a:rPr lang="ru-R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система</a:t>
            </a:r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это операционная система, которая помимо обычных функций предоставляет доступ к сетевым </a:t>
            </a:r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устройствам.</a:t>
            </a:r>
          </a:p>
          <a:p>
            <a:pPr marL="355600" indent="0">
              <a:buNone/>
            </a:pPr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Современные 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операционные системы являются сетевыми</a:t>
            </a:r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4587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7504" y="1856"/>
            <a:ext cx="8928992" cy="690840"/>
          </a:xfrm>
        </p:spPr>
        <p:txBody>
          <a:bodyPr>
            <a:normAutofit/>
          </a:bodyPr>
          <a:lstStyle/>
          <a:p>
            <a:r>
              <a:rPr lang="ru-RU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Компоненты сети</a:t>
            </a:r>
            <a:endParaRPr lang="ru-RU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1052736"/>
            <a:ext cx="8928992" cy="56886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Компьютерная 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сеть состоит </a:t>
            </a:r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из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нескольких 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компонентов</a:t>
            </a:r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Передающие среды</a:t>
            </a:r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это линии связи или пространство, в котором распространяются электрические сигналы:</a:t>
            </a:r>
          </a:p>
          <a:p>
            <a:pPr marL="720725" indent="-273050"/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м</a:t>
            </a:r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еталлические провода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20725" indent="-273050"/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о</a:t>
            </a:r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птические кабели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20725" indent="-273050"/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б</a:t>
            </a:r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еспроводная передача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0300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7504" y="10482"/>
            <a:ext cx="8928992" cy="682214"/>
          </a:xfrm>
        </p:spPr>
        <p:txBody>
          <a:bodyPr>
            <a:normAutofit/>
          </a:bodyPr>
          <a:lstStyle/>
          <a:p>
            <a:r>
              <a:rPr lang="ru-RU" sz="3600" b="1" dirty="0">
                <a:latin typeface="Arial" panose="020B0604020202020204" pitchFamily="34" charset="0"/>
                <a:cs typeface="Arial" panose="020B0604020202020204" pitchFamily="34" charset="0"/>
              </a:rPr>
              <a:t>Топологии компьютерных сетей</a:t>
            </a:r>
          </a:p>
        </p:txBody>
      </p:sp>
      <p:cxnSp>
        <p:nvCxnSpPr>
          <p:cNvPr id="13" name="Прямая со стрелкой 12"/>
          <p:cNvCxnSpPr/>
          <p:nvPr/>
        </p:nvCxnSpPr>
        <p:spPr>
          <a:xfrm>
            <a:off x="8676456" y="6669360"/>
            <a:ext cx="36004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Прямоугольник 2"/>
          <p:cNvSpPr/>
          <p:nvPr/>
        </p:nvSpPr>
        <p:spPr>
          <a:xfrm>
            <a:off x="107504" y="836712"/>
            <a:ext cx="892899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Топология сети 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– это конфигурация сети, описывающая расположение и соединение сетевых устройств</a:t>
            </a:r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43" b="9751"/>
          <a:stretch/>
        </p:blipFill>
        <p:spPr bwMode="auto">
          <a:xfrm>
            <a:off x="342900" y="2365576"/>
            <a:ext cx="8458200" cy="44745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92616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7504" y="10482"/>
            <a:ext cx="8928992" cy="682214"/>
          </a:xfrm>
        </p:spPr>
        <p:txBody>
          <a:bodyPr>
            <a:normAutofit/>
          </a:bodyPr>
          <a:lstStyle/>
          <a:p>
            <a:r>
              <a:rPr lang="ru-RU" sz="3600" b="1" dirty="0">
                <a:latin typeface="Arial" panose="020B0604020202020204" pitchFamily="34" charset="0"/>
                <a:cs typeface="Arial" panose="020B0604020202020204" pitchFamily="34" charset="0"/>
              </a:rPr>
              <a:t>Топологии компьютерных сетей</a:t>
            </a:r>
          </a:p>
        </p:txBody>
      </p:sp>
      <p:cxnSp>
        <p:nvCxnSpPr>
          <p:cNvPr id="13" name="Прямая со стрелкой 12"/>
          <p:cNvCxnSpPr/>
          <p:nvPr/>
        </p:nvCxnSpPr>
        <p:spPr>
          <a:xfrm>
            <a:off x="8676456" y="6669360"/>
            <a:ext cx="36004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Группа 18"/>
          <p:cNvGrpSpPr/>
          <p:nvPr/>
        </p:nvGrpSpPr>
        <p:grpSpPr>
          <a:xfrm>
            <a:off x="5376876" y="2636912"/>
            <a:ext cx="3529696" cy="4032448"/>
            <a:chOff x="2123728" y="1916832"/>
            <a:chExt cx="3529696" cy="4032448"/>
          </a:xfrm>
        </p:grpSpPr>
        <p:cxnSp>
          <p:nvCxnSpPr>
            <p:cNvPr id="26" name="Прямая соединительная линия 25"/>
            <p:cNvCxnSpPr/>
            <p:nvPr/>
          </p:nvCxnSpPr>
          <p:spPr>
            <a:xfrm>
              <a:off x="4572000" y="1988840"/>
              <a:ext cx="864096" cy="108012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Прямая соединительная линия 27"/>
            <p:cNvCxnSpPr/>
            <p:nvPr/>
          </p:nvCxnSpPr>
          <p:spPr>
            <a:xfrm flipH="1">
              <a:off x="2411760" y="1988840"/>
              <a:ext cx="2160240" cy="144016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Прямая соединительная линия 35"/>
            <p:cNvCxnSpPr/>
            <p:nvPr/>
          </p:nvCxnSpPr>
          <p:spPr>
            <a:xfrm flipV="1">
              <a:off x="2195736" y="3399491"/>
              <a:ext cx="216024" cy="2477781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Прямая соединительная линия 40"/>
            <p:cNvCxnSpPr/>
            <p:nvPr/>
          </p:nvCxnSpPr>
          <p:spPr>
            <a:xfrm flipH="1" flipV="1">
              <a:off x="5436096" y="3068960"/>
              <a:ext cx="144016" cy="2490771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Прямая соединительная линия 43"/>
            <p:cNvCxnSpPr/>
            <p:nvPr/>
          </p:nvCxnSpPr>
          <p:spPr>
            <a:xfrm flipV="1">
              <a:off x="2195736" y="5559731"/>
              <a:ext cx="3384376" cy="317541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Прямая соединительная линия 46"/>
            <p:cNvCxnSpPr/>
            <p:nvPr/>
          </p:nvCxnSpPr>
          <p:spPr>
            <a:xfrm flipH="1">
              <a:off x="2195736" y="1988840"/>
              <a:ext cx="2376264" cy="3888432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Прямая соединительная линия 49"/>
            <p:cNvCxnSpPr/>
            <p:nvPr/>
          </p:nvCxnSpPr>
          <p:spPr>
            <a:xfrm>
              <a:off x="4572000" y="1988840"/>
              <a:ext cx="1008112" cy="3570891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Прямая соединительная линия 52"/>
            <p:cNvCxnSpPr/>
            <p:nvPr/>
          </p:nvCxnSpPr>
          <p:spPr>
            <a:xfrm flipH="1">
              <a:off x="2411760" y="3068960"/>
              <a:ext cx="3024336" cy="36004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Прямая соединительная линия 55"/>
            <p:cNvCxnSpPr/>
            <p:nvPr/>
          </p:nvCxnSpPr>
          <p:spPr>
            <a:xfrm flipH="1" flipV="1">
              <a:off x="2411760" y="3429000"/>
              <a:ext cx="3168352" cy="2130732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Прямая соединительная линия 58"/>
            <p:cNvCxnSpPr/>
            <p:nvPr/>
          </p:nvCxnSpPr>
          <p:spPr>
            <a:xfrm flipH="1">
              <a:off x="2195736" y="3068960"/>
              <a:ext cx="3240360" cy="2808312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Овал 13"/>
            <p:cNvSpPr/>
            <p:nvPr/>
          </p:nvSpPr>
          <p:spPr>
            <a:xfrm>
              <a:off x="4499992" y="1916832"/>
              <a:ext cx="144016" cy="144016"/>
            </a:xfrm>
            <a:prstGeom prst="ellipse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prstClr val="white"/>
                </a:solidFill>
              </a:endParaRPr>
            </a:p>
          </p:txBody>
        </p:sp>
        <p:sp>
          <p:nvSpPr>
            <p:cNvPr id="15" name="Овал 14"/>
            <p:cNvSpPr/>
            <p:nvPr/>
          </p:nvSpPr>
          <p:spPr>
            <a:xfrm>
              <a:off x="2339752" y="3356992"/>
              <a:ext cx="144016" cy="144016"/>
            </a:xfrm>
            <a:prstGeom prst="ellipse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prstClr val="white"/>
                </a:solidFill>
              </a:endParaRPr>
            </a:p>
          </p:txBody>
        </p:sp>
        <p:sp>
          <p:nvSpPr>
            <p:cNvPr id="16" name="Овал 15"/>
            <p:cNvSpPr/>
            <p:nvPr/>
          </p:nvSpPr>
          <p:spPr>
            <a:xfrm>
              <a:off x="5350471" y="2996952"/>
              <a:ext cx="144016" cy="144016"/>
            </a:xfrm>
            <a:prstGeom prst="ellipse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prstClr val="white"/>
                </a:solidFill>
              </a:endParaRPr>
            </a:p>
          </p:txBody>
        </p:sp>
        <p:sp>
          <p:nvSpPr>
            <p:cNvPr id="17" name="Овал 16"/>
            <p:cNvSpPr/>
            <p:nvPr/>
          </p:nvSpPr>
          <p:spPr>
            <a:xfrm>
              <a:off x="2123728" y="5805264"/>
              <a:ext cx="144016" cy="144016"/>
            </a:xfrm>
            <a:prstGeom prst="ellipse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prstClr val="white"/>
                </a:solidFill>
              </a:endParaRPr>
            </a:p>
          </p:txBody>
        </p:sp>
        <p:sp>
          <p:nvSpPr>
            <p:cNvPr id="18" name="Овал 17"/>
            <p:cNvSpPr/>
            <p:nvPr/>
          </p:nvSpPr>
          <p:spPr>
            <a:xfrm>
              <a:off x="5509408" y="5487724"/>
              <a:ext cx="144016" cy="144016"/>
            </a:xfrm>
            <a:prstGeom prst="ellipse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prstClr val="white"/>
                </a:solidFill>
              </a:endParaRPr>
            </a:p>
          </p:txBody>
        </p:sp>
      </p:grpSp>
      <p:sp>
        <p:nvSpPr>
          <p:cNvPr id="3" name="Прямоугольник 2"/>
          <p:cNvSpPr/>
          <p:nvPr/>
        </p:nvSpPr>
        <p:spPr>
          <a:xfrm>
            <a:off x="107504" y="863714"/>
            <a:ext cx="892899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err="1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Полносвязная</a:t>
            </a:r>
            <a:r>
              <a:rPr lang="ru-RU" sz="2800" b="1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топология</a:t>
            </a:r>
            <a:r>
              <a:rPr lang="ru-RU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(Full-Mesh Topology) - </a:t>
            </a:r>
            <a:r>
              <a:rPr lang="ru-RU" sz="28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каждое </a:t>
            </a:r>
            <a:r>
              <a:rPr lang="ru-RU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устройство связано со всеми </a:t>
            </a:r>
            <a:r>
              <a:rPr lang="ru-RU" sz="28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остальными.</a:t>
            </a:r>
          </a:p>
          <a:p>
            <a:r>
              <a:rPr lang="ru-RU" sz="28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Особенности топологии:</a:t>
            </a:r>
            <a:endParaRPr lang="en-US" sz="2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355600"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Является самой отказоустойчивой,</a:t>
            </a:r>
            <a:endParaRPr lang="en-US" sz="2800" dirty="0" smtClean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8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так </a:t>
            </a:r>
            <a:r>
              <a:rPr lang="ru-RU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как не зависит от других</a:t>
            </a:r>
            <a:r>
              <a:rPr lang="ru-RU" sz="28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indent="355600"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Каждое </a:t>
            </a:r>
            <a:r>
              <a:rPr lang="ru-RU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устройство </a:t>
            </a:r>
            <a:r>
              <a:rPr lang="ru-RU" sz="28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должно</a:t>
            </a:r>
            <a:endParaRPr lang="en-US" sz="2800" dirty="0" smtClean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8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иметь </a:t>
            </a:r>
            <a:r>
              <a:rPr lang="ru-RU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большое количество портов.</a:t>
            </a:r>
          </a:p>
          <a:p>
            <a:pPr indent="355600"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Добавлять </a:t>
            </a:r>
            <a:r>
              <a:rPr lang="ru-RU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новые </a:t>
            </a:r>
            <a:r>
              <a:rPr lang="ru-RU" sz="28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устройства</a:t>
            </a:r>
            <a:endParaRPr lang="en-US" sz="2800" dirty="0" smtClean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8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сложно </a:t>
            </a:r>
            <a:r>
              <a:rPr lang="ru-RU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 дорого</a:t>
            </a:r>
            <a:r>
              <a:rPr lang="ru-RU" sz="28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sz="2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1741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7504" y="0"/>
            <a:ext cx="8928992" cy="692696"/>
          </a:xfrm>
        </p:spPr>
        <p:txBody>
          <a:bodyPr>
            <a:normAutofit/>
          </a:bodyPr>
          <a:lstStyle/>
          <a:p>
            <a:r>
              <a:rPr lang="ru-RU" sz="3600" b="1" dirty="0">
                <a:latin typeface="Arial" panose="020B0604020202020204" pitchFamily="34" charset="0"/>
                <a:cs typeface="Arial" panose="020B0604020202020204" pitchFamily="34" charset="0"/>
              </a:rPr>
              <a:t>Топологии компьютерных сетей</a:t>
            </a:r>
            <a:endParaRPr lang="ru-RU" sz="3600" b="1" dirty="0"/>
          </a:p>
        </p:txBody>
      </p:sp>
      <p:cxnSp>
        <p:nvCxnSpPr>
          <p:cNvPr id="9" name="Прямая со стрелкой 8"/>
          <p:cNvCxnSpPr/>
          <p:nvPr/>
        </p:nvCxnSpPr>
        <p:spPr>
          <a:xfrm>
            <a:off x="8676456" y="6669360"/>
            <a:ext cx="36004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Группа 3"/>
          <p:cNvGrpSpPr/>
          <p:nvPr/>
        </p:nvGrpSpPr>
        <p:grpSpPr>
          <a:xfrm>
            <a:off x="5409715" y="2597501"/>
            <a:ext cx="3529696" cy="4032448"/>
            <a:chOff x="2123728" y="1916832"/>
            <a:chExt cx="3529696" cy="4032448"/>
          </a:xfrm>
        </p:grpSpPr>
        <p:cxnSp>
          <p:nvCxnSpPr>
            <p:cNvPr id="21" name="Прямая соединительная линия 20"/>
            <p:cNvCxnSpPr/>
            <p:nvPr/>
          </p:nvCxnSpPr>
          <p:spPr>
            <a:xfrm>
              <a:off x="4572000" y="1988840"/>
              <a:ext cx="864096" cy="108012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Прямая соединительная линия 23"/>
            <p:cNvCxnSpPr/>
            <p:nvPr/>
          </p:nvCxnSpPr>
          <p:spPr>
            <a:xfrm flipV="1">
              <a:off x="2195736" y="3399491"/>
              <a:ext cx="216024" cy="2477781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Прямая соединительная линия 25"/>
            <p:cNvCxnSpPr/>
            <p:nvPr/>
          </p:nvCxnSpPr>
          <p:spPr>
            <a:xfrm flipV="1">
              <a:off x="2195736" y="5559731"/>
              <a:ext cx="3384376" cy="317541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Прямая соединительная линия 27"/>
            <p:cNvCxnSpPr/>
            <p:nvPr/>
          </p:nvCxnSpPr>
          <p:spPr>
            <a:xfrm>
              <a:off x="4572000" y="1988840"/>
              <a:ext cx="1008112" cy="3570891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Прямая соединительная линия 28"/>
            <p:cNvCxnSpPr/>
            <p:nvPr/>
          </p:nvCxnSpPr>
          <p:spPr>
            <a:xfrm flipH="1">
              <a:off x="2411760" y="3068960"/>
              <a:ext cx="3024336" cy="36004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Прямая соединительная линия 29"/>
            <p:cNvCxnSpPr/>
            <p:nvPr/>
          </p:nvCxnSpPr>
          <p:spPr>
            <a:xfrm flipH="1" flipV="1">
              <a:off x="2411760" y="3429000"/>
              <a:ext cx="3168352" cy="2130732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Овал 31"/>
            <p:cNvSpPr/>
            <p:nvPr/>
          </p:nvSpPr>
          <p:spPr>
            <a:xfrm>
              <a:off x="4499992" y="1916832"/>
              <a:ext cx="144016" cy="144016"/>
            </a:xfrm>
            <a:prstGeom prst="ellipse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3" name="Овал 32"/>
            <p:cNvSpPr/>
            <p:nvPr/>
          </p:nvSpPr>
          <p:spPr>
            <a:xfrm>
              <a:off x="2339752" y="3356992"/>
              <a:ext cx="144016" cy="144016"/>
            </a:xfrm>
            <a:prstGeom prst="ellipse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4" name="Овал 33"/>
            <p:cNvSpPr/>
            <p:nvPr/>
          </p:nvSpPr>
          <p:spPr>
            <a:xfrm>
              <a:off x="5350471" y="2996952"/>
              <a:ext cx="144016" cy="144016"/>
            </a:xfrm>
            <a:prstGeom prst="ellipse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5" name="Овал 34"/>
            <p:cNvSpPr/>
            <p:nvPr/>
          </p:nvSpPr>
          <p:spPr>
            <a:xfrm>
              <a:off x="2123728" y="5805264"/>
              <a:ext cx="144016" cy="144016"/>
            </a:xfrm>
            <a:prstGeom prst="ellipse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Овал 35"/>
            <p:cNvSpPr/>
            <p:nvPr/>
          </p:nvSpPr>
          <p:spPr>
            <a:xfrm>
              <a:off x="5509408" y="5487724"/>
              <a:ext cx="144016" cy="144016"/>
            </a:xfrm>
            <a:prstGeom prst="ellipse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" name="Прямоугольник 2"/>
          <p:cNvSpPr/>
          <p:nvPr/>
        </p:nvSpPr>
        <p:spPr>
          <a:xfrm>
            <a:off x="107504" y="764704"/>
            <a:ext cx="8928992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Неполносвязная</a:t>
            </a:r>
            <a:r>
              <a:rPr lang="ru-R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топология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(Partial-Mesh Topology)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полносвязная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топология, из которой удалены редко используемые </a:t>
            </a:r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связи.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Для 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обмена данными между </a:t>
            </a:r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устройствами,</a:t>
            </a:r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не 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соединенными прямыми </a:t>
            </a:r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связями,</a:t>
            </a:r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используется 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передача </a:t>
            </a:r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через</a:t>
            </a:r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промежуточные 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узлы.</a:t>
            </a:r>
          </a:p>
        </p:txBody>
      </p:sp>
    </p:spTree>
    <p:extLst>
      <p:ext uri="{BB962C8B-B14F-4D97-AF65-F5344CB8AC3E}">
        <p14:creationId xmlns:p14="http://schemas.microsoft.com/office/powerpoint/2010/main" val="985677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0635" y="0"/>
            <a:ext cx="8935861" cy="692696"/>
          </a:xfrm>
        </p:spPr>
        <p:txBody>
          <a:bodyPr>
            <a:normAutofit/>
          </a:bodyPr>
          <a:lstStyle/>
          <a:p>
            <a:r>
              <a:rPr lang="ru-RU" sz="3600" b="1" dirty="0">
                <a:latin typeface="Arial" panose="020B0604020202020204" pitchFamily="34" charset="0"/>
                <a:cs typeface="Arial" panose="020B0604020202020204" pitchFamily="34" charset="0"/>
              </a:rPr>
              <a:t>Топологии компьютерных сетей</a:t>
            </a:r>
            <a:endParaRPr lang="ru-RU" sz="3600" b="1" dirty="0"/>
          </a:p>
        </p:txBody>
      </p:sp>
      <p:cxnSp>
        <p:nvCxnSpPr>
          <p:cNvPr id="8" name="Прямая со стрелкой 7"/>
          <p:cNvCxnSpPr/>
          <p:nvPr/>
        </p:nvCxnSpPr>
        <p:spPr>
          <a:xfrm>
            <a:off x="8676456" y="6669360"/>
            <a:ext cx="36004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Группа 2"/>
          <p:cNvGrpSpPr/>
          <p:nvPr/>
        </p:nvGrpSpPr>
        <p:grpSpPr>
          <a:xfrm>
            <a:off x="4493123" y="2954453"/>
            <a:ext cx="4405942" cy="3714907"/>
            <a:chOff x="2376328" y="1916832"/>
            <a:chExt cx="4405942" cy="3714907"/>
          </a:xfrm>
        </p:grpSpPr>
        <p:cxnSp>
          <p:nvCxnSpPr>
            <p:cNvPr id="15" name="Прямая соединительная линия 14"/>
            <p:cNvCxnSpPr/>
            <p:nvPr/>
          </p:nvCxnSpPr>
          <p:spPr>
            <a:xfrm>
              <a:off x="4572000" y="1988840"/>
              <a:ext cx="2160240" cy="144016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Прямая соединительная линия 15"/>
            <p:cNvCxnSpPr/>
            <p:nvPr/>
          </p:nvCxnSpPr>
          <p:spPr>
            <a:xfrm flipH="1">
              <a:off x="2411760" y="1988840"/>
              <a:ext cx="2160240" cy="144016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единительная линия 16"/>
            <p:cNvCxnSpPr/>
            <p:nvPr/>
          </p:nvCxnSpPr>
          <p:spPr>
            <a:xfrm flipH="1" flipV="1">
              <a:off x="2411760" y="3399491"/>
              <a:ext cx="1152128" cy="216024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Прямая соединительная линия 17"/>
            <p:cNvCxnSpPr/>
            <p:nvPr/>
          </p:nvCxnSpPr>
          <p:spPr>
            <a:xfrm flipV="1">
              <a:off x="5580112" y="3399491"/>
              <a:ext cx="1152128" cy="216024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Прямая соединительная линия 18"/>
            <p:cNvCxnSpPr/>
            <p:nvPr/>
          </p:nvCxnSpPr>
          <p:spPr>
            <a:xfrm>
              <a:off x="3563888" y="5559731"/>
              <a:ext cx="2016224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Овал 8"/>
            <p:cNvSpPr/>
            <p:nvPr/>
          </p:nvSpPr>
          <p:spPr>
            <a:xfrm>
              <a:off x="4499992" y="1916832"/>
              <a:ext cx="144016" cy="144016"/>
            </a:xfrm>
            <a:prstGeom prst="ellipse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Овал 9"/>
            <p:cNvSpPr/>
            <p:nvPr/>
          </p:nvSpPr>
          <p:spPr>
            <a:xfrm>
              <a:off x="2376328" y="3360883"/>
              <a:ext cx="144016" cy="144016"/>
            </a:xfrm>
            <a:prstGeom prst="ellipse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Овал 10"/>
            <p:cNvSpPr/>
            <p:nvPr/>
          </p:nvSpPr>
          <p:spPr>
            <a:xfrm>
              <a:off x="6638254" y="3360883"/>
              <a:ext cx="144016" cy="144016"/>
            </a:xfrm>
            <a:prstGeom prst="ellipse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Овал 11"/>
            <p:cNvSpPr/>
            <p:nvPr/>
          </p:nvSpPr>
          <p:spPr>
            <a:xfrm>
              <a:off x="3491880" y="5487723"/>
              <a:ext cx="144016" cy="144016"/>
            </a:xfrm>
            <a:prstGeom prst="ellipse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Овал 12"/>
            <p:cNvSpPr/>
            <p:nvPr/>
          </p:nvSpPr>
          <p:spPr>
            <a:xfrm>
              <a:off x="5508104" y="5487489"/>
              <a:ext cx="144016" cy="144016"/>
            </a:xfrm>
            <a:prstGeom prst="ellipse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4" name="Прямоугольник 3"/>
          <p:cNvSpPr/>
          <p:nvPr/>
        </p:nvSpPr>
        <p:spPr>
          <a:xfrm>
            <a:off x="100635" y="1116027"/>
            <a:ext cx="8928992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Кольцевая </a:t>
            </a:r>
            <a:r>
              <a:rPr lang="ru-R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топология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(Ring Topology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) - </a:t>
            </a:r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данные передаются 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по кольцу от одного устройства другому</a:t>
            </a:r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К</a:t>
            </a:r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аждое 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устройство </a:t>
            </a:r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подключается</a:t>
            </a:r>
          </a:p>
          <a:p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к 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2-ум </a:t>
            </a:r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соседним, создавая кольцо.</a:t>
            </a:r>
          </a:p>
          <a:p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Если 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где-то </a:t>
            </a:r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кабель</a:t>
            </a:r>
          </a:p>
          <a:p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повреждался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кольцо</a:t>
            </a:r>
          </a:p>
          <a:p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размыкается 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и </a:t>
            </a:r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сеть</a:t>
            </a:r>
          </a:p>
          <a:p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становится не</a:t>
            </a:r>
          </a:p>
          <a:p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работоспособной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640419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7504" y="0"/>
            <a:ext cx="8928992" cy="692696"/>
          </a:xfrm>
        </p:spPr>
        <p:txBody>
          <a:bodyPr>
            <a:normAutofit/>
          </a:bodyPr>
          <a:lstStyle/>
          <a:p>
            <a:r>
              <a:rPr lang="ru-RU" sz="3600" b="1" dirty="0">
                <a:latin typeface="Arial" panose="020B0604020202020204" pitchFamily="34" charset="0"/>
                <a:cs typeface="Arial" panose="020B0604020202020204" pitchFamily="34" charset="0"/>
              </a:rPr>
              <a:t>Топологии компьютерных сетей</a:t>
            </a:r>
            <a:endParaRPr lang="ru-RU" sz="3600" b="1" dirty="0"/>
          </a:p>
        </p:txBody>
      </p:sp>
      <p:cxnSp>
        <p:nvCxnSpPr>
          <p:cNvPr id="8" name="Прямая со стрелкой 7"/>
          <p:cNvCxnSpPr/>
          <p:nvPr/>
        </p:nvCxnSpPr>
        <p:spPr>
          <a:xfrm>
            <a:off x="8676456" y="6669360"/>
            <a:ext cx="36004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Группа 2"/>
          <p:cNvGrpSpPr/>
          <p:nvPr/>
        </p:nvGrpSpPr>
        <p:grpSpPr>
          <a:xfrm>
            <a:off x="4521016" y="2954453"/>
            <a:ext cx="4464496" cy="3714907"/>
            <a:chOff x="2339752" y="1916832"/>
            <a:chExt cx="4464496" cy="3714907"/>
          </a:xfrm>
        </p:grpSpPr>
        <p:cxnSp>
          <p:nvCxnSpPr>
            <p:cNvPr id="19" name="Прямая соединительная линия 18"/>
            <p:cNvCxnSpPr/>
            <p:nvPr/>
          </p:nvCxnSpPr>
          <p:spPr>
            <a:xfrm flipV="1">
              <a:off x="4572000" y="3429000"/>
              <a:ext cx="2160240" cy="432048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Прямая соединительная линия 19"/>
            <p:cNvCxnSpPr/>
            <p:nvPr/>
          </p:nvCxnSpPr>
          <p:spPr>
            <a:xfrm>
              <a:off x="4572000" y="3861048"/>
              <a:ext cx="1008112" cy="1698683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Прямая соединительная линия 20"/>
            <p:cNvCxnSpPr/>
            <p:nvPr/>
          </p:nvCxnSpPr>
          <p:spPr>
            <a:xfrm>
              <a:off x="4572000" y="1988840"/>
              <a:ext cx="0" cy="1872208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Прямая соединительная линия 21"/>
            <p:cNvCxnSpPr/>
            <p:nvPr/>
          </p:nvCxnSpPr>
          <p:spPr>
            <a:xfrm flipH="1" flipV="1">
              <a:off x="2411760" y="3429000"/>
              <a:ext cx="2160240" cy="432048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Прямая соединительная линия 22"/>
            <p:cNvCxnSpPr/>
            <p:nvPr/>
          </p:nvCxnSpPr>
          <p:spPr>
            <a:xfrm flipH="1">
              <a:off x="3563888" y="3861048"/>
              <a:ext cx="1008112" cy="1698683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Овал 8"/>
            <p:cNvSpPr/>
            <p:nvPr/>
          </p:nvSpPr>
          <p:spPr>
            <a:xfrm>
              <a:off x="4499992" y="3789040"/>
              <a:ext cx="144016" cy="144016"/>
            </a:xfrm>
            <a:prstGeom prst="ellipse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Овал 9"/>
            <p:cNvSpPr/>
            <p:nvPr/>
          </p:nvSpPr>
          <p:spPr>
            <a:xfrm>
              <a:off x="2339752" y="3356992"/>
              <a:ext cx="144016" cy="144016"/>
            </a:xfrm>
            <a:prstGeom prst="ellipse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Овал 10"/>
            <p:cNvSpPr/>
            <p:nvPr/>
          </p:nvSpPr>
          <p:spPr>
            <a:xfrm>
              <a:off x="6660232" y="3356992"/>
              <a:ext cx="144016" cy="144016"/>
            </a:xfrm>
            <a:prstGeom prst="ellipse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Овал 11"/>
            <p:cNvSpPr/>
            <p:nvPr/>
          </p:nvSpPr>
          <p:spPr>
            <a:xfrm>
              <a:off x="4499992" y="1916832"/>
              <a:ext cx="144016" cy="144016"/>
            </a:xfrm>
            <a:prstGeom prst="ellipse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Овал 12"/>
            <p:cNvSpPr/>
            <p:nvPr/>
          </p:nvSpPr>
          <p:spPr>
            <a:xfrm>
              <a:off x="3491880" y="5487723"/>
              <a:ext cx="144016" cy="144016"/>
            </a:xfrm>
            <a:prstGeom prst="ellipse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Овал 13"/>
            <p:cNvSpPr/>
            <p:nvPr/>
          </p:nvSpPr>
          <p:spPr>
            <a:xfrm>
              <a:off x="5507443" y="5487723"/>
              <a:ext cx="144016" cy="144016"/>
            </a:xfrm>
            <a:prstGeom prst="ellipse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4" name="Прямоугольник 3"/>
          <p:cNvSpPr/>
          <p:nvPr/>
        </p:nvSpPr>
        <p:spPr>
          <a:xfrm>
            <a:off x="98624" y="566742"/>
            <a:ext cx="8856984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Звездообразная </a:t>
            </a:r>
            <a:r>
              <a:rPr lang="ru-R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топология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Star Topology</a:t>
            </a:r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каждое 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устройство подключается к общему центральному устройству, направляющему информацию одному или всем остальным устройствам сети</a:t>
            </a:r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Используется 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в локальных </a:t>
            </a:r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сетях,</a:t>
            </a:r>
          </a:p>
          <a:p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когда 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к одному </a:t>
            </a:r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коммутатору</a:t>
            </a:r>
          </a:p>
          <a:p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подключаются 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несколько </a:t>
            </a:r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устройств,</a:t>
            </a:r>
          </a:p>
          <a:p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и 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он является посредником в передаче</a:t>
            </a:r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При </a:t>
            </a:r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обрыве какого-либо</a:t>
            </a:r>
          </a:p>
          <a:p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кабеля, выпадает 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из сети только </a:t>
            </a:r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одно</a:t>
            </a:r>
          </a:p>
          <a:p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у</a:t>
            </a:r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стройство, но 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если </a:t>
            </a:r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откажет</a:t>
            </a:r>
          </a:p>
          <a:p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центральное 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звено, сеть станет неработоспособной. </a:t>
            </a:r>
          </a:p>
        </p:txBody>
      </p:sp>
    </p:spTree>
    <p:extLst>
      <p:ext uri="{BB962C8B-B14F-4D97-AF65-F5344CB8AC3E}">
        <p14:creationId xmlns:p14="http://schemas.microsoft.com/office/powerpoint/2010/main" val="1412363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7504" y="0"/>
            <a:ext cx="8928992" cy="692696"/>
          </a:xfrm>
        </p:spPr>
        <p:txBody>
          <a:bodyPr>
            <a:normAutofit/>
          </a:bodyPr>
          <a:lstStyle/>
          <a:p>
            <a:r>
              <a:rPr lang="ru-RU" sz="3600" b="1" dirty="0">
                <a:latin typeface="Arial" panose="020B0604020202020204" pitchFamily="34" charset="0"/>
                <a:cs typeface="Arial" panose="020B0604020202020204" pitchFamily="34" charset="0"/>
              </a:rPr>
              <a:t>Топологии компьютерных сетей</a:t>
            </a:r>
            <a:endParaRPr lang="ru-RU" sz="3600" b="1" dirty="0"/>
          </a:p>
        </p:txBody>
      </p:sp>
      <p:cxnSp>
        <p:nvCxnSpPr>
          <p:cNvPr id="10" name="Прямая со стрелкой 9"/>
          <p:cNvCxnSpPr/>
          <p:nvPr/>
        </p:nvCxnSpPr>
        <p:spPr>
          <a:xfrm>
            <a:off x="8676456" y="6669360"/>
            <a:ext cx="36004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Группа 2"/>
          <p:cNvGrpSpPr/>
          <p:nvPr/>
        </p:nvGrpSpPr>
        <p:grpSpPr>
          <a:xfrm>
            <a:off x="3203848" y="3785835"/>
            <a:ext cx="5760640" cy="2880322"/>
            <a:chOff x="1691680" y="2276872"/>
            <a:chExt cx="5760640" cy="2880322"/>
          </a:xfrm>
        </p:grpSpPr>
        <p:cxnSp>
          <p:nvCxnSpPr>
            <p:cNvPr id="4" name="Прямая соединительная линия 3"/>
            <p:cNvCxnSpPr/>
            <p:nvPr/>
          </p:nvCxnSpPr>
          <p:spPr>
            <a:xfrm rot="10800000">
              <a:off x="1691680" y="3717032"/>
              <a:ext cx="5760640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Прямая соединительная линия 4"/>
            <p:cNvCxnSpPr/>
            <p:nvPr/>
          </p:nvCxnSpPr>
          <p:spPr>
            <a:xfrm rot="5400000">
              <a:off x="2015716" y="4401107"/>
              <a:ext cx="1368153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Прямая соединительная линия 19"/>
            <p:cNvCxnSpPr/>
            <p:nvPr/>
          </p:nvCxnSpPr>
          <p:spPr>
            <a:xfrm rot="5400000">
              <a:off x="3455876" y="4401109"/>
              <a:ext cx="1368153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Прямая соединительная линия 21"/>
            <p:cNvCxnSpPr/>
            <p:nvPr/>
          </p:nvCxnSpPr>
          <p:spPr>
            <a:xfrm rot="5400000">
              <a:off x="4968044" y="4401109"/>
              <a:ext cx="1368153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Прямая соединительная линия 25"/>
            <p:cNvCxnSpPr/>
            <p:nvPr/>
          </p:nvCxnSpPr>
          <p:spPr>
            <a:xfrm rot="16200000" flipV="1">
              <a:off x="2663789" y="3032956"/>
              <a:ext cx="1368151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Прямая соединительная линия 29"/>
            <p:cNvCxnSpPr/>
            <p:nvPr/>
          </p:nvCxnSpPr>
          <p:spPr>
            <a:xfrm rot="16200000" flipV="1">
              <a:off x="4247965" y="3032956"/>
              <a:ext cx="1368151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Прямая соединительная линия 32"/>
            <p:cNvCxnSpPr/>
            <p:nvPr/>
          </p:nvCxnSpPr>
          <p:spPr>
            <a:xfrm rot="16200000" flipV="1">
              <a:off x="5904149" y="3032956"/>
              <a:ext cx="1368151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Овал 10"/>
            <p:cNvSpPr/>
            <p:nvPr/>
          </p:nvSpPr>
          <p:spPr>
            <a:xfrm>
              <a:off x="3275856" y="2276872"/>
              <a:ext cx="144016" cy="144016"/>
            </a:xfrm>
            <a:prstGeom prst="ellipse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Овал 11"/>
            <p:cNvSpPr/>
            <p:nvPr/>
          </p:nvSpPr>
          <p:spPr>
            <a:xfrm>
              <a:off x="4860032" y="2276872"/>
              <a:ext cx="144016" cy="144016"/>
            </a:xfrm>
            <a:prstGeom prst="ellipse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Овал 12"/>
            <p:cNvSpPr/>
            <p:nvPr/>
          </p:nvSpPr>
          <p:spPr>
            <a:xfrm>
              <a:off x="6516217" y="2276872"/>
              <a:ext cx="144016" cy="144016"/>
            </a:xfrm>
            <a:prstGeom prst="ellipse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Овал 13"/>
            <p:cNvSpPr/>
            <p:nvPr/>
          </p:nvSpPr>
          <p:spPr>
            <a:xfrm>
              <a:off x="2629088" y="5013176"/>
              <a:ext cx="144016" cy="144016"/>
            </a:xfrm>
            <a:prstGeom prst="ellipse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Овал 14"/>
            <p:cNvSpPr/>
            <p:nvPr/>
          </p:nvSpPr>
          <p:spPr>
            <a:xfrm>
              <a:off x="4067944" y="5013178"/>
              <a:ext cx="144016" cy="144016"/>
            </a:xfrm>
            <a:prstGeom prst="ellipse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Овал 15"/>
            <p:cNvSpPr/>
            <p:nvPr/>
          </p:nvSpPr>
          <p:spPr>
            <a:xfrm>
              <a:off x="5580113" y="5013178"/>
              <a:ext cx="144016" cy="144016"/>
            </a:xfrm>
            <a:prstGeom prst="ellipse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6" name="Прямоугольник 5"/>
          <p:cNvSpPr/>
          <p:nvPr/>
        </p:nvSpPr>
        <p:spPr>
          <a:xfrm>
            <a:off x="107504" y="824791"/>
            <a:ext cx="8928992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Общая шина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Bus Topology)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устройства подключаются к общему кабелю и </a:t>
            </a:r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организуется локальная сеть.</a:t>
            </a:r>
          </a:p>
          <a:p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Преимущество </a:t>
            </a:r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- простота 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установки. С точки зрения работоспособности </a:t>
            </a:r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крайне не </a:t>
            </a:r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устойчивая.</a:t>
            </a:r>
          </a:p>
          <a:p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Если 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где-то в </a:t>
            </a:r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кабеле</a:t>
            </a:r>
          </a:p>
          <a:p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происходит 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разрыв, то </a:t>
            </a:r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вся</a:t>
            </a:r>
          </a:p>
          <a:p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сеть становится</a:t>
            </a:r>
          </a:p>
          <a:p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неработоспособной,</a:t>
            </a:r>
          </a:p>
          <a:p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до 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замены кабеля.</a:t>
            </a:r>
          </a:p>
        </p:txBody>
      </p:sp>
    </p:spTree>
    <p:extLst>
      <p:ext uri="{BB962C8B-B14F-4D97-AF65-F5344CB8AC3E}">
        <p14:creationId xmlns:p14="http://schemas.microsoft.com/office/powerpoint/2010/main" val="352643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07504" y="0"/>
            <a:ext cx="8928992" cy="692696"/>
          </a:xfrm>
        </p:spPr>
        <p:txBody>
          <a:bodyPr>
            <a:normAutofit/>
          </a:bodyPr>
          <a:lstStyle/>
          <a:p>
            <a:r>
              <a:rPr lang="ru-RU" altLang="ru-RU" sz="3600" b="1" dirty="0">
                <a:latin typeface="Arial" panose="020B0604020202020204" pitchFamily="34" charset="0"/>
                <a:cs typeface="Arial" panose="020B0604020202020204" pitchFamily="34" charset="0"/>
              </a:rPr>
              <a:t>Адресация сетевых устройств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107504" y="1196752"/>
            <a:ext cx="8928992" cy="4896543"/>
          </a:xfrm>
        </p:spPr>
        <p:txBody>
          <a:bodyPr>
            <a:normAutofit/>
          </a:bodyPr>
          <a:lstStyle/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Чтобы было возможным посылать данные сетевым устройствам, они должны иметь </a:t>
            </a:r>
            <a:r>
              <a:rPr lang="ru-RU" altLang="ru-R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адрес</a:t>
            </a:r>
            <a:r>
              <a:rPr lang="ru-RU" alt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ru-RU" altLang="ru-RU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ru-RU" alt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ru-RU" alt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К 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сетевым адресам существует ряд требований: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•	</a:t>
            </a:r>
            <a:r>
              <a:rPr lang="ru-RU" alt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уникальность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– несколько устройств не должны иметь одинаковый адрес;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•	</a:t>
            </a:r>
            <a:r>
              <a:rPr lang="ru-RU" alt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иерархичность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– адреса должны позволять группировать устройства в глобальную иерархию;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•	</a:t>
            </a:r>
            <a:r>
              <a:rPr lang="ru-RU" alt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компактность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lang="ru-RU" alt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простота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в </a:t>
            </a:r>
            <a:r>
              <a:rPr lang="ru-RU" alt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запоминании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•	</a:t>
            </a:r>
            <a:r>
              <a:rPr lang="ru-RU" alt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удобство администрирования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– минимизация труда администратора по управлению адресами</a:t>
            </a:r>
            <a:r>
              <a:rPr lang="ru-RU" alt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alt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1769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07504" y="0"/>
            <a:ext cx="8928992" cy="692696"/>
          </a:xfrm>
        </p:spPr>
        <p:txBody>
          <a:bodyPr>
            <a:normAutofit/>
          </a:bodyPr>
          <a:lstStyle/>
          <a:p>
            <a:r>
              <a:rPr lang="ru-RU" altLang="ru-RU" sz="3600" b="1" dirty="0">
                <a:latin typeface="Arial" panose="020B0604020202020204" pitchFamily="34" charset="0"/>
                <a:cs typeface="Arial" panose="020B0604020202020204" pitchFamily="34" charset="0"/>
              </a:rPr>
              <a:t>Адресация сетевых устройств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>
          <a:xfrm>
            <a:off x="107950" y="908050"/>
            <a:ext cx="8928100" cy="5761038"/>
          </a:xfrm>
        </p:spPr>
        <p:txBody>
          <a:bodyPr/>
          <a:lstStyle/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ru-RU" altLang="ru-RU" sz="2800" dirty="0" smtClean="0">
                <a:latin typeface="Arial" charset="0"/>
                <a:cs typeface="Arial" charset="0"/>
              </a:rPr>
              <a:t>Существует несколько типов сетевых адресов:</a:t>
            </a: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endParaRPr lang="ru-RU" altLang="ru-RU" sz="2800" dirty="0" smtClean="0">
              <a:latin typeface="Arial" charset="0"/>
              <a:cs typeface="Arial" charset="0"/>
            </a:endParaRPr>
          </a:p>
          <a:p>
            <a:pPr marL="0" indent="0">
              <a:lnSpc>
                <a:spcPct val="80000"/>
              </a:lnSpc>
              <a:buFont typeface="Wingdings" pitchFamily="2" charset="2"/>
              <a:buNone/>
              <a:tabLst>
                <a:tab pos="355600" algn="l"/>
              </a:tabLst>
            </a:pPr>
            <a:r>
              <a:rPr lang="ru-RU" altLang="ru-RU" sz="2800" dirty="0" smtClean="0">
                <a:latin typeface="Arial" charset="0"/>
                <a:cs typeface="Arial" charset="0"/>
              </a:rPr>
              <a:t>•	</a:t>
            </a:r>
            <a:r>
              <a:rPr lang="ru-RU" altLang="ru-RU" sz="2800" b="1" dirty="0" smtClean="0">
                <a:latin typeface="Arial" charset="0"/>
                <a:cs typeface="Arial" charset="0"/>
              </a:rPr>
              <a:t>Аппаратный (физический) адрес (MAC-адрес) </a:t>
            </a:r>
            <a:r>
              <a:rPr lang="ru-RU" altLang="ru-RU" sz="2800" dirty="0" smtClean="0">
                <a:latin typeface="Arial" charset="0"/>
                <a:cs typeface="Arial" charset="0"/>
              </a:rPr>
              <a:t>- предназначен для адресации сетевых устройств в рамках локальной сети.</a:t>
            </a: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ru-RU" altLang="ru-RU" sz="2800" dirty="0" smtClean="0">
                <a:latin typeface="Arial" charset="0"/>
                <a:cs typeface="Arial" charset="0"/>
              </a:rPr>
              <a:t>В сетях </a:t>
            </a:r>
            <a:r>
              <a:rPr lang="ru-RU" altLang="ru-RU" sz="2800" dirty="0" err="1" smtClean="0">
                <a:latin typeface="Arial" charset="0"/>
                <a:cs typeface="Arial" charset="0"/>
              </a:rPr>
              <a:t>Ethernet</a:t>
            </a:r>
            <a:r>
              <a:rPr lang="ru-RU" altLang="ru-RU" sz="2800" dirty="0" smtClean="0">
                <a:latin typeface="Arial" charset="0"/>
                <a:cs typeface="Arial" charset="0"/>
              </a:rPr>
              <a:t> это MAC-адрес сетевого адаптера. MAC-адрес жестко “зашивается” в сетевую карту ее производителем и обычно записывается в виде 12 шестнадцатеричных символов, разделённых знаками «минус» или «двоеточие» и занимает шесть байт.</a:t>
            </a: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ru-RU" altLang="ru-RU" sz="2800" dirty="0" smtClean="0">
                <a:latin typeface="Arial" charset="0"/>
                <a:cs typeface="Arial" charset="0"/>
              </a:rPr>
              <a:t>Каждый символ может принимать значения от 0 до F.</a:t>
            </a: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endParaRPr lang="ru-RU" altLang="ru-RU" sz="2800" dirty="0" smtClean="0">
              <a:latin typeface="Arial" charset="0"/>
              <a:cs typeface="Arial" charset="0"/>
            </a:endParaRP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en-US" altLang="ru-RU" sz="2800" dirty="0" smtClean="0">
                <a:latin typeface="Arial" charset="0"/>
                <a:cs typeface="Arial" charset="0"/>
              </a:rPr>
              <a:t>00-B3-CF-34-4E-11</a:t>
            </a:r>
            <a:endParaRPr lang="ru-RU" altLang="ru-RU" sz="2800" dirty="0" smtClean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6651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07504" y="0"/>
            <a:ext cx="8928992" cy="692696"/>
          </a:xfrm>
        </p:spPr>
        <p:txBody>
          <a:bodyPr>
            <a:normAutofit/>
          </a:bodyPr>
          <a:lstStyle/>
          <a:p>
            <a:r>
              <a:rPr lang="ru-RU" altLang="ru-RU" sz="3600" b="1" dirty="0">
                <a:latin typeface="Arial" panose="020B0604020202020204" pitchFamily="34" charset="0"/>
                <a:cs typeface="Arial" panose="020B0604020202020204" pitchFamily="34" charset="0"/>
              </a:rPr>
              <a:t>Адресация сетевых устройств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107504" y="1052736"/>
            <a:ext cx="8928992" cy="5256584"/>
          </a:xfrm>
        </p:spPr>
        <p:txBody>
          <a:bodyPr>
            <a:normAutofit/>
          </a:bodyPr>
          <a:lstStyle/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Существует несколько типов сетевых адресов</a:t>
            </a:r>
            <a:r>
              <a:rPr lang="ru-RU" alt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endParaRPr lang="ru-RU" alt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80000"/>
              </a:lnSpc>
              <a:buFont typeface="Wingdings" pitchFamily="2" charset="2"/>
              <a:buNone/>
              <a:tabLst>
                <a:tab pos="355600" algn="l"/>
              </a:tabLst>
            </a:pP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•	</a:t>
            </a:r>
            <a:r>
              <a:rPr lang="ru-RU" altLang="ru-R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Числовой составной (сетевой) адрес (</a:t>
            </a:r>
            <a:r>
              <a:rPr lang="ru-RU" alt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IP-адрес</a:t>
            </a:r>
            <a:r>
              <a:rPr lang="ru-RU" altLang="ru-R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ru-RU" alt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- используется 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для идентификации устройств в глобальной </a:t>
            </a:r>
            <a:r>
              <a:rPr lang="ru-RU" alt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сети.</a:t>
            </a: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ru-RU" alt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Состоит 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из четырёх байт, записанных в десятичном виде и разделённых </a:t>
            </a:r>
            <a:r>
              <a:rPr lang="ru-RU" alt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точкой.</a:t>
            </a: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ru-RU" alt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Каждая из четырех частей 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может принимать значения от 0 до </a:t>
            </a:r>
            <a:r>
              <a:rPr lang="ru-RU" alt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255.</a:t>
            </a: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ru-RU" alt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Часть 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байт отводится под номер сети, остальные – под номер узла в сети</a:t>
            </a:r>
            <a:r>
              <a:rPr lang="ru-RU" alt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endParaRPr lang="ru-RU" altLang="ru-RU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ru-RU" alt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195.210.208.123</a:t>
            </a:r>
            <a:endParaRPr lang="ru-RU" alt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7778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07504" y="0"/>
            <a:ext cx="8928992" cy="692696"/>
          </a:xfrm>
        </p:spPr>
        <p:txBody>
          <a:bodyPr>
            <a:normAutofit/>
          </a:bodyPr>
          <a:lstStyle/>
          <a:p>
            <a:r>
              <a:rPr lang="ru-RU" altLang="ru-RU" sz="3600" b="1" dirty="0">
                <a:latin typeface="Arial" panose="020B0604020202020204" pitchFamily="34" charset="0"/>
                <a:cs typeface="Arial" panose="020B0604020202020204" pitchFamily="34" charset="0"/>
              </a:rPr>
              <a:t>Адресация сетевых устройств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107504" y="908720"/>
            <a:ext cx="8928992" cy="5760640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Существует несколько типов сетевых адресов</a:t>
            </a:r>
            <a:r>
              <a:rPr lang="ru-RU" alt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endParaRPr lang="ru-RU" alt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80000"/>
              </a:lnSpc>
              <a:buNone/>
              <a:tabLst>
                <a:tab pos="355600" algn="l"/>
              </a:tabLst>
            </a:pP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•	</a:t>
            </a:r>
            <a:r>
              <a:rPr lang="ru-RU" altLang="ru-R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Символьный адрес</a:t>
            </a:r>
            <a:r>
              <a:rPr lang="ru-RU" alt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(обычное 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имя компьютера или полное доменное имя</a:t>
            </a:r>
            <a:r>
              <a:rPr lang="ru-RU" alt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) - предназначены 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для упрощения запоминания сетевых адресов человеком</a:t>
            </a:r>
            <a:r>
              <a:rPr lang="ru-RU" alt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ru-RU" alt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Это 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более удобное и понятное для человека обозначение компьютера в сети.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Доменное имя </a:t>
            </a:r>
            <a:r>
              <a:rPr lang="ru-RU" alt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состоит 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из трех </a:t>
            </a:r>
            <a:r>
              <a:rPr lang="ru-RU" alt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составляющих:</a:t>
            </a:r>
          </a:p>
          <a:p>
            <a:pPr marL="0" indent="355600">
              <a:lnSpc>
                <a:spcPct val="80000"/>
              </a:lnSpc>
              <a:buNone/>
            </a:pPr>
            <a:r>
              <a:rPr lang="ru-RU" alt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- первая 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часть – имя хоста </a:t>
            </a:r>
            <a:r>
              <a:rPr lang="ru-RU" alt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rasp</a:t>
            </a:r>
            <a:r>
              <a:rPr lang="ru-RU" alt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),</a:t>
            </a:r>
          </a:p>
          <a:p>
            <a:pPr marL="0" indent="355600">
              <a:lnSpc>
                <a:spcPct val="80000"/>
              </a:lnSpc>
              <a:buNone/>
            </a:pPr>
            <a:r>
              <a:rPr lang="ru-RU" alt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- вторая 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– имя домена компании </a:t>
            </a:r>
            <a:r>
              <a:rPr lang="ru-RU" alt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tpu</a:t>
            </a:r>
            <a:r>
              <a:rPr lang="ru-RU" alt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),</a:t>
            </a:r>
          </a:p>
          <a:p>
            <a:pPr marL="0" indent="355600">
              <a:lnSpc>
                <a:spcPct val="80000"/>
              </a:lnSpc>
              <a:buNone/>
            </a:pPr>
            <a:r>
              <a:rPr lang="ru-RU" alt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- последняя 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– имя домена страны (например, </a:t>
            </a:r>
            <a:r>
              <a:rPr lang="ru-RU" altLang="ru-RU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ru</a:t>
            </a:r>
            <a:r>
              <a:rPr lang="ru-RU" alt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altLang="ru-RU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рф</a:t>
            </a:r>
            <a:r>
              <a:rPr lang="ru-RU" alt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– Россия) или имя одного из специальных </a:t>
            </a:r>
            <a:r>
              <a:rPr lang="ru-RU" alt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доменов  (например, </a:t>
            </a:r>
            <a:r>
              <a:rPr lang="ru-RU" altLang="ru-RU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com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alt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gov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altLang="ru-RU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edu</a:t>
            </a:r>
            <a:r>
              <a:rPr lang="ru-RU" alt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ru-RU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tv</a:t>
            </a:r>
            <a:r>
              <a:rPr lang="ru-RU" alt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endParaRPr lang="en-US" altLang="ru-RU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en-US" alt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rasp.tpu.ru</a:t>
            </a:r>
            <a:endParaRPr lang="en-US" alt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7778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07504" y="0"/>
            <a:ext cx="8928992" cy="692696"/>
          </a:xfrm>
        </p:spPr>
        <p:txBody>
          <a:bodyPr>
            <a:normAutofit/>
          </a:bodyPr>
          <a:lstStyle/>
          <a:p>
            <a:r>
              <a:rPr lang="ru-RU" altLang="ru-RU" sz="3600" b="1" dirty="0">
                <a:latin typeface="Arial" panose="020B0604020202020204" pitchFamily="34" charset="0"/>
                <a:cs typeface="Arial" panose="020B0604020202020204" pitchFamily="34" charset="0"/>
              </a:rPr>
              <a:t>Сетевые модели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107504" y="908720"/>
            <a:ext cx="8928992" cy="5616624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Задача по обеспечению передачи информации через сеть достаточно сложна, поэтому её разбивают на более простые </a:t>
            </a:r>
            <a:r>
              <a:rPr lang="ru-RU" alt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задачи.</a:t>
            </a: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endParaRPr lang="ru-RU" alt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ru-RU" alt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Все 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задачи выстраиваются в виде иерархии, каждый уровень которой взаимодействует только с </a:t>
            </a:r>
            <a:r>
              <a:rPr lang="ru-RU" alt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соседними.</a:t>
            </a: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endParaRPr lang="ru-RU" altLang="ru-RU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ru-RU" alt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Компоненты 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такой многоуровневой модели следующие:</a:t>
            </a:r>
          </a:p>
          <a:p>
            <a:pPr marL="0" indent="0">
              <a:lnSpc>
                <a:spcPct val="80000"/>
              </a:lnSpc>
              <a:buFont typeface="Wingdings" pitchFamily="2" charset="2"/>
              <a:buNone/>
              <a:tabLst>
                <a:tab pos="355600" algn="l"/>
              </a:tabLst>
            </a:pP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•	</a:t>
            </a:r>
            <a:r>
              <a:rPr lang="ru-RU" alt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Интерфейс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– это услуги, которые один уровень предоставляет другому.</a:t>
            </a:r>
          </a:p>
          <a:p>
            <a:pPr marL="0" indent="0">
              <a:lnSpc>
                <a:spcPct val="80000"/>
              </a:lnSpc>
              <a:buFont typeface="Wingdings" pitchFamily="2" charset="2"/>
              <a:buNone/>
              <a:tabLst>
                <a:tab pos="355600" algn="l"/>
              </a:tabLst>
            </a:pP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•	</a:t>
            </a:r>
            <a:r>
              <a:rPr lang="ru-RU" alt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Протокол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– это функции для взаимодействия с другой стороной, расположенной на том же уровне.</a:t>
            </a:r>
          </a:p>
          <a:p>
            <a:pPr marL="0" indent="0">
              <a:lnSpc>
                <a:spcPct val="80000"/>
              </a:lnSpc>
              <a:buFont typeface="Wingdings" pitchFamily="2" charset="2"/>
              <a:buNone/>
              <a:tabLst>
                <a:tab pos="355600" algn="l"/>
              </a:tabLst>
            </a:pP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•	</a:t>
            </a:r>
            <a:r>
              <a:rPr lang="ru-RU" alt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Стек протоколов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– это набор протоколов, достаточный для взаимодействия узлов в сети.</a:t>
            </a:r>
          </a:p>
        </p:txBody>
      </p:sp>
    </p:spTree>
    <p:extLst>
      <p:ext uri="{BB962C8B-B14F-4D97-AF65-F5344CB8AC3E}">
        <p14:creationId xmlns:p14="http://schemas.microsoft.com/office/powerpoint/2010/main" val="197604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/>
          <p:cNvSpPr/>
          <p:nvPr/>
        </p:nvSpPr>
        <p:spPr>
          <a:xfrm>
            <a:off x="0" y="4787998"/>
            <a:ext cx="9144000" cy="172819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8990" y="2060846"/>
            <a:ext cx="9144000" cy="172819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07504" y="0"/>
            <a:ext cx="8928992" cy="692696"/>
          </a:xfrm>
        </p:spPr>
        <p:txBody>
          <a:bodyPr>
            <a:normAutofit/>
          </a:bodyPr>
          <a:lstStyle/>
          <a:p>
            <a:r>
              <a:rPr lang="ru-RU" altLang="ru-RU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Сетевые </a:t>
            </a:r>
            <a:r>
              <a:rPr lang="ru-RU" altLang="ru-RU" sz="3600" b="1" dirty="0">
                <a:latin typeface="Arial" panose="020B0604020202020204" pitchFamily="34" charset="0"/>
                <a:cs typeface="Arial" panose="020B0604020202020204" pitchFamily="34" charset="0"/>
              </a:rPr>
              <a:t>модели</a:t>
            </a:r>
          </a:p>
        </p:txBody>
      </p:sp>
      <p:sp>
        <p:nvSpPr>
          <p:cNvPr id="25604" name="AutoShape 4"/>
          <p:cNvSpPr>
            <a:spLocks noChangeArrowheads="1"/>
          </p:cNvSpPr>
          <p:nvPr/>
        </p:nvSpPr>
        <p:spPr bwMode="auto">
          <a:xfrm>
            <a:off x="1904481" y="2727699"/>
            <a:ext cx="1449062" cy="511387"/>
          </a:xfrm>
          <a:prstGeom prst="roundRect">
            <a:avLst>
              <a:gd name="adj" fmla="val 16667"/>
            </a:avLst>
          </a:prstGeom>
          <a:solidFill>
            <a:schemeClr val="accent6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ru-RU"/>
          </a:p>
        </p:txBody>
      </p:sp>
      <p:sp>
        <p:nvSpPr>
          <p:cNvPr id="25605" name="AutoShape 5"/>
          <p:cNvSpPr>
            <a:spLocks noChangeArrowheads="1"/>
          </p:cNvSpPr>
          <p:nvPr/>
        </p:nvSpPr>
        <p:spPr bwMode="auto">
          <a:xfrm>
            <a:off x="5433983" y="2727699"/>
            <a:ext cx="1449062" cy="511387"/>
          </a:xfrm>
          <a:prstGeom prst="roundRect">
            <a:avLst>
              <a:gd name="adj" fmla="val 16667"/>
            </a:avLst>
          </a:prstGeom>
          <a:solidFill>
            <a:schemeClr val="accent6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ru-RU"/>
          </a:p>
        </p:txBody>
      </p:sp>
      <p:sp>
        <p:nvSpPr>
          <p:cNvPr id="25606" name="AutoShape 6"/>
          <p:cNvSpPr>
            <a:spLocks noChangeArrowheads="1"/>
          </p:cNvSpPr>
          <p:nvPr/>
        </p:nvSpPr>
        <p:spPr bwMode="auto">
          <a:xfrm>
            <a:off x="3363894" y="2727700"/>
            <a:ext cx="2070089" cy="511386"/>
          </a:xfrm>
          <a:prstGeom prst="leftRightArrow">
            <a:avLst>
              <a:gd name="adj1" fmla="val 63495"/>
              <a:gd name="adj2" fmla="val 85106"/>
            </a:avLst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ru-RU" altLang="ru-RU" dirty="0"/>
              <a:t>Протокол</a:t>
            </a:r>
          </a:p>
        </p:txBody>
      </p:sp>
      <p:sp>
        <p:nvSpPr>
          <p:cNvPr id="25609" name="AutoShape 9"/>
          <p:cNvSpPr>
            <a:spLocks noChangeArrowheads="1"/>
          </p:cNvSpPr>
          <p:nvPr/>
        </p:nvSpPr>
        <p:spPr bwMode="auto">
          <a:xfrm rot="16200000">
            <a:off x="-180526" y="2655830"/>
            <a:ext cx="1728192" cy="538223"/>
          </a:xfrm>
          <a:prstGeom prst="roundRect">
            <a:avLst>
              <a:gd name="adj" fmla="val 16667"/>
            </a:avLst>
          </a:prstGeom>
          <a:noFill/>
          <a:ln w="9525">
            <a:noFill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 sz="2400" dirty="0"/>
              <a:t>Уровень 1</a:t>
            </a:r>
          </a:p>
        </p:txBody>
      </p:sp>
      <p:sp>
        <p:nvSpPr>
          <p:cNvPr id="25612" name="AutoShape 12"/>
          <p:cNvSpPr>
            <a:spLocks noChangeArrowheads="1"/>
          </p:cNvSpPr>
          <p:nvPr/>
        </p:nvSpPr>
        <p:spPr bwMode="auto">
          <a:xfrm>
            <a:off x="1904481" y="5396400"/>
            <a:ext cx="1449062" cy="511387"/>
          </a:xfrm>
          <a:prstGeom prst="roundRect">
            <a:avLst>
              <a:gd name="adj" fmla="val 16667"/>
            </a:avLst>
          </a:prstGeom>
          <a:solidFill>
            <a:schemeClr val="accent5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ru-RU"/>
          </a:p>
        </p:txBody>
      </p:sp>
      <p:sp>
        <p:nvSpPr>
          <p:cNvPr id="25613" name="AutoShape 13"/>
          <p:cNvSpPr>
            <a:spLocks noChangeArrowheads="1"/>
          </p:cNvSpPr>
          <p:nvPr/>
        </p:nvSpPr>
        <p:spPr bwMode="auto">
          <a:xfrm>
            <a:off x="5433983" y="5396400"/>
            <a:ext cx="1449062" cy="511387"/>
          </a:xfrm>
          <a:prstGeom prst="roundRect">
            <a:avLst>
              <a:gd name="adj" fmla="val 16667"/>
            </a:avLst>
          </a:prstGeom>
          <a:solidFill>
            <a:schemeClr val="accent5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ru-RU"/>
          </a:p>
        </p:txBody>
      </p:sp>
      <p:sp>
        <p:nvSpPr>
          <p:cNvPr id="25617" name="AutoShape 17"/>
          <p:cNvSpPr>
            <a:spLocks noChangeArrowheads="1"/>
          </p:cNvSpPr>
          <p:nvPr/>
        </p:nvSpPr>
        <p:spPr bwMode="auto">
          <a:xfrm rot="16200000">
            <a:off x="-180525" y="5382979"/>
            <a:ext cx="1728192" cy="538223"/>
          </a:xfrm>
          <a:prstGeom prst="roundRect">
            <a:avLst>
              <a:gd name="adj" fmla="val 16667"/>
            </a:avLst>
          </a:prstGeom>
          <a:noFill/>
          <a:ln w="9525">
            <a:noFill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 sz="2400" dirty="0"/>
              <a:t>Уровень 2</a:t>
            </a:r>
          </a:p>
        </p:txBody>
      </p:sp>
      <p:sp>
        <p:nvSpPr>
          <p:cNvPr id="25618" name="AutoShape 18"/>
          <p:cNvSpPr>
            <a:spLocks noChangeArrowheads="1"/>
          </p:cNvSpPr>
          <p:nvPr/>
        </p:nvSpPr>
        <p:spPr bwMode="auto">
          <a:xfrm rot="16200000">
            <a:off x="1552814" y="3982204"/>
            <a:ext cx="2152398" cy="666161"/>
          </a:xfrm>
          <a:prstGeom prst="leftRightArrow">
            <a:avLst>
              <a:gd name="adj1" fmla="val 66342"/>
              <a:gd name="adj2" fmla="val 61569"/>
            </a:avLst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ru-RU" altLang="ru-RU" sz="2000" dirty="0">
                <a:solidFill>
                  <a:schemeClr val="bg1"/>
                </a:solidFill>
              </a:rPr>
              <a:t>И</a:t>
            </a:r>
            <a:r>
              <a:rPr lang="ru-RU" altLang="ru-RU" sz="2000" dirty="0" smtClean="0">
                <a:solidFill>
                  <a:schemeClr val="bg1"/>
                </a:solidFill>
              </a:rPr>
              <a:t>нтерфейс</a:t>
            </a:r>
            <a:endParaRPr lang="ru-RU" altLang="ru-RU" sz="2000" dirty="0">
              <a:solidFill>
                <a:schemeClr val="bg1"/>
              </a:solidFill>
            </a:endParaRPr>
          </a:p>
        </p:txBody>
      </p:sp>
      <p:sp>
        <p:nvSpPr>
          <p:cNvPr id="25619" name="AutoShape 19"/>
          <p:cNvSpPr>
            <a:spLocks noChangeArrowheads="1"/>
          </p:cNvSpPr>
          <p:nvPr/>
        </p:nvSpPr>
        <p:spPr bwMode="auto">
          <a:xfrm rot="16200000">
            <a:off x="5087233" y="3994114"/>
            <a:ext cx="2142562" cy="642340"/>
          </a:xfrm>
          <a:prstGeom prst="leftRightArrow">
            <a:avLst>
              <a:gd name="adj1" fmla="val 63074"/>
              <a:gd name="adj2" fmla="val 61569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ru-RU" altLang="ru-RU" sz="2000" dirty="0" smtClean="0">
                <a:solidFill>
                  <a:schemeClr val="bg1"/>
                </a:solidFill>
              </a:rPr>
              <a:t>Интерфейс</a:t>
            </a:r>
            <a:endParaRPr lang="ru-RU" altLang="ru-RU" sz="2000" dirty="0">
              <a:solidFill>
                <a:schemeClr val="bg1"/>
              </a:solidFill>
            </a:endParaRPr>
          </a:p>
        </p:txBody>
      </p:sp>
      <p:sp>
        <p:nvSpPr>
          <p:cNvPr id="25621" name="AutoShape 21"/>
          <p:cNvSpPr>
            <a:spLocks noChangeArrowheads="1"/>
          </p:cNvSpPr>
          <p:nvPr/>
        </p:nvSpPr>
        <p:spPr bwMode="auto">
          <a:xfrm>
            <a:off x="3353543" y="5396401"/>
            <a:ext cx="2070089" cy="511386"/>
          </a:xfrm>
          <a:prstGeom prst="leftRightArrow">
            <a:avLst>
              <a:gd name="adj1" fmla="val 63495"/>
              <a:gd name="adj2" fmla="val 85106"/>
            </a:avLst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ru-RU" altLang="ru-RU" dirty="0"/>
              <a:t>Протокол</a:t>
            </a:r>
          </a:p>
        </p:txBody>
      </p:sp>
    </p:spTree>
    <p:extLst>
      <p:ext uri="{BB962C8B-B14F-4D97-AF65-F5344CB8AC3E}">
        <p14:creationId xmlns:p14="http://schemas.microsoft.com/office/powerpoint/2010/main" val="1036218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652936" y="2348880"/>
            <a:ext cx="3888008" cy="504056"/>
          </a:xfrm>
          <a:prstGeom prst="rect">
            <a:avLst/>
          </a:prstGeom>
          <a:solidFill>
            <a:srgbClr val="FF99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 smtClean="0">
                <a:solidFill>
                  <a:schemeClr val="tx1"/>
                </a:solidFill>
              </a:rPr>
              <a:t>Прикладной уровень</a:t>
            </a:r>
            <a:endParaRPr lang="ru-RU" sz="2400" dirty="0">
              <a:solidFill>
                <a:schemeClr val="tx1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2627784" y="2996952"/>
            <a:ext cx="3888008" cy="504056"/>
          </a:xfrm>
          <a:prstGeom prst="rect">
            <a:avLst/>
          </a:prstGeom>
          <a:solidFill>
            <a:srgbClr val="FFCC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 smtClean="0">
                <a:solidFill>
                  <a:schemeClr val="tx1"/>
                </a:solidFill>
              </a:rPr>
              <a:t>Уровень представления</a:t>
            </a:r>
            <a:endParaRPr lang="ru-RU" sz="2400" dirty="0">
              <a:solidFill>
                <a:schemeClr val="tx1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627784" y="3645024"/>
            <a:ext cx="3888008" cy="504056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 smtClean="0">
                <a:solidFill>
                  <a:schemeClr val="tx1"/>
                </a:solidFill>
              </a:rPr>
              <a:t>Сеансовый уровень</a:t>
            </a:r>
            <a:endParaRPr lang="ru-RU" sz="2400" dirty="0">
              <a:solidFill>
                <a:schemeClr val="tx1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2630644" y="4290484"/>
            <a:ext cx="3888008" cy="504056"/>
          </a:xfrm>
          <a:prstGeom prst="rect">
            <a:avLst/>
          </a:prstGeom>
          <a:solidFill>
            <a:srgbClr val="99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 smtClean="0">
                <a:solidFill>
                  <a:schemeClr val="tx1"/>
                </a:solidFill>
              </a:rPr>
              <a:t>Транспортный уровень</a:t>
            </a:r>
            <a:endParaRPr lang="ru-RU" sz="2400" dirty="0">
              <a:solidFill>
                <a:schemeClr val="tx1"/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2627784" y="4941168"/>
            <a:ext cx="3888008" cy="504056"/>
          </a:xfrm>
          <a:prstGeom prst="rect">
            <a:avLst/>
          </a:prstGeom>
          <a:solidFill>
            <a:srgbClr val="66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 smtClean="0">
                <a:solidFill>
                  <a:schemeClr val="tx1"/>
                </a:solidFill>
              </a:rPr>
              <a:t>Сетевой уровень</a:t>
            </a:r>
            <a:endParaRPr lang="ru-RU" sz="2400" dirty="0">
              <a:solidFill>
                <a:schemeClr val="tx1"/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2630644" y="5589240"/>
            <a:ext cx="3888008" cy="504056"/>
          </a:xfrm>
          <a:prstGeom prst="rect">
            <a:avLst/>
          </a:prstGeom>
          <a:solidFill>
            <a:srgbClr val="99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 smtClean="0">
                <a:solidFill>
                  <a:schemeClr val="tx1"/>
                </a:solidFill>
              </a:rPr>
              <a:t>Канальный уровень</a:t>
            </a:r>
            <a:endParaRPr lang="ru-RU" sz="2400" dirty="0">
              <a:solidFill>
                <a:schemeClr val="tx1"/>
              </a:solidFill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2627784" y="6201308"/>
            <a:ext cx="3888008" cy="504056"/>
          </a:xfrm>
          <a:prstGeom prst="rect">
            <a:avLst/>
          </a:prstGeom>
          <a:solidFill>
            <a:srgbClr val="CC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 smtClean="0">
                <a:solidFill>
                  <a:schemeClr val="tx1"/>
                </a:solidFill>
              </a:rPr>
              <a:t>Физический уровень</a:t>
            </a:r>
            <a:endParaRPr lang="ru-RU" sz="2400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07292" y="532998"/>
            <a:ext cx="892899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Примером такой модели является модель OSI, которая часто используется для описания протоколов сетевого взаимодействия.</a:t>
            </a:r>
          </a:p>
          <a:p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В 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этой модели есть семь </a:t>
            </a:r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уровней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>
          <a:xfrm>
            <a:off x="107504" y="0"/>
            <a:ext cx="8928992" cy="6926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ru-RU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Сетевые модели</a:t>
            </a:r>
            <a:endParaRPr lang="ru-RU" altLang="ru-RU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0760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07504" y="0"/>
            <a:ext cx="8928992" cy="692696"/>
          </a:xfrm>
        </p:spPr>
        <p:txBody>
          <a:bodyPr>
            <a:normAutofit/>
          </a:bodyPr>
          <a:lstStyle/>
          <a:p>
            <a:r>
              <a:rPr lang="ru-RU" altLang="ru-RU" sz="3600" b="1" dirty="0">
                <a:latin typeface="Arial" panose="020B0604020202020204" pitchFamily="34" charset="0"/>
                <a:cs typeface="Arial" panose="020B0604020202020204" pitchFamily="34" charset="0"/>
              </a:rPr>
              <a:t>Сетевые модели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107504" y="908720"/>
            <a:ext cx="8928992" cy="5472608"/>
          </a:xfrm>
        </p:spPr>
        <p:txBody>
          <a:bodyPr>
            <a:normAutofit/>
          </a:bodyPr>
          <a:lstStyle/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ru-RU" alt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Модель 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обычно делится на уровни, так, чтобы протоколы вышестоящего уровня использовали бы протоколы нижестоящего уровня </a:t>
            </a:r>
            <a:r>
              <a:rPr lang="ru-RU" alt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(данные 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протокола вышестоящего уровня передавались бы с помощью нижележащих протоколов </a:t>
            </a:r>
            <a:r>
              <a:rPr lang="ru-RU" alt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этот процесс называют инкапсуляцией, процесс извлечения данных вышестоящего уровня из данных нижестоящего </a:t>
            </a:r>
            <a:r>
              <a:rPr lang="ru-RU" alt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ru-RU" alt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декапсуляцией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endParaRPr lang="ru-RU" altLang="ru-RU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ru-RU" alt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Каждый 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раз, когда передаваемая информация перемещается вниз по уровням, к ней добавляется заголовок очередного уровня, чтобы соответствующий уровень на принимающем устройстве смог правильно обработать принятую информацию.</a:t>
            </a:r>
          </a:p>
        </p:txBody>
      </p:sp>
    </p:spTree>
    <p:extLst>
      <p:ext uri="{BB962C8B-B14F-4D97-AF65-F5344CB8AC3E}">
        <p14:creationId xmlns:p14="http://schemas.microsoft.com/office/powerpoint/2010/main" val="4089127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>
            <a:normAutofit/>
          </a:bodyPr>
          <a:lstStyle/>
          <a:p>
            <a:r>
              <a:rPr lang="ru-RU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Инкапсуляция</a:t>
            </a:r>
            <a:endParaRPr lang="ru-RU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644708" y="2924944"/>
            <a:ext cx="626246" cy="64807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2644708" y="4218229"/>
            <a:ext cx="626246" cy="64807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2018462" y="4218229"/>
            <a:ext cx="626246" cy="64807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6007258" y="4218229"/>
            <a:ext cx="626246" cy="64807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2644708" y="5517232"/>
            <a:ext cx="626246" cy="64807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2018462" y="5517232"/>
            <a:ext cx="626246" cy="64807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 dirty="0"/>
          </a:p>
        </p:txBody>
      </p:sp>
      <p:sp>
        <p:nvSpPr>
          <p:cNvPr id="15" name="Прямоугольник 14"/>
          <p:cNvSpPr/>
          <p:nvPr/>
        </p:nvSpPr>
        <p:spPr>
          <a:xfrm>
            <a:off x="6007258" y="5517232"/>
            <a:ext cx="626246" cy="64807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 dirty="0"/>
          </a:p>
        </p:txBody>
      </p:sp>
      <p:sp>
        <p:nvSpPr>
          <p:cNvPr id="16" name="Прямоугольник 15"/>
          <p:cNvSpPr/>
          <p:nvPr/>
        </p:nvSpPr>
        <p:spPr>
          <a:xfrm>
            <a:off x="1392216" y="5517232"/>
            <a:ext cx="626246" cy="64807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3270954" y="1700808"/>
            <a:ext cx="2736304" cy="6480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 smtClean="0"/>
              <a:t>Информация</a:t>
            </a:r>
            <a:endParaRPr lang="ru-RU" sz="24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3270954" y="2924944"/>
            <a:ext cx="2736304" cy="6480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 smtClean="0"/>
              <a:t>Информация</a:t>
            </a:r>
            <a:endParaRPr lang="ru-RU" sz="24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3270954" y="4218229"/>
            <a:ext cx="2736304" cy="6480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 smtClean="0"/>
              <a:t>Информация</a:t>
            </a:r>
            <a:endParaRPr lang="ru-RU" sz="2400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3270954" y="5517232"/>
            <a:ext cx="2736304" cy="6480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 smtClean="0"/>
              <a:t>Информация</a:t>
            </a:r>
            <a:endParaRPr lang="ru-RU" sz="2400" dirty="0"/>
          </a:p>
        </p:txBody>
      </p:sp>
      <p:sp>
        <p:nvSpPr>
          <p:cNvPr id="17" name="Стрелка вниз 16"/>
          <p:cNvSpPr/>
          <p:nvPr/>
        </p:nvSpPr>
        <p:spPr>
          <a:xfrm>
            <a:off x="4492639" y="2474370"/>
            <a:ext cx="292934" cy="360040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Стрелка вниз 17"/>
          <p:cNvSpPr/>
          <p:nvPr/>
        </p:nvSpPr>
        <p:spPr>
          <a:xfrm>
            <a:off x="4492639" y="3717032"/>
            <a:ext cx="292934" cy="360040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Стрелка вниз 18"/>
          <p:cNvSpPr/>
          <p:nvPr/>
        </p:nvSpPr>
        <p:spPr>
          <a:xfrm>
            <a:off x="4492639" y="5013176"/>
            <a:ext cx="292934" cy="360040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2119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07504" y="0"/>
            <a:ext cx="8928992" cy="692696"/>
          </a:xfrm>
        </p:spPr>
        <p:txBody>
          <a:bodyPr>
            <a:normAutofit/>
          </a:bodyPr>
          <a:lstStyle/>
          <a:p>
            <a:r>
              <a:rPr lang="ru-RU" altLang="ru-RU" sz="3600" b="1" dirty="0">
                <a:latin typeface="Arial" panose="020B0604020202020204" pitchFamily="34" charset="0"/>
                <a:cs typeface="Arial" panose="020B0604020202020204" pitchFamily="34" charset="0"/>
              </a:rPr>
              <a:t>Сетевые модели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107504" y="908720"/>
            <a:ext cx="8928992" cy="5472608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ru-RU" alt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Функционирование уровней модели </a:t>
            </a:r>
            <a:r>
              <a:rPr lang="en-US" alt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OSI </a:t>
            </a:r>
            <a:r>
              <a:rPr lang="ru-RU" alt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снизу 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вверх:</a:t>
            </a: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endParaRPr lang="ru-RU" alt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1) </a:t>
            </a:r>
            <a:r>
              <a:rPr lang="ru-RU" alt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Физический уровень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ru-RU" alt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Physical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alt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Layer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): определяет метод передачи данных, какая среда используется (передача электрических сигналов, световых импульсов или радиоэфир), уровень напряжения, метод кодирования двоичных сигналов.</a:t>
            </a: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endParaRPr lang="ru-RU" alt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2) </a:t>
            </a:r>
            <a:r>
              <a:rPr lang="ru-RU" alt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Канальный уровень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ru-RU" alt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alt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Link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alt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Layer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): </a:t>
            </a:r>
            <a:r>
              <a:rPr lang="ru-RU" alt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берет 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на себя задачу адресации в пределах локальной сети, обнаруживает ошибки, проверяет целостность данных. </a:t>
            </a:r>
            <a:r>
              <a:rPr lang="ru-RU" alt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MAC-адреса 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и протокол «</a:t>
            </a:r>
            <a:r>
              <a:rPr lang="ru-RU" alt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Ethernet</a:t>
            </a:r>
            <a:r>
              <a:rPr lang="ru-RU" alt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» располагаются 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на этом уровне.</a:t>
            </a: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endParaRPr lang="ru-RU" alt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endParaRPr lang="ru-RU" alt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197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07504" y="0"/>
            <a:ext cx="8928992" cy="692696"/>
          </a:xfrm>
        </p:spPr>
        <p:txBody>
          <a:bodyPr>
            <a:normAutofit/>
          </a:bodyPr>
          <a:lstStyle/>
          <a:p>
            <a:r>
              <a:rPr lang="ru-RU" altLang="ru-RU" sz="3600" b="1" dirty="0">
                <a:latin typeface="Arial" panose="020B0604020202020204" pitchFamily="34" charset="0"/>
                <a:cs typeface="Arial" panose="020B0604020202020204" pitchFamily="34" charset="0"/>
              </a:rPr>
              <a:t>Сетевые модели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107504" y="836712"/>
            <a:ext cx="8928992" cy="5832648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Функционирование уровней модели </a:t>
            </a:r>
            <a:r>
              <a:rPr lang="en-US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OSI 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снизу вверх:</a:t>
            </a: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endParaRPr lang="ru-RU" alt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3) </a:t>
            </a:r>
            <a:r>
              <a:rPr lang="ru-RU" alt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Сетевой уровень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ru-RU" alt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Network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alt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Layer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): </a:t>
            </a:r>
            <a:r>
              <a:rPr lang="ru-RU" alt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берет 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на себя объединения участков сети и выбор оптимального пути (т.е. маршрутизация). Каждое сетевое устройство должно иметь уникальный сетевой адрес в сети. П</a:t>
            </a:r>
            <a:r>
              <a:rPr lang="ru-RU" alt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ротоколы 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IPv4 и </a:t>
            </a:r>
            <a:r>
              <a:rPr lang="ru-RU" alt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IPv6 работают 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на данном уровне.</a:t>
            </a: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endParaRPr lang="ru-RU" alt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4) </a:t>
            </a:r>
            <a:r>
              <a:rPr lang="ru-RU" alt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Транспортный уровень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ru-RU" alt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Transport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alt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Layer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): </a:t>
            </a:r>
            <a:r>
              <a:rPr lang="ru-RU" alt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берет 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на себя функцию транспорта. </a:t>
            </a:r>
            <a:r>
              <a:rPr lang="ru-RU" alt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Например, 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когда </a:t>
            </a:r>
            <a:r>
              <a:rPr lang="ru-RU" alt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скачивается 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файл с Интернета, файл в виде сегментов отправляется на </a:t>
            </a:r>
            <a:r>
              <a:rPr lang="ru-RU" alt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компьютер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. Также здесь вводятся понятия портов, которые нужны для указания назначения к конкретной службе. На этом уровне работают протоколы TCP (с установлением соединения) и UDP (без установления соединения</a:t>
            </a:r>
            <a:r>
              <a:rPr lang="ru-RU" alt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  <a:endParaRPr lang="ru-RU" alt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2571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07504" y="0"/>
            <a:ext cx="8928992" cy="692696"/>
          </a:xfrm>
        </p:spPr>
        <p:txBody>
          <a:bodyPr>
            <a:normAutofit/>
          </a:bodyPr>
          <a:lstStyle/>
          <a:p>
            <a:r>
              <a:rPr lang="ru-RU" altLang="ru-RU" sz="3600" b="1" dirty="0">
                <a:latin typeface="Arial" panose="020B0604020202020204" pitchFamily="34" charset="0"/>
                <a:cs typeface="Arial" panose="020B0604020202020204" pitchFamily="34" charset="0"/>
              </a:rPr>
              <a:t>Сетевые модели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107504" y="908720"/>
            <a:ext cx="8928992" cy="5472608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Функционирование уровней модели OSI снизу вверх:</a:t>
            </a: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endParaRPr lang="ru-RU" alt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5) </a:t>
            </a:r>
            <a:r>
              <a:rPr lang="ru-RU" alt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Сеансовый уровень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ru-RU" alt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Session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alt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Layer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): </a:t>
            </a:r>
            <a:r>
              <a:rPr lang="ru-RU" altLang="ru-RU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установливает</a:t>
            </a:r>
            <a:r>
              <a:rPr lang="ru-RU" alt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, управляет 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и </a:t>
            </a:r>
            <a:r>
              <a:rPr lang="ru-RU" alt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разрывает 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соединения между двумя хостами. </a:t>
            </a:r>
            <a:r>
              <a:rPr lang="ru-RU" alt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Например, 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когда </a:t>
            </a:r>
            <a:r>
              <a:rPr lang="ru-RU" alt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открывается страница 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на веб-сервере, </a:t>
            </a:r>
            <a:r>
              <a:rPr lang="ru-RU" alt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на нем могут быть несколько посетителей. Для 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того, чтобы поддерживать сеансы со всеми пользователями, нужен сеансовый уровень.</a:t>
            </a: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endParaRPr lang="ru-RU" alt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6) </a:t>
            </a:r>
            <a:r>
              <a:rPr lang="ru-RU" alt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Уровень представления 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ru-RU" alt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Presentation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alt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Layer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): </a:t>
            </a:r>
            <a:r>
              <a:rPr lang="ru-RU" alt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структурирует 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информацию в читабельный вид для прикладного уровня, т.е. полученные из сети данные преобразует в формат, понятный приложениям</a:t>
            </a:r>
            <a:r>
              <a:rPr lang="ru-RU" alt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69019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07504" y="0"/>
            <a:ext cx="8928992" cy="692696"/>
          </a:xfrm>
        </p:spPr>
        <p:txBody>
          <a:bodyPr>
            <a:normAutofit/>
          </a:bodyPr>
          <a:lstStyle/>
          <a:p>
            <a:r>
              <a:rPr lang="ru-RU" altLang="ru-RU" sz="3600" b="1" dirty="0">
                <a:latin typeface="Arial" panose="020B0604020202020204" pitchFamily="34" charset="0"/>
                <a:cs typeface="Arial" panose="020B0604020202020204" pitchFamily="34" charset="0"/>
              </a:rPr>
              <a:t>Сетевые модели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107504" y="1484784"/>
            <a:ext cx="8928992" cy="2736304"/>
          </a:xfrm>
        </p:spPr>
        <p:txBody>
          <a:bodyPr>
            <a:normAutofit/>
          </a:bodyPr>
          <a:lstStyle/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Функционирование уровней модели OSI снизу вверх:</a:t>
            </a: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endParaRPr lang="ru-RU" alt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7) </a:t>
            </a:r>
            <a:r>
              <a:rPr lang="ru-RU" alt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Прикладной уровень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ru-RU" alt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Application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alt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Layer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): </a:t>
            </a:r>
            <a:r>
              <a:rPr lang="ru-RU" alt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на 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этом уроне работают </a:t>
            </a:r>
            <a:r>
              <a:rPr lang="ru-RU" alt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приложения - 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e-</a:t>
            </a:r>
            <a:r>
              <a:rPr lang="ru-RU" alt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mail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, браузеры по протоколу HTTP, FTP и </a:t>
            </a:r>
            <a:r>
              <a:rPr lang="ru-RU" alt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т.д.</a:t>
            </a:r>
            <a:endParaRPr lang="ru-RU" alt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9860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7504" y="0"/>
            <a:ext cx="8928992" cy="692696"/>
          </a:xfrm>
        </p:spPr>
        <p:txBody>
          <a:bodyPr>
            <a:normAutofit/>
          </a:bodyPr>
          <a:lstStyle/>
          <a:p>
            <a:r>
              <a:rPr lang="ru-RU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Клиент-серверная архитектура</a:t>
            </a:r>
            <a:endParaRPr lang="ru-RU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07504" y="671175"/>
            <a:ext cx="892899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Клиент-серверная архитектура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– вычислительная 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или сетевая архитектура, в которой задания или сетевая нагрузка распределены между поставщиками услуг, называемыми серверами, и заказчиками услуг, называемыми клиентами. 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2917944"/>
            <a:ext cx="5699760" cy="39319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2411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7504" y="0"/>
            <a:ext cx="8928992" cy="692696"/>
          </a:xfrm>
        </p:spPr>
        <p:txBody>
          <a:bodyPr>
            <a:normAutofit/>
          </a:bodyPr>
          <a:lstStyle/>
          <a:p>
            <a:r>
              <a:rPr lang="ru-RU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Клиент-серверная архитектура</a:t>
            </a:r>
            <a:endParaRPr lang="ru-RU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88464" y="836712"/>
            <a:ext cx="8928992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Большая часть сервисов, доступных в компьютерных сетях, построены на основе клиент-серверной архитектуре.</a:t>
            </a:r>
          </a:p>
          <a:p>
            <a:endParaRPr lang="ru-RU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Фактически 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клиент и сервер </a:t>
            </a:r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– это 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программное обеспечение. </a:t>
            </a:r>
            <a:endParaRPr lang="ru-RU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Сервер</a:t>
            </a:r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– это служба, предоставляющая доступ к определенным ресурсам или </a:t>
            </a:r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услугам.</a:t>
            </a:r>
          </a:p>
          <a:p>
            <a:endParaRPr 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Клиент</a:t>
            </a:r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– это процесс, запрашивающий ресурс или услугу у серверной службы путём посылки запроса серверу и последующего ожидания ответа</a:t>
            </a:r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5489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7504" y="0"/>
            <a:ext cx="8928992" cy="692696"/>
          </a:xfrm>
        </p:spPr>
        <p:txBody>
          <a:bodyPr>
            <a:normAutofit/>
          </a:bodyPr>
          <a:lstStyle/>
          <a:p>
            <a:r>
              <a:rPr lang="ru-RU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Клиент-серверная архитектура</a:t>
            </a:r>
            <a:endParaRPr lang="ru-RU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07504" y="620688"/>
            <a:ext cx="8928992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Обычно </a:t>
            </a:r>
            <a:r>
              <a:rPr lang="ru-RU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эти программы расположены на разных вычислительных машинах и взаимодействуют между собой через вычислительную сеть посредством сетевых протоколов, но они могут быть расположены также и на одной машине. </a:t>
            </a:r>
            <a:endParaRPr lang="ru-RU" sz="2800" dirty="0" smtClean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8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Программы-серверы </a:t>
            </a:r>
            <a:r>
              <a:rPr lang="ru-RU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ожидают от клиентских программ запросы и предоставляют им свои ресурсы в виде данных (например, загрузка файлов </a:t>
            </a:r>
            <a:r>
              <a:rPr lang="ru-RU" sz="28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через </a:t>
            </a:r>
            <a:r>
              <a:rPr lang="ru-RU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HTTP, FTP, </a:t>
            </a:r>
            <a:r>
              <a:rPr lang="ru-RU" sz="28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BitTorrent</a:t>
            </a:r>
            <a:r>
              <a:rPr lang="ru-RU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потоковое </a:t>
            </a:r>
            <a:r>
              <a:rPr lang="ru-RU" sz="28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мультимедиа, работа </a:t>
            </a:r>
            <a:r>
              <a:rPr lang="ru-RU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 базами данных) или в виде сервисных функций (например, работа с электронной почтой, общение посредством систем мгновенного обмена сообщениями или просмотр </a:t>
            </a:r>
            <a:r>
              <a:rPr lang="ru-RU" sz="2800" dirty="0" err="1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</a:t>
            </a:r>
            <a:r>
              <a:rPr lang="ru-RU" sz="28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-страниц).</a:t>
            </a:r>
            <a:endParaRPr lang="ru-RU" sz="2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2356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7504" y="0"/>
            <a:ext cx="8928992" cy="692696"/>
          </a:xfrm>
        </p:spPr>
        <p:txBody>
          <a:bodyPr>
            <a:normAutofit/>
          </a:bodyPr>
          <a:lstStyle/>
          <a:p>
            <a:r>
              <a:rPr lang="ru-RU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Клиент-серверная архитектура</a:t>
            </a:r>
            <a:endParaRPr lang="ru-RU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07504" y="692696"/>
            <a:ext cx="8928992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Так как </a:t>
            </a:r>
            <a:r>
              <a:rPr lang="ru-RU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одна программа-сервер может выполнять запросы от множества программ-клиентов, её размещают на специально выделенной вычислительной машине, настроенной особым образом, как правило, совместно с другими программами-серверами, поэтому производительность этой машины должна быть </a:t>
            </a:r>
            <a:r>
              <a:rPr lang="ru-RU" sz="28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высокой.</a:t>
            </a:r>
          </a:p>
          <a:p>
            <a:endParaRPr lang="ru-RU" sz="2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8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Из-за </a:t>
            </a:r>
            <a:r>
              <a:rPr lang="ru-RU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особой роли такой машины в сети, специфики её оборудования и программного обеспечения, её также называют сервером, а машины, выполняющие клиентские программы, соответственно, клиентами.</a:t>
            </a:r>
          </a:p>
        </p:txBody>
      </p:sp>
    </p:spTree>
    <p:extLst>
      <p:ext uri="{BB962C8B-B14F-4D97-AF65-F5344CB8AC3E}">
        <p14:creationId xmlns:p14="http://schemas.microsoft.com/office/powerpoint/2010/main" val="835234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2680</TotalTime>
  <Words>1248</Words>
  <Application>Microsoft Office PowerPoint</Application>
  <PresentationFormat>Экран (4:3)</PresentationFormat>
  <Paragraphs>195</Paragraphs>
  <Slides>29</Slides>
  <Notes>8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29</vt:i4>
      </vt:variant>
    </vt:vector>
  </HeadingPairs>
  <TitlesOfParts>
    <vt:vector size="30" baseType="lpstr">
      <vt:lpstr>Тема Office</vt:lpstr>
      <vt:lpstr>Компьютерные сети</vt:lpstr>
      <vt:lpstr>Компоненты сети</vt:lpstr>
      <vt:lpstr>Компоненты сети</vt:lpstr>
      <vt:lpstr>Компоненты сети</vt:lpstr>
      <vt:lpstr>Компоненты сети</vt:lpstr>
      <vt:lpstr>Компоненты сети</vt:lpstr>
      <vt:lpstr>Топологии компьютерных сетей</vt:lpstr>
      <vt:lpstr>Топологии компьютерных сетей</vt:lpstr>
      <vt:lpstr>Топологии компьютерных сетей</vt:lpstr>
      <vt:lpstr>Топологии компьютерных сетей</vt:lpstr>
      <vt:lpstr>Топологии компьютерных сетей</vt:lpstr>
      <vt:lpstr>Топологии компьютерных сетей</vt:lpstr>
      <vt:lpstr>Адресация сетевых устройств</vt:lpstr>
      <vt:lpstr>Адресация сетевых устройств</vt:lpstr>
      <vt:lpstr>Адресация сетевых устройств</vt:lpstr>
      <vt:lpstr>Адресация сетевых устройств</vt:lpstr>
      <vt:lpstr>Сетевые модели</vt:lpstr>
      <vt:lpstr>Сетевые модели</vt:lpstr>
      <vt:lpstr>Презентация PowerPoint</vt:lpstr>
      <vt:lpstr>Сетевые модели</vt:lpstr>
      <vt:lpstr>Инкапсуляция</vt:lpstr>
      <vt:lpstr>Сетевые модели</vt:lpstr>
      <vt:lpstr>Сетевые модели</vt:lpstr>
      <vt:lpstr>Сетевые модели</vt:lpstr>
      <vt:lpstr>Сетевые модели</vt:lpstr>
      <vt:lpstr>Клиент-серверная архитектура</vt:lpstr>
      <vt:lpstr>Клиент-серверная архитектура</vt:lpstr>
      <vt:lpstr>Клиент-серверная архитектура</vt:lpstr>
      <vt:lpstr>Клиент-серверная архитектура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Информатика</dc:title>
  <dc:creator>Vadim</dc:creator>
  <cp:lastModifiedBy>Vladimir</cp:lastModifiedBy>
  <cp:revision>345</cp:revision>
  <dcterms:created xsi:type="dcterms:W3CDTF">2013-09-05T03:06:22Z</dcterms:created>
  <dcterms:modified xsi:type="dcterms:W3CDTF">2021-11-16T07:32:48Z</dcterms:modified>
</cp:coreProperties>
</file>