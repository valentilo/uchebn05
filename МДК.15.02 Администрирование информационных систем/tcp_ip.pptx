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7" r:id="rId23"/>
    <p:sldId id="276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A0A00-D658-BE0C-C8FD-4B1CA2762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9842CB-9DC4-1E26-4A59-506D2DDBA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8F154A-EAC4-5FE5-061C-81543FCC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F7FC6-70A9-85D9-395E-DCFF0604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219E30-6B59-A468-C230-3F47E408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0E54A-687A-EB88-2514-7CD2ADE9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C17FF-495F-9D65-B2E5-3A5CBEBED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CFEA4F-AA4C-01EB-102B-B09E0A93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CE51F6-95B9-C1E5-6492-7627B24D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A67323-8770-70E6-12EA-0D5441D9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40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AB864-652B-10FF-596A-B3927F24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0EFFCC-965A-BC8E-0F15-21B762EA0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FE89D-D43C-94AE-FB7C-6BB7AAD7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79B7DC-C3CF-FED8-C865-5F9CEEBE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2FF7F-896E-B5A8-0704-F4F39DB9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140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F258D-FE24-1A2A-0027-A2E44BC2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71B09A-8CB7-CCF4-BFEE-6CB49E762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2E9EFB-6A2F-CAB5-621F-3F287087A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478281-CF68-E82B-50A0-8E6C01BB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9B6285-645E-C285-7B3A-4E1432D7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F17793-0849-0F85-8579-EB3BE158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96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2D053-3E3C-B6FC-F351-E8507C73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081F40-4611-08A2-3FA2-8DC517005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181073-2115-49A5-4FE3-040C0FD02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BE97DB-04EC-F893-86DC-A5CC6546D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8FB597-C8C5-9B0F-80E7-9E6EF6FE9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0F4045E-2D58-1267-118D-294CC14E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C95C20-1967-D528-4917-95190894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F9A289-DF13-5B61-8258-B9E80E44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65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F8DBC-8ECE-9F0D-796B-0D583754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620A87-9B72-EE18-F26D-6411429F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64B598E-4748-2637-7222-D9172EEB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396AB7-53C8-99A0-6F1A-608D39D3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90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2756495-0F20-462D-5EA9-7189A40A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8B194C-17F6-86C3-9E0E-22C7B676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93D37C-07BA-640F-75E7-DAA06880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91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A3AE8-E824-F877-2EA1-0B5786DF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F9BBA8-7DD1-EDD4-C73A-4E54C13F9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A56573-8077-18AC-1874-F3F324C1C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A7DE9B-B528-8538-0935-591725E6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F5489C-3B59-5F40-E560-8EEB697F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DE936C-0E36-AA98-F6D4-32C23617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56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6521C-5EB9-35D9-1179-DD968F03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3DEE38-3776-2086-6F39-A930B80E8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A1ABBE-90C1-BB97-8CB2-D13749787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904B6F-4C4D-5E4D-802E-32AE8582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8C5D17-3AFC-49F1-AE71-5D57E5E2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76DE51-7054-5971-0F0B-A3795397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94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70D7A-D688-6C1C-B37F-A81EBA8E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C5FE0B-59DE-D995-35BB-4F8778B2A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55B106-820A-BFEC-B717-866A04E6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A917BA-D595-C05F-ED0E-73E0C0A6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8262F1-79F8-F21F-0D7B-00470FDA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58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A8F1F5-FDA8-D4A4-B5EC-37B58298C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F63B02-0CD1-0124-1AE3-6AADA60FE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A9A074-0CE0-0DE9-58FB-10AF1C91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E9C1CA-B319-BB26-5A51-F6B25DBC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C8C0F7-0741-BC6F-C543-2E9364CA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9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7CA56-2009-70BF-13B4-B4CAC604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710C6A-CC2C-F242-D5B0-FF8C3F271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1FA2F2-A49A-EC3F-C125-5828F64F4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5A43-4561-4BF9-AFAC-AC1A9B0D5AB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12105B-64CC-9D5C-3F78-EBCA9C129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DBAAF5-E718-BD54-6B50-E0E16C0DB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79C95-18AB-422D-B8E3-C2FC1B369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11777-9021-8F83-B48D-D4E51D61D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8000" dirty="0">
                <a:solidFill>
                  <a:srgbClr val="FF0000"/>
                </a:solidFill>
                <a:latin typeface="Comic Sans MS" panose="030F0702030302020204" pitchFamily="66" charset="0"/>
              </a:rPr>
              <a:t>Модель OSI и TCP/IP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813F5D-621B-0D5E-5C36-F87499269B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363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8A6553-33B4-211E-A6FE-6C46E031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32863"/>
            <a:ext cx="9745435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1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F0042-C659-265F-51EB-D9B0C7B9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Печа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B8D1BA-19A8-43F4-42B9-D2C2C060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10" y="0"/>
            <a:ext cx="9896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2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9E773E-9069-932B-5045-B4253A9AD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61" y="0"/>
            <a:ext cx="9485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325A3F-907B-6BB6-B419-7756CF8C3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053" y="0"/>
            <a:ext cx="9507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8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5F923-C3E1-C8CF-0A7E-D993AAC8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b="1" dirty="0">
                <a:solidFill>
                  <a:srgbClr val="DE35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Доменные имена</a:t>
            </a:r>
            <a:endParaRPr lang="ru-RU" dirty="0"/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CD7ED6B7-58CE-67F0-2C65-51C06E01E7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3576" y="1531970"/>
            <a:ext cx="7429500" cy="1588"/>
          </a:xfrm>
          <a:prstGeom prst="line">
            <a:avLst/>
          </a:prstGeom>
          <a:noFill/>
          <a:ln w="19080">
            <a:solidFill>
              <a:srgbClr val="4A7EB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33809B5-43A3-7399-4CB5-6B9D00AD1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9" y="3711608"/>
            <a:ext cx="7783512" cy="26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id="{2C8A9EBE-A426-3EFC-E8DA-BD152B8C3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839" y="1800258"/>
            <a:ext cx="806450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ru-RU" altLang="ru-RU" sz="2400" dirty="0">
                <a:cs typeface="Arial" panose="020B0604020202020204" pitchFamily="34" charset="0"/>
              </a:rPr>
              <a:t>Человеку запомнить числовой адрес нелегко, поэтому для удобства была введена </a:t>
            </a:r>
            <a:r>
              <a:rPr lang="ru-RU" altLang="ru-RU" sz="2400" b="1" dirty="0">
                <a:cs typeface="Arial" panose="020B0604020202020204" pitchFamily="34" charset="0"/>
              </a:rPr>
              <a:t>доменная система имен (DNS)</a:t>
            </a:r>
            <a:r>
              <a:rPr lang="ru-RU" altLang="ru-RU" sz="2400" dirty="0">
                <a:cs typeface="Arial" panose="020B0604020202020204" pitchFamily="34" charset="0"/>
              </a:rPr>
              <a:t>, которая ставит в соответствии числовому Интернет-адресу компьютера уникальное доменное имя</a:t>
            </a:r>
          </a:p>
          <a:p>
            <a:pPr eaLnBrk="1" hangingPunct="1">
              <a:spcBef>
                <a:spcPct val="0"/>
              </a:spcBef>
            </a:pPr>
            <a:endParaRPr lang="ru-RU" altLang="ru-RU" sz="2400" dirty="0">
              <a:cs typeface="Arial" panose="020B0604020202020204" pitchFamily="34" charset="0"/>
            </a:endParaRPr>
          </a:p>
        </p:txBody>
      </p:sp>
      <p:sp>
        <p:nvSpPr>
          <p:cNvPr id="6" name="Овал 1">
            <a:extLst>
              <a:ext uri="{FF2B5EF4-FFF2-40B4-BE49-F238E27FC236}">
                <a16:creationId xmlns:a16="http://schemas.microsoft.com/office/drawing/2014/main" id="{12E679A8-9E10-F06F-C99E-4E6B6FF3B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5576" y="4033870"/>
            <a:ext cx="1584325" cy="287338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7612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3723B-7538-C1CD-A422-4BF1A424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ru-RU" dirty="0"/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CF88E2A9-1265-ABBC-2ABF-0471D1B5D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350" y="577454"/>
            <a:ext cx="82296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600" b="1" dirty="0">
                <a:solidFill>
                  <a:srgbClr val="DE35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Доменная система имен</a:t>
            </a: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13B6CECC-D861-B664-7BAC-4827147C2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000125"/>
            <a:ext cx="7429500" cy="1588"/>
          </a:xfrm>
          <a:prstGeom prst="line">
            <a:avLst/>
          </a:prstGeom>
          <a:noFill/>
          <a:ln w="19080">
            <a:solidFill>
              <a:srgbClr val="4A7EB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420127B-8894-C325-F6DF-CD7737141C3C}"/>
              </a:ext>
            </a:extLst>
          </p:cNvPr>
          <p:cNvSpPr>
            <a:spLocks/>
          </p:cNvSpPr>
          <p:nvPr/>
        </p:nvSpPr>
        <p:spPr bwMode="auto">
          <a:xfrm rot="16260000">
            <a:off x="6426201" y="2914650"/>
            <a:ext cx="182562" cy="573087"/>
          </a:xfrm>
          <a:prstGeom prst="leftBrace">
            <a:avLst>
              <a:gd name="adj1" fmla="val 26159"/>
              <a:gd name="adj2" fmla="val 50000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0A44894-DE77-20A2-FC00-0ECAA1215206}"/>
              </a:ext>
            </a:extLst>
          </p:cNvPr>
          <p:cNvSpPr>
            <a:spLocks/>
          </p:cNvSpPr>
          <p:nvPr/>
        </p:nvSpPr>
        <p:spPr bwMode="auto">
          <a:xfrm rot="16260000">
            <a:off x="5214144" y="2343944"/>
            <a:ext cx="190500" cy="1700212"/>
          </a:xfrm>
          <a:prstGeom prst="leftBrace">
            <a:avLst>
              <a:gd name="adj1" fmla="val 73094"/>
              <a:gd name="adj2" fmla="val 50000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6831EB4-F2E4-E8E9-0087-6FE5F1AD8E5C}"/>
              </a:ext>
            </a:extLst>
          </p:cNvPr>
          <p:cNvSpPr>
            <a:spLocks/>
          </p:cNvSpPr>
          <p:nvPr/>
        </p:nvSpPr>
        <p:spPr bwMode="auto">
          <a:xfrm rot="16260000">
            <a:off x="3830637" y="2709863"/>
            <a:ext cx="219075" cy="971550"/>
          </a:xfrm>
          <a:prstGeom prst="leftBrace">
            <a:avLst>
              <a:gd name="adj1" fmla="val 60157"/>
              <a:gd name="adj2" fmla="val 50000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4925CD4-0FDE-E5C9-726D-CDDBF14C4945}"/>
              </a:ext>
            </a:extLst>
          </p:cNvPr>
          <p:cNvSpPr>
            <a:spLocks/>
          </p:cNvSpPr>
          <p:nvPr/>
        </p:nvSpPr>
        <p:spPr bwMode="auto">
          <a:xfrm rot="16260000">
            <a:off x="2671763" y="2589213"/>
            <a:ext cx="185737" cy="1163637"/>
          </a:xfrm>
          <a:prstGeom prst="leftBrace">
            <a:avLst>
              <a:gd name="adj1" fmla="val 39794"/>
              <a:gd name="adj2" fmla="val 50000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FB21B238-5C27-BF41-317A-C83A3A518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895725"/>
            <a:ext cx="1260475" cy="469900"/>
          </a:xfrm>
          <a:prstGeom prst="wedgeRoundRectCallout">
            <a:avLst>
              <a:gd name="adj1" fmla="val 87321"/>
              <a:gd name="adj2" fmla="val -18890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0000" tIns="45000" rIns="90000" bIns="450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1800"/>
              <a:t>протокол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419737C0-E00C-3AB6-336A-EDE90066D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873500"/>
            <a:ext cx="1873250" cy="708025"/>
          </a:xfrm>
          <a:prstGeom prst="wedgeRoundRectCallout">
            <a:avLst>
              <a:gd name="adj1" fmla="val 31681"/>
              <a:gd name="adj2" fmla="val -12300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0000" tIns="45000" rIns="90000" bIns="450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2000"/>
              <a:t>Домен третьего</a:t>
            </a:r>
          </a:p>
          <a:p>
            <a:pPr algn="ctr" eaLnBrk="1" hangingPunct="1">
              <a:spcBef>
                <a:spcPct val="0"/>
              </a:spcBef>
            </a:pPr>
            <a:r>
              <a:rPr lang="ru-RU" altLang="ru-RU" sz="2000"/>
              <a:t>уровня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E91D6B50-E27A-DFCD-7FD9-AA9C67DB8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860800"/>
            <a:ext cx="1800225" cy="720725"/>
          </a:xfrm>
          <a:prstGeom prst="wedgeRoundRectCallout">
            <a:avLst>
              <a:gd name="adj1" fmla="val 4764"/>
              <a:gd name="adj2" fmla="val -12971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0000" tIns="45000" rIns="90000" bIns="450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2000"/>
              <a:t>Домен второго</a:t>
            </a:r>
          </a:p>
          <a:p>
            <a:pPr algn="ctr" eaLnBrk="1" hangingPunct="1">
              <a:spcBef>
                <a:spcPct val="0"/>
              </a:spcBef>
            </a:pPr>
            <a:r>
              <a:rPr lang="ru-RU" altLang="ru-RU" sz="2000"/>
              <a:t>уровня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280CE296-D072-14F0-C3BD-6F75759CE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3860800"/>
            <a:ext cx="1841500" cy="720725"/>
          </a:xfrm>
          <a:prstGeom prst="wedgeRoundRectCallout">
            <a:avLst>
              <a:gd name="adj1" fmla="val -34429"/>
              <a:gd name="adj2" fmla="val -12343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0000" tIns="45000" rIns="90000" bIns="450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2000"/>
              <a:t>Домен первого </a:t>
            </a:r>
          </a:p>
          <a:p>
            <a:pPr algn="ctr" eaLnBrk="1" hangingPunct="1">
              <a:spcBef>
                <a:spcPct val="0"/>
              </a:spcBef>
            </a:pPr>
            <a:r>
              <a:rPr lang="ru-RU" altLang="ru-RU" sz="2000"/>
              <a:t>уровня</a:t>
            </a:r>
          </a:p>
        </p:txBody>
      </p:sp>
      <p:sp>
        <p:nvSpPr>
          <p:cNvPr id="13" name="Прямоугольник 1">
            <a:extLst>
              <a:ext uri="{FF2B5EF4-FFF2-40B4-BE49-F238E27FC236}">
                <a16:creationId xmlns:a16="http://schemas.microsoft.com/office/drawing/2014/main" id="{81DAEEFF-D07D-4FAF-A5CB-184CDC4AC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347913"/>
            <a:ext cx="4667250" cy="7080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rgbClr val="003399"/>
                </a:solidFill>
              </a:rPr>
              <a:t>http://city.samara.ru</a:t>
            </a:r>
            <a:endParaRPr lang="ru-RU" sz="4000" b="1" dirty="0">
              <a:solidFill>
                <a:srgbClr val="003399"/>
              </a:solidFill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2E0B2FB-FBA1-805D-7030-4640AC16B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770" y="1515270"/>
            <a:ext cx="8424862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ts val="1500"/>
              </a:spcBef>
            </a:pPr>
            <a:r>
              <a:rPr lang="en-US" altLang="ru-RU" sz="2400" b="1" dirty="0">
                <a:solidFill>
                  <a:srgbClr val="333399"/>
                </a:solidFill>
                <a:cs typeface="Arial" panose="020B0604020202020204" pitchFamily="34" charset="0"/>
              </a:rPr>
              <a:t>DNS </a:t>
            </a:r>
            <a:r>
              <a:rPr lang="en-US" altLang="ru-RU" sz="2400" i="1" dirty="0">
                <a:solidFill>
                  <a:srgbClr val="333399"/>
                </a:solidFill>
                <a:cs typeface="Arial" panose="020B0604020202020204" pitchFamily="34" charset="0"/>
              </a:rPr>
              <a:t>(Domain Name System)</a:t>
            </a:r>
            <a:r>
              <a:rPr lang="ru-RU" altLang="ru-RU" sz="2400" b="1" dirty="0">
                <a:solidFill>
                  <a:srgbClr val="333399"/>
                </a:solidFill>
                <a:cs typeface="Arial" panose="020B0604020202020204" pitchFamily="34" charset="0"/>
              </a:rPr>
              <a:t> </a:t>
            </a:r>
            <a:r>
              <a:rPr lang="ru-RU" altLang="ru-RU" sz="2400" dirty="0">
                <a:cs typeface="Arial" panose="020B0604020202020204" pitchFamily="34" charset="0"/>
              </a:rPr>
              <a:t>–</a:t>
            </a:r>
            <a:r>
              <a:rPr lang="en-US" altLang="ru-RU" sz="2400" dirty="0">
                <a:cs typeface="Arial" panose="020B0604020202020204" pitchFamily="34" charset="0"/>
              </a:rPr>
              <a:t> </a:t>
            </a:r>
            <a:r>
              <a:rPr lang="ru-RU" altLang="ru-RU" sz="2400" dirty="0">
                <a:cs typeface="Arial" panose="020B0604020202020204" pitchFamily="34" charset="0"/>
              </a:rPr>
              <a:t>система доменных имен: база данных, преобразует доменный адрес в </a:t>
            </a:r>
            <a:r>
              <a:rPr lang="en-US" altLang="ru-RU" sz="2400" dirty="0">
                <a:cs typeface="Arial" panose="020B0604020202020204" pitchFamily="34" charset="0"/>
              </a:rPr>
              <a:t>IP-</a:t>
            </a:r>
            <a:r>
              <a:rPr lang="ru-RU" altLang="ru-RU" sz="2400" dirty="0">
                <a:cs typeface="Arial" panose="020B0604020202020204" pitchFamily="34" charset="0"/>
              </a:rPr>
              <a:t>адрес.</a:t>
            </a:r>
          </a:p>
        </p:txBody>
      </p:sp>
    </p:spTree>
    <p:extLst>
      <p:ext uri="{BB962C8B-B14F-4D97-AF65-F5344CB8AC3E}">
        <p14:creationId xmlns:p14="http://schemas.microsoft.com/office/powerpoint/2010/main" val="130989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9A5B0-58C3-EC30-4D4A-686CF8258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  <a:latin typeface="Comic Sans MS" panose="030F0702030302020204" pitchFamily="66" charset="0"/>
              </a:rPr>
              <a:t>Модель OSI (Open Systems </a:t>
            </a:r>
            <a:r>
              <a:rPr lang="ru-RU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Interconnection</a:t>
            </a:r>
            <a:r>
              <a:rPr lang="ru-RU" dirty="0">
                <a:solidFill>
                  <a:srgbClr val="FF0000"/>
                </a:solidFill>
                <a:latin typeface="Comic Sans MS" panose="030F0702030302020204" pitchFamily="66" charset="0"/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8B2CA-7B61-A73C-3CCD-9E61E290F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Модель OSI (Open Systems </a:t>
            </a:r>
            <a:r>
              <a:rPr lang="ru-RU" dirty="0" err="1"/>
              <a:t>Interconnection</a:t>
            </a:r>
            <a:r>
              <a:rPr lang="ru-RU" dirty="0"/>
              <a:t>) — это эталонная модель, разработанная для описания функций телекоммуникационных или вычислительных систем, необходимых для сетевого взаимодействия. Она разделяет процесс сетевого взаимодействия на семь взаимосвязанных уровней. Каждый уровень выполняет специфические функции и взаимодействует с уровнями непосредственно выше и ниже.</a:t>
            </a:r>
          </a:p>
        </p:txBody>
      </p:sp>
    </p:spTree>
    <p:extLst>
      <p:ext uri="{BB962C8B-B14F-4D97-AF65-F5344CB8AC3E}">
        <p14:creationId xmlns:p14="http://schemas.microsoft.com/office/powerpoint/2010/main" val="4123626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A837C-5717-C49A-607B-BB61BD1B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Модель OSI — это эталонная модель, которая, к сожалению, не нашла широкого применения в реальном мире. Поэтому появилась модель TCP/IP, по которой работает вся наша текущая сеть.</a:t>
            </a:r>
            <a:endParaRPr lang="ru-RU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26" name="Picture 2" descr="Модель OSI">
            <a:extLst>
              <a:ext uri="{FF2B5EF4-FFF2-40B4-BE49-F238E27FC236}">
                <a16:creationId xmlns:a16="http://schemas.microsoft.com/office/drawing/2014/main" id="{F4ADA729-52B1-54D0-0742-5CF170477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220" y="1622217"/>
            <a:ext cx="4700006" cy="48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167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C2765-76C6-82CB-A596-8FC77B5C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315"/>
            <a:ext cx="10515600" cy="98904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Прикладной уровень L7 (Application Layer):</a:t>
            </a:r>
            <a:endParaRPr lang="ru-RU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6C3ED-96F6-F55E-69CB-EDABF587B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7747"/>
            <a:ext cx="10515600" cy="5309216"/>
          </a:xfrm>
        </p:spPr>
        <p:txBody>
          <a:bodyPr>
            <a:normAutofit/>
          </a:bodyPr>
          <a:lstStyle/>
          <a:p>
            <a:r>
              <a:rPr lang="ru-RU" sz="2400" b="1" dirty="0"/>
              <a:t>Функции</a:t>
            </a:r>
            <a:r>
              <a:rPr lang="ru-RU" sz="2400" dirty="0"/>
              <a:t>: обеспечивает доступ приложений к сетевым услугам. Реализует протоколы, которые поддерживают конечные пользовательские процессы и сетевые приложения.</a:t>
            </a:r>
          </a:p>
          <a:p>
            <a:r>
              <a:rPr lang="ru-RU" sz="2400" b="1" dirty="0"/>
              <a:t>Примеры</a:t>
            </a:r>
            <a:r>
              <a:rPr lang="ru-RU" sz="2400" dirty="0"/>
              <a:t>: </a:t>
            </a:r>
            <a:r>
              <a:rPr lang="en-US" sz="2400" dirty="0"/>
              <a:t>HTTP (</a:t>
            </a:r>
            <a:r>
              <a:rPr lang="en-US" sz="2400" dirty="0" err="1"/>
              <a:t>HyperText</a:t>
            </a:r>
            <a:r>
              <a:rPr lang="en-US" sz="2400" dirty="0"/>
              <a:t> Transfer Protocol), FTP (File Transfer Protocol), SMTP (Simple Mail Transfer Protocol).</a:t>
            </a:r>
          </a:p>
          <a:p>
            <a:r>
              <a:rPr lang="ru-RU" sz="2400" b="1" dirty="0"/>
              <a:t>Необходимые для этого уровня понятия:</a:t>
            </a:r>
            <a:r>
              <a:rPr lang="ru-RU" sz="2400" dirty="0"/>
              <a:t> </a:t>
            </a:r>
            <a:r>
              <a:rPr lang="en-US" sz="2400" dirty="0"/>
              <a:t>DNS, WWW, HTTP, P2P, EMAIL, POP, SMTP, TELNET, SSH, FTP, TFTP.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 Здесь осуществляется взаимодействие пользователя с приложениями, обеспечивая веб-серфинг, электронную почту и передачу файлов.</a:t>
            </a: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CC8EF6-6769-099D-4E1D-5D245110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935" y="4488025"/>
            <a:ext cx="6318089" cy="123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1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CEDBD-9317-688E-FF48-C44A74AC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935"/>
            <a:ext cx="10515600" cy="1318435"/>
          </a:xfrm>
        </p:spPr>
        <p:txBody>
          <a:bodyPr>
            <a:normAutofit/>
          </a:bodyPr>
          <a:lstStyle/>
          <a:p>
            <a:pPr algn="ctr"/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Представительный уровень L6 (</a:t>
            </a:r>
            <a:r>
              <a:rPr lang="ru-RU" sz="3600" b="1" i="0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Presentation</a:t>
            </a:r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Layer):</a:t>
            </a:r>
            <a:endParaRPr lang="ru-RU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869FFF-0CA9-AD64-48C7-09400CFEE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253"/>
            <a:ext cx="10515600" cy="4758710"/>
          </a:xfrm>
        </p:spPr>
        <p:txBody>
          <a:bodyPr/>
          <a:lstStyle/>
          <a:p>
            <a:r>
              <a:rPr lang="ru-RU" sz="2400" b="1" dirty="0"/>
              <a:t>Функции</a:t>
            </a:r>
            <a:r>
              <a:rPr lang="ru-RU" sz="2400" dirty="0"/>
              <a:t>: отвечает за преобразование данных в формат, подходящий для приложения или сети. Включает задачи по шифрованию, дешифрованию, сжатию и преобразованию данных.</a:t>
            </a:r>
          </a:p>
          <a:p>
            <a:r>
              <a:rPr lang="ru-RU" sz="2400" b="1" dirty="0"/>
              <a:t>Примеры</a:t>
            </a:r>
            <a:r>
              <a:rPr lang="ru-RU" sz="2400" dirty="0"/>
              <a:t>: шифрование, кодирование данных, преобразование форматов.</a:t>
            </a:r>
          </a:p>
          <a:p>
            <a:r>
              <a:rPr lang="ru-RU" sz="2400" b="1" dirty="0"/>
              <a:t>Необходимые для этого уровня</a:t>
            </a:r>
            <a:r>
              <a:rPr lang="en-US" sz="2400" b="1" dirty="0"/>
              <a:t> </a:t>
            </a:r>
            <a:r>
              <a:rPr lang="ru-RU" sz="2400" b="1" dirty="0"/>
              <a:t>понятия: HTML, DOC, JPEG, MP3, AVI, </a:t>
            </a:r>
            <a:r>
              <a:rPr lang="ru-RU" sz="2400" b="1" dirty="0" err="1"/>
              <a:t>Sockets</a:t>
            </a:r>
            <a:r>
              <a:rPr lang="ru-RU" sz="2400" b="1" dirty="0"/>
              <a:t>.</a:t>
            </a:r>
            <a:endParaRPr lang="ru-RU" sz="2400" dirty="0"/>
          </a:p>
          <a:p>
            <a:r>
              <a:rPr lang="ru-RU" dirty="0"/>
              <a:t> Здесь происходит шифрование, сжатие и кодирование информации для обеспечения совместимости и безопасности передачи данных между различными системами.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575D8E-08E9-4436-939A-CB10113A5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146" y="5060820"/>
            <a:ext cx="57340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4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87A47-6315-A64A-CA27-8EEBEB02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2391"/>
          </a:xfrm>
        </p:spPr>
        <p:txBody>
          <a:bodyPr>
            <a:normAutofit/>
          </a:bodyPr>
          <a:lstStyle/>
          <a:p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Сеансовый уровень L5 (</a:t>
            </a:r>
            <a:r>
              <a:rPr lang="ru-RU" sz="3600" b="1" i="0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Session</a:t>
            </a:r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Layer):</a:t>
            </a:r>
            <a:endParaRPr lang="ru-RU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F4F193-E1BD-A901-0E68-CF29136DB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125829"/>
            <a:ext cx="10515600" cy="4351338"/>
          </a:xfrm>
        </p:spPr>
        <p:txBody>
          <a:bodyPr/>
          <a:lstStyle/>
          <a:p>
            <a:r>
              <a:rPr lang="ru-RU" dirty="0"/>
              <a:t>Функции: управляет сеансами связи между приложениями. Обеспечивает установку, поддержание и завершение сеансов, а также синхронизацию и управление обменом данными.</a:t>
            </a:r>
          </a:p>
          <a:p>
            <a:r>
              <a:rPr lang="ru-RU" dirty="0"/>
              <a:t>Примеры: управление сеансами, контроль диалога.</a:t>
            </a:r>
            <a:endParaRPr lang="en-US" dirty="0"/>
          </a:p>
          <a:p>
            <a:r>
              <a:rPr lang="ru-RU" b="1" dirty="0"/>
              <a:t>Необходимые для этого уровня понятия: </a:t>
            </a:r>
            <a:r>
              <a:rPr lang="en-US" dirty="0"/>
              <a:t>Session establishment in TCP, SIP, RTP, RPC-Named pipes.</a:t>
            </a:r>
          </a:p>
          <a:p>
            <a:r>
              <a:rPr lang="ru-RU" dirty="0"/>
              <a:t>Осуществляется установление, управление и завершение сеансов связи между приложениями с помощью протоколов.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1184D7-4B60-C334-7C09-CEB1C2F2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907" y="4801961"/>
            <a:ext cx="595312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91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4FCAE-A109-E654-D42D-2F066E48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Транспортный уровень L4 (Transport Layer):</a:t>
            </a:r>
            <a:endParaRPr lang="ru-RU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213225-3A34-2FDD-7593-2C3A6EE9F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Функции</a:t>
            </a:r>
            <a:r>
              <a:rPr lang="ru-RU" dirty="0"/>
              <a:t>: обеспечивает надежную передачу данных, контроль ошибок, сегментацию и повторную сборку данных. Гарантирует, что данные передаются без потерь и дубликатов.</a:t>
            </a:r>
          </a:p>
          <a:p>
            <a:r>
              <a:rPr lang="ru-RU" b="1" dirty="0"/>
              <a:t>Примеры</a:t>
            </a:r>
            <a:r>
              <a:rPr lang="ru-RU" dirty="0"/>
              <a:t>: TCP (</a:t>
            </a:r>
            <a:r>
              <a:rPr lang="ru-RU" dirty="0" err="1"/>
              <a:t>Transmission</a:t>
            </a:r>
            <a:r>
              <a:rPr lang="ru-RU" dirty="0"/>
              <a:t> Control Protocol), UDP (User </a:t>
            </a:r>
            <a:r>
              <a:rPr lang="ru-RU" dirty="0" err="1"/>
              <a:t>Datagram</a:t>
            </a:r>
            <a:r>
              <a:rPr lang="ru-RU" dirty="0"/>
              <a:t> Protocol).</a:t>
            </a:r>
          </a:p>
          <a:p>
            <a:r>
              <a:rPr lang="ru-RU" b="1" dirty="0"/>
              <a:t>Необходимые для этого уровня понятия: </a:t>
            </a:r>
            <a:r>
              <a:rPr lang="ru-RU" dirty="0"/>
              <a:t>TCP, UDP, SCTP, SSL, TLS.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13282F-CD0F-5B7D-22E8-A1D377621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828" y="4998098"/>
            <a:ext cx="5829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55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531F7-53BB-FD91-6504-79BE5B92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130727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Сетевой уровень L3 (Network Layer):</a:t>
            </a:r>
            <a:br>
              <a:rPr lang="ru-RU" sz="36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endParaRPr lang="ru-RU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D4F98-B00C-10CE-5E8E-A5978C10C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1763"/>
            <a:ext cx="10515600" cy="5365200"/>
          </a:xfrm>
        </p:spPr>
        <p:txBody>
          <a:bodyPr/>
          <a:lstStyle/>
          <a:p>
            <a:r>
              <a:rPr lang="ru-RU" b="1" dirty="0"/>
              <a:t>Функции</a:t>
            </a:r>
            <a:r>
              <a:rPr lang="ru-RU" dirty="0"/>
              <a:t>: отвечает за маршрутизацию пакетов данных между узлами сети. Обеспечивает логическую адресацию и определяет пути передачи данных через различные сети.</a:t>
            </a:r>
          </a:p>
          <a:p>
            <a:r>
              <a:rPr lang="ru-RU" b="1" dirty="0"/>
              <a:t>Примеры</a:t>
            </a:r>
            <a:r>
              <a:rPr lang="ru-RU" dirty="0"/>
              <a:t>: IP-адресация, маршрутизаторы, IP-протокол.</a:t>
            </a:r>
          </a:p>
          <a:p>
            <a:r>
              <a:rPr lang="ru-RU" b="1" dirty="0"/>
              <a:t>Необходимые для этого уровня понятия:</a:t>
            </a:r>
            <a:r>
              <a:rPr lang="ru-RU" dirty="0"/>
              <a:t> IP, ARP, </a:t>
            </a:r>
            <a:r>
              <a:rPr lang="ru-RU" dirty="0" err="1"/>
              <a:t>IPsec</a:t>
            </a:r>
            <a:r>
              <a:rPr lang="ru-RU" dirty="0"/>
              <a:t>, ICMP, IGMP, OSPF.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 этом уровне происходит передача информации между различными локальными сетями с помощью таких устройств, как маршрутизатор.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B51053-9906-729E-91BD-44E22FC8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32" y="4684064"/>
            <a:ext cx="59150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07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3CA89-31E6-510D-6AD6-668401FE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5928"/>
          </a:xfrm>
        </p:spPr>
        <p:txBody>
          <a:bodyPr>
            <a:normAutofit/>
          </a:bodyPr>
          <a:lstStyle/>
          <a:p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Канальный уровень L2 (Data Link Layer):</a:t>
            </a:r>
            <a:endParaRPr lang="ru-RU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9D0557D-FF10-A80B-CFCC-C2EF785D1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345" y="4944447"/>
            <a:ext cx="5981700" cy="95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0797E-204B-B740-F659-1C5F502D0A5E}"/>
              </a:ext>
            </a:extLst>
          </p:cNvPr>
          <p:cNvSpPr txBox="1"/>
          <p:nvPr/>
        </p:nvSpPr>
        <p:spPr>
          <a:xfrm>
            <a:off x="838200" y="1184988"/>
            <a:ext cx="8308132" cy="3649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Функции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: обеспечивает надежную передачу данных через физический канал. Включает задачи по обнаружению и исправлению ошибок, а также управление доступом к среде передачи.</a:t>
            </a:r>
          </a:p>
          <a:p>
            <a:pPr algn="l">
              <a:spcBef>
                <a:spcPts val="900"/>
              </a:spcBef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Примеры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: Ethernet, MAC-адреса, фреймы, коммутаторы.</a:t>
            </a:r>
          </a:p>
          <a:p>
            <a:pPr>
              <a:spcBef>
                <a:spcPts val="900"/>
              </a:spcBef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На этом уровне происходит передача информации в рамках одной локальной подсети с помощью таких устройств, как коммутатор. </a:t>
            </a:r>
            <a:endParaRPr lang="ru-RU" sz="24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5371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757FE-AAAD-0124-DB8B-4E9EE13E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Физический уровень L1 (</a:t>
            </a:r>
            <a:r>
              <a:rPr lang="ru-RU" sz="3600" b="1" i="0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Physical</a:t>
            </a:r>
            <a:r>
              <a:rPr lang="ru-RU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Layer):</a:t>
            </a:r>
            <a:endParaRPr lang="ru-RU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8841BE-7FFA-7C8D-DB72-4A5FB5546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Функции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: определяет электрические, механические, процедурные и функциональные характеристики для активации, поддержания и деактивации физических соединений между конечными системами.</a:t>
            </a:r>
          </a:p>
          <a:p>
            <a:pPr algn="l">
              <a:spcBef>
                <a:spcPts val="900"/>
              </a:spcBef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Примеры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: кабели, разъемы, электрические напряжения, физические топологии сетей.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49858F-7ECD-E7D6-729F-8CDACEECF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819" y="4828009"/>
            <a:ext cx="62960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21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4E68C-D032-7340-8B16-5616022A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  <a:latin typeface="Comic Sans MS" panose="030F0702030302020204" pitchFamily="66" charset="0"/>
              </a:rPr>
              <a:t>Модель OSI и TCP/IP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2F8D3E-7325-4968-0664-9675AA982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TCP/IP модель почти полностью повторяет эталонную, но имеет свои особенности.</a:t>
            </a:r>
          </a:p>
          <a:p>
            <a:r>
              <a:rPr lang="ru-RU" dirty="0"/>
              <a:t>Первый уровень – канальный. В данной модели он объединяет L1 и L2 уровни модели OSI.</a:t>
            </a:r>
          </a:p>
          <a:p>
            <a:r>
              <a:rPr lang="ru-RU" dirty="0"/>
              <a:t>Второй уровень – межсетевой. Он идентичен сетевому уровню L3 модели OSI.</a:t>
            </a:r>
          </a:p>
          <a:p>
            <a:r>
              <a:rPr lang="ru-RU" dirty="0"/>
              <a:t>Третий уровень – транспортный. Он идентичен транспортному уровню L4 модели OSI.</a:t>
            </a:r>
          </a:p>
          <a:p>
            <a:r>
              <a:rPr lang="ru-RU" dirty="0"/>
              <a:t>Четвертый уровень – прикладной. Он объединяет L5 – L7 уровни модели OSI.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880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48738D-5EA0-C5FE-D6E3-B6DF88E25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328612"/>
            <a:ext cx="596265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22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261F4AA-B7FC-7909-C640-2638033F9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177360"/>
              </p:ext>
            </p:extLst>
          </p:nvPr>
        </p:nvGraphicFramePr>
        <p:xfrm>
          <a:off x="3048000" y="2309654"/>
          <a:ext cx="6096000" cy="36576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987279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962265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20649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1">
                          <a:effectLst/>
                        </a:rPr>
                        <a:t>Уровень модели </a:t>
                      </a:r>
                      <a:r>
                        <a:rPr lang="en-US" b="1">
                          <a:effectLst/>
                        </a:rPr>
                        <a:t>TCP/IP</a:t>
                      </a:r>
                      <a:endParaRPr lang="en-US" b="0">
                        <a:effectLst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B0E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E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1" dirty="0">
                          <a:effectLst/>
                        </a:rPr>
                        <a:t>Ключевые протоколы</a:t>
                      </a:r>
                      <a:endParaRPr lang="ru-RU" b="0" dirty="0">
                        <a:effectLst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D0E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1">
                          <a:effectLst/>
                        </a:rPr>
                        <a:t>Формат данных</a:t>
                      </a:r>
                      <a:endParaRPr lang="ru-RU" b="0">
                        <a:effectLst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D0E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852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Уровень приложений</a:t>
                      </a:r>
                    </a:p>
                  </a:txBody>
                  <a:tcPr marL="121920" marR="121920" marT="91440" marB="91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HTTP, FTP, SMTP, DNS, DHCP</a:t>
                      </a:r>
                    </a:p>
                  </a:txBody>
                  <a:tcPr marL="121920" marR="121920" marT="91440" marB="91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Данные</a:t>
                      </a:r>
                    </a:p>
                  </a:txBody>
                  <a:tcPr marL="121920" marR="121920" marT="91440" marB="91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90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Транспортный уровень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TCP, UDP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Сегмент (</a:t>
                      </a:r>
                      <a:r>
                        <a:rPr lang="en-US">
                          <a:effectLst/>
                        </a:rPr>
                        <a:t>TCP) / </a:t>
                      </a:r>
                      <a:r>
                        <a:rPr lang="ru-RU">
                          <a:effectLst/>
                        </a:rPr>
                        <a:t>Датаграмма (</a:t>
                      </a:r>
                      <a:r>
                        <a:rPr lang="en-US">
                          <a:effectLst/>
                        </a:rPr>
                        <a:t>UDP)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162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Сетевой уровень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IP, ICMP, ARP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Пакет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E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266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Канальный или Уровень сетевого интерфейса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Ethernet, Wi-Fi, PPP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Кадр</a:t>
                      </a: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17011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39E7004-8872-55B5-1612-3432AFB15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328" y="374250"/>
            <a:ext cx="9007812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"/>
              </a:rPr>
              <a:t>	Каждый из этих уровней взаимодействует только с соседними уровнями, что обеспечивает модульность и гибкость архитектуры. Данные, проходя через стек протоколов, последовательно инкапсулируются, приобретая на каждом уровне дополнительные заголовки с управляющей информацией. </a:t>
            </a:r>
            <a:endParaRPr kumimoji="0" lang="ru-RU" altLang="ru-RU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44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46FA873-538F-53D0-16BE-73C47E034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52412"/>
            <a:ext cx="95250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89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37971-EF6C-C7EF-5170-D25DC10F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Принципы передачи данных в сети по</a:t>
            </a:r>
            <a:br>
              <a:rPr lang="ru-RU" sz="36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br>
              <a:rPr lang="ru-RU" sz="36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ru-RU" sz="36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 модели TCP/IP</a:t>
            </a:r>
            <a:br>
              <a:rPr lang="ru-RU" sz="36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endParaRPr lang="ru-RU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8CDB6F-E02B-7CEC-D4CF-8118859EA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6000" indent="432000">
              <a:buNone/>
            </a:pPr>
            <a:r>
              <a:rPr lang="ru-RU" dirty="0"/>
              <a:t>Процесс передачи данных в TCP/IP можно представить в виде нескольких последовательных шагов:</a:t>
            </a:r>
          </a:p>
          <a:p>
            <a:pPr marL="36000" indent="432000">
              <a:buNone/>
            </a:pPr>
            <a:r>
              <a:rPr lang="ru-RU" b="1" dirty="0"/>
              <a:t>Формирование данных на уровне приложений</a:t>
            </a:r>
            <a:r>
              <a:rPr lang="ru-RU" dirty="0"/>
              <a:t> — пользовательское приложение создает данные для передачи (например, веб-браузер формирует HTTP-запрос)</a:t>
            </a:r>
          </a:p>
          <a:p>
            <a:pPr marL="36000" indent="432000">
              <a:buNone/>
            </a:pPr>
            <a:r>
              <a:rPr lang="ru-RU" b="1" dirty="0"/>
              <a:t>Обработка на транспортном уровне</a:t>
            </a:r>
            <a:r>
              <a:rPr lang="ru-RU" dirty="0"/>
              <a:t> — данные разбиваются на сегменты (TCP) или </a:t>
            </a:r>
            <a:r>
              <a:rPr lang="ru-RU" dirty="0" err="1"/>
              <a:t>датаграммы</a:t>
            </a:r>
            <a:r>
              <a:rPr lang="ru-RU" dirty="0"/>
              <a:t> (UDP), добавляются порты источника и назначения</a:t>
            </a:r>
          </a:p>
          <a:p>
            <a:pPr marL="36000" indent="432000">
              <a:buNone/>
            </a:pPr>
            <a:r>
              <a:rPr lang="ru-RU" b="1" dirty="0"/>
              <a:t>Обработка на сетевом уровне</a:t>
            </a:r>
            <a:r>
              <a:rPr lang="ru-RU" dirty="0"/>
              <a:t> — сегменты инкапсулируются в IP-пакеты, добавляются IP-адреса источника и назначения</a:t>
            </a:r>
          </a:p>
          <a:p>
            <a:pPr marL="36000" indent="432000">
              <a:buNone/>
            </a:pPr>
            <a:r>
              <a:rPr lang="ru-RU" b="1" dirty="0"/>
              <a:t>Обработка на уровне сетевого интерфейса</a:t>
            </a:r>
            <a:r>
              <a:rPr lang="ru-RU" dirty="0"/>
              <a:t> — пакеты преобразуются в кадры с MAC-адресами и передаются по физическому носителю</a:t>
            </a:r>
          </a:p>
          <a:p>
            <a:pPr marL="36000" indent="432000">
              <a:buNone/>
            </a:pPr>
            <a:r>
              <a:rPr lang="ru-RU" dirty="0"/>
              <a:t>На стороне получателя происходит обратный процесс — </a:t>
            </a:r>
            <a:r>
              <a:rPr lang="ru-RU" dirty="0" err="1"/>
              <a:t>декапсуляция</a:t>
            </a:r>
            <a:r>
              <a:rPr lang="ru-RU" dirty="0"/>
              <a:t>, когда каждый уровень удаляет соответствующие заголовки и передает данные выше по стеку протоколов.</a:t>
            </a:r>
          </a:p>
          <a:p>
            <a:pPr marL="36000" indent="432000">
              <a:buNone/>
            </a:pPr>
            <a:r>
              <a:rPr lang="ru-RU" dirty="0"/>
              <a:t>Ключевым принципом является </a:t>
            </a:r>
            <a:r>
              <a:rPr lang="ru-RU" b="1" dirty="0"/>
              <a:t>инкапсуляция данных</a:t>
            </a:r>
            <a:r>
              <a:rPr lang="ru-RU" dirty="0"/>
              <a:t> — процесс, при котором каждый уровень добавляет свою служебную информацию к передаваемым данным. Например, транспортный уровень добавляет TCP-заголовок, содержащий номера портов и контрольные суммы, а затем сетевой уровень добавляет IP-заголовок с адресами источника и назначения.</a:t>
            </a:r>
          </a:p>
          <a:p>
            <a:pPr marL="36000" indent="43200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3084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EEB07-2F6D-28D5-C2B4-61B9787B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latin typeface="Comic Sans MS" panose="030F0702030302020204" pitchFamily="66" charset="0"/>
              </a:rPr>
              <a:t>Процесс инкапсуляции данных (сверху вниз):</a:t>
            </a:r>
            <a:br>
              <a:rPr lang="ru-RU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endParaRPr lang="ru-RU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FCFD49-3B88-46E3-73C6-F739B136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Вы отправляете сообщение в мессенджере (Данные, Ур. 7-5 OSI / Ур.4 TCP/IP).</a:t>
            </a:r>
          </a:p>
          <a:p>
            <a:endParaRPr lang="ru-RU" dirty="0"/>
          </a:p>
          <a:p>
            <a:r>
              <a:rPr lang="ru-RU" dirty="0"/>
              <a:t>Транспортный уровень (TCP) разбивает их, добавляет заголовок с портами → образуется Сегмент.</a:t>
            </a:r>
          </a:p>
          <a:p>
            <a:endParaRPr lang="ru-RU" dirty="0"/>
          </a:p>
          <a:p>
            <a:r>
              <a:rPr lang="ru-RU" dirty="0"/>
              <a:t>Сетевой уровень (IP) добавляет свой заголовок с IP-адресами → образуется Пакет.</a:t>
            </a:r>
          </a:p>
          <a:p>
            <a:endParaRPr lang="ru-RU" dirty="0"/>
          </a:p>
          <a:p>
            <a:r>
              <a:rPr lang="ru-RU" dirty="0"/>
              <a:t>Канальный уровень (Ethernet) добавляет заголовок и "хвост" с MAC-адресами → образуется Кадр.</a:t>
            </a:r>
          </a:p>
          <a:p>
            <a:endParaRPr lang="ru-RU" dirty="0"/>
          </a:p>
          <a:p>
            <a:r>
              <a:rPr lang="ru-RU" dirty="0"/>
              <a:t>Физический уровень преобразует кадр в последовательность Битов (электрических/оптических сигналов) и отправляет в сеть.</a:t>
            </a:r>
          </a:p>
          <a:p>
            <a:endParaRPr lang="ru-RU" dirty="0"/>
          </a:p>
          <a:p>
            <a:r>
              <a:rPr lang="ru-RU" dirty="0"/>
              <a:t>На принимающей стороне происходит обратный процесс — </a:t>
            </a:r>
            <a:r>
              <a:rPr lang="ru-RU" dirty="0" err="1"/>
              <a:t>декапсуляция</a:t>
            </a:r>
            <a:r>
              <a:rPr lang="ru-RU" dirty="0"/>
              <a:t> (снизу вверх): биты → кадр → пакет → сегмент → данные для приложения.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3631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33D82-BB5F-08E9-9C1D-DB3704B0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F0000"/>
                </a:solidFill>
                <a:latin typeface="Comic Sans MS" panose="030F0702030302020204" pitchFamily="66" charset="0"/>
              </a:rPr>
              <a:t>Краткий итог:</a:t>
            </a:r>
            <a:br>
              <a:rPr lang="ru-RU" b="1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endParaRPr lang="ru-RU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73EE2F-8178-33DF-CAAB-802F643D8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Модель OSI</a:t>
            </a:r>
            <a:r>
              <a:rPr lang="ru-RU" dirty="0"/>
              <a:t> — это </a:t>
            </a:r>
            <a:r>
              <a:rPr lang="ru-RU" b="1" dirty="0"/>
              <a:t>теоретический стандарт</a:t>
            </a:r>
            <a:r>
              <a:rPr lang="ru-RU" dirty="0"/>
              <a:t> ("как должно быть") из 7 уровней. Ее используют в основном для обучения и описания сетевых процессов.</a:t>
            </a:r>
          </a:p>
          <a:p>
            <a:r>
              <a:rPr lang="ru-RU" b="1" dirty="0"/>
              <a:t>Модель TCP/IP</a:t>
            </a:r>
            <a:r>
              <a:rPr lang="ru-RU" dirty="0"/>
              <a:t> — это </a:t>
            </a:r>
            <a:r>
              <a:rPr lang="ru-RU" b="1" dirty="0"/>
              <a:t>практическая реализация</a:t>
            </a:r>
            <a:r>
              <a:rPr lang="ru-RU" dirty="0"/>
              <a:t> ("как есть на самом деле") из 4 уровней, лежащая в основе Интернета.</a:t>
            </a:r>
          </a:p>
          <a:p>
            <a:r>
              <a:rPr lang="ru-RU" b="1" dirty="0"/>
              <a:t>Соответствие:</a:t>
            </a:r>
            <a:r>
              <a:rPr lang="ru-RU" dirty="0"/>
              <a:t> Уровни TCP/IP грубо "накладываются" на уровни OSI, как показано в таблице.</a:t>
            </a:r>
          </a:p>
          <a:p>
            <a:r>
              <a:rPr lang="ru-RU" b="1" dirty="0"/>
              <a:t>Запомните:</a:t>
            </a:r>
            <a:r>
              <a:rPr lang="ru-RU" dirty="0"/>
              <a:t> </a:t>
            </a:r>
            <a:r>
              <a:rPr lang="ru-RU" b="1" dirty="0"/>
              <a:t>IP</a:t>
            </a:r>
            <a:r>
              <a:rPr lang="ru-RU" dirty="0"/>
              <a:t> работает на сетевом уровне (маршрутизация), а </a:t>
            </a:r>
            <a:r>
              <a:rPr lang="ru-RU" b="1" dirty="0"/>
              <a:t>TCP/UDP</a:t>
            </a:r>
            <a:r>
              <a:rPr lang="ru-RU" dirty="0"/>
              <a:t> — на транспортном (доставка между приложениями).</a:t>
            </a:r>
          </a:p>
          <a:p>
            <a:pPr marL="0" indent="0" algn="r">
              <a:buNone/>
            </a:pPr>
            <a:r>
              <a:rPr lang="ru-RU" sz="1600" dirty="0"/>
              <a:t>*PDU (Protocol Data Unit) — единица передаваемых данных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0330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1224</Words>
  <Application>Microsoft Office PowerPoint</Application>
  <PresentationFormat>Широкоэкранный</PresentationFormat>
  <Paragraphs>97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-apple-system</vt:lpstr>
      <vt:lpstr>Arial</vt:lpstr>
      <vt:lpstr>Calibri</vt:lpstr>
      <vt:lpstr>Calibri Light</vt:lpstr>
      <vt:lpstr>Comic Sans MS</vt:lpstr>
      <vt:lpstr>Inter</vt:lpstr>
      <vt:lpstr>Times New Roman</vt:lpstr>
      <vt:lpstr>Тема Office</vt:lpstr>
      <vt:lpstr>Модель OSI и TCP/IP </vt:lpstr>
      <vt:lpstr>Презентация PowerPoint</vt:lpstr>
      <vt:lpstr>Презентация PowerPoint</vt:lpstr>
      <vt:lpstr>Презентация PowerPoint</vt:lpstr>
      <vt:lpstr>Презентация PowerPoint</vt:lpstr>
      <vt:lpstr>Доменные имена</vt:lpstr>
      <vt:lpstr>Презентация PowerPoint</vt:lpstr>
      <vt:lpstr>Модель OSI (Open Systems Interconnection)</vt:lpstr>
      <vt:lpstr>Модель OSI — это эталонная модель, которая, к сожалению, не нашла широкого применения в реальном мире. Поэтому появилась модель TCP/IP, по которой работает вся наша текущая сеть.</vt:lpstr>
      <vt:lpstr>Прикладной уровень L7 (Application Layer):</vt:lpstr>
      <vt:lpstr>Представительный уровень L6 (Presentation Layer):</vt:lpstr>
      <vt:lpstr>Сеансовый уровень L5 (Session Layer):</vt:lpstr>
      <vt:lpstr>Транспортный уровень L4 (Transport Layer):</vt:lpstr>
      <vt:lpstr>Сетевой уровень L3 (Network Layer): </vt:lpstr>
      <vt:lpstr>Канальный уровень L2 (Data Link Layer):</vt:lpstr>
      <vt:lpstr>Физический уровень L1 (Physical Layer):</vt:lpstr>
      <vt:lpstr>Модель OSI и TCP/IP</vt:lpstr>
      <vt:lpstr>Презентация PowerPoint</vt:lpstr>
      <vt:lpstr>Презентация PowerPoint</vt:lpstr>
      <vt:lpstr>Презентация PowerPoint</vt:lpstr>
      <vt:lpstr>Принципы передачи данных в сети по   модели TCP/IP </vt:lpstr>
      <vt:lpstr>Процесс инкапсуляции данных (сверху вниз): </vt:lpstr>
      <vt:lpstr>Краткий итог: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Елена Журавлёва</dc:creator>
  <cp:lastModifiedBy>Елена Журавлёва</cp:lastModifiedBy>
  <cp:revision>6</cp:revision>
  <dcterms:created xsi:type="dcterms:W3CDTF">2026-01-25T13:47:25Z</dcterms:created>
  <dcterms:modified xsi:type="dcterms:W3CDTF">2026-01-25T18:19:20Z</dcterms:modified>
</cp:coreProperties>
</file>